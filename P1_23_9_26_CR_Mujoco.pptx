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88" r:id="rId4"/>
    <p:sldId id="284" r:id="rId5"/>
    <p:sldId id="286" r:id="rId6"/>
    <p:sldId id="292" r:id="rId7"/>
    <p:sldId id="293" r:id="rId8"/>
    <p:sldId id="294" r:id="rId9"/>
    <p:sldId id="295" r:id="rId10"/>
    <p:sldId id="296" r:id="rId11"/>
    <p:sldId id="299" r:id="rId12"/>
    <p:sldId id="300" r:id="rId13"/>
    <p:sldId id="301" r:id="rId14"/>
    <p:sldId id="297" r:id="rId15"/>
    <p:sldId id="320" r:id="rId16"/>
    <p:sldId id="321" r:id="rId17"/>
    <p:sldId id="305" r:id="rId18"/>
    <p:sldId id="319" r:id="rId19"/>
    <p:sldId id="306" r:id="rId20"/>
    <p:sldId id="318" r:id="rId21"/>
    <p:sldId id="307" r:id="rId22"/>
    <p:sldId id="317" r:id="rId23"/>
    <p:sldId id="308" r:id="rId24"/>
    <p:sldId id="316" r:id="rId25"/>
    <p:sldId id="309" r:id="rId26"/>
    <p:sldId id="315" r:id="rId27"/>
    <p:sldId id="310" r:id="rId28"/>
    <p:sldId id="314" r:id="rId29"/>
    <p:sldId id="311" r:id="rId30"/>
    <p:sldId id="313" r:id="rId31"/>
    <p:sldId id="265" r:id="rId32"/>
    <p:sldId id="271" r:id="rId33"/>
    <p:sldId id="272" r:id="rId34"/>
    <p:sldId id="274" r:id="rId35"/>
    <p:sldId id="280" r:id="rId36"/>
    <p:sldId id="279" r:id="rId37"/>
    <p:sldId id="303" r:id="rId38"/>
    <p:sldId id="275" r:id="rId39"/>
    <p:sldId id="278" r:id="rId40"/>
    <p:sldId id="302"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6.png"/><Relationship Id="rId10" Type="http://schemas.openxmlformats.org/officeDocument/2006/relationships/image" Target="../media/image32.png"/><Relationship Id="rId4" Type="http://schemas.openxmlformats.org/officeDocument/2006/relationships/image" Target="../media/image15.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4.png"/><Relationship Id="rId7" Type="http://schemas.openxmlformats.org/officeDocument/2006/relationships/image" Target="../media/image11.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5.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11.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9.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5" Type="http://schemas.openxmlformats.org/officeDocument/2006/relationships/image" Target="../media/image84.png"/><Relationship Id="rId4" Type="http://schemas.openxmlformats.org/officeDocument/2006/relationships/image" Target="../media/image83.png"/></Relationships>
</file>

<file path=ppt/slides/_rels/slide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85.png"/><Relationship Id="rId4" Type="http://schemas.openxmlformats.org/officeDocument/2006/relationships/image" Target="../media/image90.png"/></Relationships>
</file>

<file path=ppt/slides/_rels/slide2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3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 Id="rId5" Type="http://schemas.openxmlformats.org/officeDocument/2006/relationships/image" Target="../media/image106.png"/><Relationship Id="rId4"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434E66C-FDEB-B651-EACA-919A8E0E7E9C}"/>
              </a:ext>
            </a:extLst>
          </p:cNvPr>
          <p:cNvSpPr txBox="1"/>
          <p:nvPr/>
        </p:nvSpPr>
        <p:spPr>
          <a:xfrm>
            <a:off x="1437563" y="923112"/>
            <a:ext cx="9316873" cy="615553"/>
          </a:xfrm>
          <a:prstGeom prst="rect">
            <a:avLst/>
          </a:prstGeom>
          <a:noFill/>
        </p:spPr>
        <p:txBody>
          <a:bodyPr wrap="square">
            <a:spAutoFit/>
          </a:bodyPr>
          <a:lstStyle/>
          <a:p>
            <a:pPr algn="ctr">
              <a:defRPr sz="3400" b="1">
                <a:solidFill>
                  <a:srgbClr val="FFFFFF"/>
                </a:solidFill>
              </a:defRPr>
            </a:pPr>
            <a:r>
              <a:rPr lang="en-US" sz="3400" dirty="0">
                <a:solidFill>
                  <a:schemeClr val="tx1"/>
                </a:solidFill>
                <a:latin typeface="Cambria Math" panose="02040503050406030204" pitchFamily="18" charset="0"/>
                <a:ea typeface="Cambria Math" panose="02040503050406030204" pitchFamily="18" charset="0"/>
              </a:rPr>
              <a:t>Dynamics modelling of a Continuum Robot</a:t>
            </a:r>
          </a:p>
        </p:txBody>
      </p:sp>
      <p:sp>
        <p:nvSpPr>
          <p:cNvPr id="12" name="TextBox 11">
            <a:extLst>
              <a:ext uri="{FF2B5EF4-FFF2-40B4-BE49-F238E27FC236}">
                <a16:creationId xmlns:a16="http://schemas.microsoft.com/office/drawing/2014/main" id="{C1595522-AA19-B8FB-270B-A2788516BE4A}"/>
              </a:ext>
            </a:extLst>
          </p:cNvPr>
          <p:cNvSpPr txBox="1"/>
          <p:nvPr/>
        </p:nvSpPr>
        <p:spPr>
          <a:xfrm>
            <a:off x="9987280" y="5975528"/>
            <a:ext cx="1890261" cy="584775"/>
          </a:xfrm>
          <a:prstGeom prst="rect">
            <a:avLst/>
          </a:prstGeom>
          <a:noFill/>
        </p:spPr>
        <p:txBody>
          <a:bodyPr wrap="none" rtlCol="0">
            <a:spAutoFit/>
          </a:bodyPr>
          <a:lstStyle/>
          <a:p>
            <a:r>
              <a:rPr lang="en-US" sz="1600" b="1" dirty="0">
                <a:latin typeface="Cambria Math" panose="02040503050406030204" pitchFamily="18" charset="0"/>
                <a:ea typeface="Cambria Math" panose="02040503050406030204" pitchFamily="18" charset="0"/>
              </a:rPr>
              <a:t>M Manoj Prabhakar</a:t>
            </a:r>
          </a:p>
          <a:p>
            <a:r>
              <a:rPr lang="en-US" sz="1600" b="1" dirty="0">
                <a:latin typeface="Cambria Math" panose="02040503050406030204" pitchFamily="18" charset="0"/>
                <a:ea typeface="Cambria Math" panose="02040503050406030204" pitchFamily="18" charset="0"/>
              </a:rPr>
              <a:t>27479</a:t>
            </a:r>
            <a:endParaRPr lang="en-IN" sz="1600" b="1" dirty="0">
              <a:latin typeface="Cambria Math" panose="02040503050406030204" pitchFamily="18" charset="0"/>
              <a:ea typeface="Cambria Math" panose="02040503050406030204" pitchFamily="18" charset="0"/>
            </a:endParaRPr>
          </a:p>
        </p:txBody>
      </p:sp>
      <p:pic>
        <p:nvPicPr>
          <p:cNvPr id="14" name="Picture 13" descr="The image depicts a stacked cable rack with various components such as a tip, cable, disk, backbone, and base, all arranged in a linear, organized structure, and a load symbol is present.&#10;&#10;AI-generated content may be incorrect.">
            <a:extLst>
              <a:ext uri="{FF2B5EF4-FFF2-40B4-BE49-F238E27FC236}">
                <a16:creationId xmlns:a16="http://schemas.microsoft.com/office/drawing/2014/main" id="{27C35363-0F1B-65AB-DF04-10F6CCEE3F27}"/>
              </a:ext>
            </a:extLst>
          </p:cNvPr>
          <p:cNvPicPr>
            <a:picLocks noChangeAspect="1"/>
          </p:cNvPicPr>
          <p:nvPr/>
        </p:nvPicPr>
        <p:blipFill>
          <a:blip r:embed="rId2"/>
          <a:stretch>
            <a:fillRect/>
          </a:stretch>
        </p:blipFill>
        <p:spPr>
          <a:xfrm>
            <a:off x="6380480" y="1667290"/>
            <a:ext cx="4094479" cy="4073264"/>
          </a:xfrm>
          <a:prstGeom prst="rect">
            <a:avLst/>
          </a:prstGeom>
          <a:ln>
            <a:solidFill>
              <a:schemeClr val="tx1"/>
            </a:solidFill>
          </a:ln>
        </p:spPr>
      </p:pic>
      <p:sp>
        <p:nvSpPr>
          <p:cNvPr id="15" name="TextBox 14">
            <a:extLst>
              <a:ext uri="{FF2B5EF4-FFF2-40B4-BE49-F238E27FC236}">
                <a16:creationId xmlns:a16="http://schemas.microsoft.com/office/drawing/2014/main" id="{D2198ACA-1566-F4CF-5B70-561C05AFF3B2}"/>
              </a:ext>
            </a:extLst>
          </p:cNvPr>
          <p:cNvSpPr txBox="1"/>
          <p:nvPr/>
        </p:nvSpPr>
        <p:spPr>
          <a:xfrm>
            <a:off x="1788162" y="1667290"/>
            <a:ext cx="4094479" cy="2246769"/>
          </a:xfrm>
          <a:prstGeom prst="rect">
            <a:avLst/>
          </a:prstGeom>
          <a:noFill/>
        </p:spPr>
        <p:txBody>
          <a:bodyPr wrap="square" rtlCol="0">
            <a:spAutoFit/>
          </a:bodyPr>
          <a:lstStyle/>
          <a:p>
            <a:pPr marL="285750" indent="-285750">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Static, Dynamic</a:t>
            </a:r>
          </a:p>
          <a:p>
            <a:pPr marL="742950" lvl="1" indent="-285750">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Cosserat</a:t>
            </a:r>
            <a:r>
              <a:rPr lang="en-US" sz="2000" dirty="0">
                <a:latin typeface="Cambria Math" panose="02040503050406030204" pitchFamily="18" charset="0"/>
                <a:ea typeface="Cambria Math" panose="02040503050406030204" pitchFamily="18" charset="0"/>
              </a:rPr>
              <a:t> rod </a:t>
            </a:r>
          </a:p>
          <a:p>
            <a:pPr marL="742950" lvl="1" indent="-285750">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Kirchhoff rod</a:t>
            </a:r>
          </a:p>
          <a:p>
            <a:pPr marL="285750" indent="-285750">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MuJoCo</a:t>
            </a:r>
            <a:r>
              <a:rPr lang="en-US" sz="2000" dirty="0">
                <a:latin typeface="Cambria Math" panose="02040503050406030204" pitchFamily="18" charset="0"/>
                <a:ea typeface="Cambria Math" panose="02040503050406030204" pitchFamily="18" charset="0"/>
              </a:rPr>
              <a:t> Discretized models</a:t>
            </a:r>
          </a:p>
          <a:p>
            <a:pPr marL="285750" indent="-285750">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Reduced order model using GVS</a:t>
            </a:r>
          </a:p>
          <a:p>
            <a:pPr marL="285750" indent="-285750">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PCC/PCS</a:t>
            </a:r>
          </a:p>
          <a:p>
            <a:endParaRPr lang="en-IN" sz="2000" dirty="0">
              <a:latin typeface="Cambria Math" panose="02040503050406030204" pitchFamily="18" charset="0"/>
              <a:ea typeface="Cambria Math"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3120" y="370435"/>
            <a:ext cx="8963479" cy="523220"/>
          </a:xfrm>
          <a:prstGeom prst="rect">
            <a:avLst/>
          </a:prstGeom>
          <a:noFill/>
        </p:spPr>
        <p:txBody>
          <a:bodyPr wrap="none">
            <a:spAutoFit/>
          </a:bodyPr>
          <a:lstStyle/>
          <a:p>
            <a:pPr>
              <a:defRPr sz="2800" b="1">
                <a:solidFill>
                  <a:srgbClr val="142237"/>
                </a:solidFill>
              </a:defRPr>
            </a:pPr>
            <a:r>
              <a:rPr dirty="0">
                <a:latin typeface="Cambria Math" panose="02040503050406030204" pitchFamily="18" charset="0"/>
                <a:ea typeface="Cambria Math" panose="02040503050406030204" pitchFamily="18" charset="0"/>
              </a:rPr>
              <a:t>Full </a:t>
            </a: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six strain modes (bending, torsion, axial, shear)</a:t>
            </a:r>
            <a:endParaRPr lang="en-US"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6" name="TextBox 5"/>
              <p:cNvSpPr txBox="1"/>
              <p:nvPr/>
            </p:nvSpPr>
            <p:spPr>
              <a:xfrm>
                <a:off x="838966" y="1019869"/>
                <a:ext cx="3179012" cy="4036041"/>
              </a:xfrm>
              <a:prstGeom prst="rect">
                <a:avLst/>
              </a:prstGeom>
              <a:noFill/>
            </p:spPr>
            <p:txBody>
              <a:bodyPr wrap="non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Governing Equations (</a:t>
                </a:r>
                <a:r>
                  <a:rPr lang="en-US" sz="1600" dirty="0">
                    <a:solidFill>
                      <a:schemeClr val="accent3">
                        <a:lumMod val="75000"/>
                      </a:schemeClr>
                    </a:solidFill>
                    <a:latin typeface="Cambria Math" panose="02040503050406030204" pitchFamily="18" charset="0"/>
                    <a:ea typeface="Cambria Math" panose="02040503050406030204" pitchFamily="18" charset="0"/>
                  </a:rPr>
                  <a:t>ODE</a:t>
                </a:r>
                <a:r>
                  <a:rPr lang="en-US" sz="1600" dirty="0">
                    <a:latin typeface="Cambria Math" panose="02040503050406030204" pitchFamily="18" charset="0"/>
                    <a:ea typeface="Cambria Math" panose="02040503050406030204" pitchFamily="18" charset="0"/>
                  </a:rPr>
                  <a:t>/</a:t>
                </a:r>
                <a:r>
                  <a:rPr lang="en-US" sz="1600" dirty="0">
                    <a:solidFill>
                      <a:schemeClr val="accent2">
                        <a:lumMod val="75000"/>
                      </a:schemeClr>
                    </a:solidFill>
                    <a:latin typeface="Cambria Math" panose="02040503050406030204" pitchFamily="18" charset="0"/>
                    <a:ea typeface="Cambria Math" panose="02040503050406030204" pitchFamily="18" charset="0"/>
                  </a:rPr>
                  <a:t>PDE</a:t>
                </a:r>
                <a:r>
                  <a:rPr lang="en-US" sz="1600" dirty="0">
                    <a:latin typeface="Cambria Math" panose="02040503050406030204" pitchFamily="18" charset="0"/>
                    <a:ea typeface="Cambria Math" panose="02040503050406030204" pitchFamily="18" charset="0"/>
                  </a:rPr>
                  <a:t>)</a:t>
                </a:r>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r>
                        <m:rPr>
                          <m:sty m:val="p"/>
                        </m:rPr>
                        <a:rPr lang="en-US" sz="1600" i="1" dirty="0">
                          <a:latin typeface="Cambria Math" panose="02040503050406030204" pitchFamily="18" charset="0"/>
                          <a:ea typeface="Cambria Math" panose="02040503050406030204" pitchFamily="18" charset="0"/>
                        </a:rPr>
                        <m:t>Rv</m:t>
                      </m:r>
                      <m:r>
                        <a:rPr lang="en-US" sz="1600" b="0" i="1" dirty="0" smtClean="0">
                          <a:latin typeface="Cambria Math" panose="02040503050406030204" pitchFamily="18" charset="0"/>
                          <a:ea typeface="Cambria Math" panose="02040503050406030204" pitchFamily="18" charset="0"/>
                        </a:rPr>
                        <m:t>,</m:t>
                      </m:r>
                      <m:sSub>
                        <m:sSubPr>
                          <m:ctrlPr>
                            <a:rPr lang="en-US" sz="1600" b="0" i="0" dirty="0" smtClean="0">
                              <a:latin typeface="Cambria Math" panose="02040503050406030204" pitchFamily="18" charset="0"/>
                              <a:ea typeface="Cambria Math" panose="02040503050406030204" pitchFamily="18" charset="0"/>
                            </a:rPr>
                          </m:ctrlPr>
                        </m:sSubPr>
                        <m:e>
                          <m:r>
                            <a:rPr lang="en-US" sz="1600" b="0" i="0" dirty="0" smtClean="0">
                              <a:latin typeface="Cambria Math" panose="02040503050406030204" pitchFamily="18" charset="0"/>
                              <a:ea typeface="Cambria Math" panose="02040503050406030204" pitchFamily="18" charset="0"/>
                            </a:rPr>
                            <m:t>  </m:t>
                          </m:r>
                          <m:r>
                            <m:rPr>
                              <m:sty m:val="p"/>
                            </m:rPr>
                            <a:rPr lang="en-US" sz="1600" dirty="0">
                              <a:latin typeface="Cambria Math" panose="02040503050406030204" pitchFamily="18" charset="0"/>
                              <a:ea typeface="Cambria Math" panose="02040503050406030204" pitchFamily="18" charset="0"/>
                            </a:rPr>
                            <m:t>r</m:t>
                          </m:r>
                        </m:e>
                        <m:sub>
                          <m:r>
                            <m:rPr>
                              <m:sty m:val="p"/>
                            </m:rPr>
                            <a:rPr lang="en-IN" sz="1600" dirty="0" err="1">
                              <a:latin typeface="Cambria Math" panose="02040503050406030204" pitchFamily="18" charset="0"/>
                              <a:ea typeface="Cambria Math" panose="02040503050406030204" pitchFamily="18" charset="0"/>
                            </a:rPr>
                            <m:t>t</m:t>
                          </m:r>
                        </m:sub>
                      </m:sSub>
                      <m:r>
                        <a:rPr lang="en-IN" sz="1600" dirty="0">
                          <a:latin typeface="Cambria Math" panose="02040503050406030204" pitchFamily="18" charset="0"/>
                          <a:ea typeface="Cambria Math" panose="02040503050406030204" pitchFamily="18" charset="0"/>
                        </a:rPr>
                        <m:t> =</m:t>
                      </m:r>
                      <m:r>
                        <m:rPr>
                          <m:sty m:val="p"/>
                        </m:rPr>
                        <a:rPr lang="en-US" sz="1600" dirty="0">
                          <a:latin typeface="Cambria Math" panose="02040503050406030204" pitchFamily="18" charset="0"/>
                          <a:ea typeface="Cambria Math" panose="02040503050406030204" pitchFamily="18" charset="0"/>
                        </a:rPr>
                        <m:t>Rq</m:t>
                      </m:r>
                      <m:r>
                        <a:rPr lang="en-IN" sz="1600" dirty="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𝑅</m:t>
                          </m:r>
                        </m:e>
                        <m:sub>
                          <m:r>
                            <a:rPr lang="en-US" sz="1600" b="0" i="1" smtClean="0">
                              <a:latin typeface="Cambria Math" panose="02040503050406030204" pitchFamily="18" charset="0"/>
                              <a:ea typeface="Cambria Math" panose="02040503050406030204" pitchFamily="18" charset="0"/>
                            </a:rPr>
                            <m:t>𝑠</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d>
                        <m:dPr>
                          <m:begChr m:val="["/>
                          <m:endChr m:val="]"/>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𝑈𝑥</m:t>
                          </m:r>
                        </m:e>
                      </m:d>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𝑅</m:t>
                          </m:r>
                        </m:e>
                        <m:sub>
                          <m:r>
                            <a:rPr lang="en-US" sz="1600" b="0" i="1" smtClean="0">
                              <a:latin typeface="Cambria Math" panose="02040503050406030204" pitchFamily="18" charset="0"/>
                              <a:ea typeface="Cambria Math" panose="02040503050406030204" pitchFamily="18" charset="0"/>
                            </a:rPr>
                            <m:t>𝑡</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𝑊𝑥</m:t>
                      </m:r>
                      <m:r>
                        <a:rPr lang="en-US" sz="1600" b="0" i="1" smtClean="0">
                          <a:latin typeface="Cambria Math" panose="02040503050406030204" pitchFamily="18" charset="0"/>
                          <a:ea typeface="Cambria Math" panose="02040503050406030204" pitchFamily="18" charset="0"/>
                        </a:rPr>
                        <m:t>]</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Force Balance</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err="1"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𝑓</m:t>
                      </m:r>
                      <m:r>
                        <a:rPr lang="en-US" sz="1600" i="1" dirty="0" smtClean="0">
                          <a:latin typeface="Cambria Math" panose="02040503050406030204" pitchFamily="18" charset="0"/>
                          <a:ea typeface="Cambria Math" panose="02040503050406030204" pitchFamily="18" charset="0"/>
                        </a:rPr>
                        <m:t> = 0, </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𝑠𝑡𝑎𝑡𝑖𝑐</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ea typeface="Cambria Math" panose="02040503050406030204" pitchFamily="18" charset="0"/>
                  </a:rPr>
                  <a:t>                   </a:t>
                </a:r>
                <a14:m>
                  <m:oMath xmlns:m="http://schemas.openxmlformats.org/officeDocument/2006/math">
                    <m:r>
                      <a:rPr lang="en-US" sz="1600" i="1" dirty="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a:solidFill>
                              <a:schemeClr val="accent2">
                                <a:lumMod val="75000"/>
                              </a:schemeClr>
                            </a:solidFill>
                            <a:latin typeface="Cambria Math" panose="02040503050406030204" pitchFamily="18" charset="0"/>
                            <a:ea typeface="Cambria Math" panose="02040503050406030204" pitchFamily="18" charset="0"/>
                          </a:rPr>
                          <m:t>𝑟</m:t>
                        </m:r>
                      </m:e>
                      <m:sub>
                        <m:r>
                          <a:rPr lang="en-US" sz="1600" i="1" dirty="0">
                            <a:solidFill>
                              <a:schemeClr val="accent2">
                                <a:lumMod val="75000"/>
                              </a:schemeClr>
                            </a:solidFill>
                            <a:latin typeface="Cambria Math" panose="02040503050406030204" pitchFamily="18" charset="0"/>
                            <a:ea typeface="Cambria Math" panose="02040503050406030204" pitchFamily="18" charset="0"/>
                          </a:rPr>
                          <m:t>𝑡𝑡</m:t>
                        </m:r>
                      </m:sub>
                    </m:sSub>
                  </m:oMath>
                </a14:m>
                <a:r>
                  <a:rPr lang="en-IN" sz="1600" i="1" dirty="0">
                    <a:solidFill>
                      <a:schemeClr val="accent2">
                        <a:lumMod val="75000"/>
                      </a:schemeClr>
                    </a:solidFill>
                    <a:latin typeface="Cambria Math" panose="02040503050406030204" pitchFamily="18" charset="0"/>
                    <a:ea typeface="Cambria Math" panose="02040503050406030204" pitchFamily="18" charset="0"/>
                  </a:rPr>
                  <a:t>, dynamic</a:t>
                </a:r>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Moment Balance</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err="1"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err="1" smtClean="0">
                              <a:latin typeface="Cambria Math" panose="02040503050406030204" pitchFamily="18" charset="0"/>
                              <a:ea typeface="Cambria Math" panose="02040503050406030204" pitchFamily="18" charset="0"/>
                            </a:rPr>
                          </m:ctrlPr>
                        </m:sSubPr>
                        <m:e>
                          <m:r>
                            <a:rPr lang="en-US" sz="1600" i="1" dirty="0" err="1" smtClean="0">
                              <a:latin typeface="Cambria Math" panose="02040503050406030204" pitchFamily="18" charset="0"/>
                              <a:ea typeface="Cambria Math" panose="02040503050406030204" pitchFamily="18" charset="0"/>
                            </a:rPr>
                            <m:t>𝑟</m:t>
                          </m:r>
                        </m:e>
                        <m:sub>
                          <m:r>
                            <a:rPr lang="en-US" sz="1600" i="1" dirty="0" err="1"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𝑙</m:t>
                      </m:r>
                      <m:r>
                        <a:rPr lang="en-US" sz="1600" i="1" dirty="0" smtClean="0">
                          <a:latin typeface="Cambria Math" panose="02040503050406030204" pitchFamily="18" charset="0"/>
                          <a:ea typeface="Cambria Math" panose="02040503050406030204" pitchFamily="18" charset="0"/>
                        </a:rPr>
                        <m:t> =   0, </m:t>
                      </m:r>
                      <m:r>
                        <a:rPr lang="en-US" sz="1600" i="1" dirty="0">
                          <a:solidFill>
                            <a:schemeClr val="accent3">
                              <a:lumMod val="75000"/>
                            </a:schemeClr>
                          </a:solidFill>
                          <a:latin typeface="Cambria Math" panose="02040503050406030204" pitchFamily="18" charset="0"/>
                          <a:ea typeface="Cambria Math" panose="02040503050406030204" pitchFamily="18" charset="0"/>
                        </a:rPr>
                        <m:t>𝑠𝑡𝑎𝑡𝑖𝑐</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r>
                        <a:rPr lang="en-US" sz="1600" i="1" dirty="0">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𝑇</m:t>
                      </m:r>
                      <m:sSub>
                        <m:sSub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a:solidFill>
                                <a:schemeClr val="accent2">
                                  <a:lumMod val="75000"/>
                                </a:schemeClr>
                              </a:solidFill>
                              <a:latin typeface="Cambria Math" panose="02040503050406030204" pitchFamily="18" charset="0"/>
                              <a:ea typeface="Cambria Math" panose="02040503050406030204" pitchFamily="18" charset="0"/>
                            </a:rPr>
                            <m:t>𝑤</m:t>
                          </m:r>
                        </m:e>
                        <m:sub>
                          <m:r>
                            <a:rPr lang="en-US" sz="1600" i="1" dirty="0">
                              <a:solidFill>
                                <a:schemeClr val="accent2">
                                  <a:lumMod val="75000"/>
                                </a:schemeClr>
                              </a:solidFill>
                              <a:latin typeface="Cambria Math" panose="02040503050406030204" pitchFamily="18" charset="0"/>
                              <a:ea typeface="Cambria Math" panose="02040503050406030204" pitchFamily="18" charset="0"/>
                            </a:rPr>
                            <m:t>𝑡</m:t>
                          </m:r>
                        </m:sub>
                      </m:sSub>
                      <m:r>
                        <a:rPr lang="en-US" sz="1600" i="1" dirty="0">
                          <a:solidFill>
                            <a:schemeClr val="accent2">
                              <a:lumMod val="75000"/>
                            </a:schemeClr>
                          </a:solidFill>
                          <a:latin typeface="Cambria Math" panose="02040503050406030204" pitchFamily="18" charset="0"/>
                          <a:ea typeface="Cambria Math" panose="02040503050406030204" pitchFamily="18" charset="0"/>
                        </a:rPr>
                        <m:t>+</m:t>
                      </m:r>
                      <m:r>
                        <a:rPr lang="en-US" sz="1600" i="1" dirty="0">
                          <a:solidFill>
                            <a:schemeClr val="accent2">
                              <a:lumMod val="75000"/>
                            </a:schemeClr>
                          </a:solidFill>
                          <a:latin typeface="Cambria Math" panose="02040503050406030204" pitchFamily="18" charset="0"/>
                          <a:ea typeface="Cambria Math" panose="02040503050406030204" pitchFamily="18" charset="0"/>
                        </a:rPr>
                        <m:t>𝑤</m:t>
                      </m:r>
                      <m:r>
                        <a:rPr lang="en-US" sz="1600" i="1" dirty="0">
                          <a:solidFill>
                            <a:schemeClr val="accent2">
                              <a:lumMod val="75000"/>
                            </a:schemeClr>
                          </a:solidFill>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𝑥</m:t>
                      </m:r>
                      <m:r>
                        <a:rPr lang="en-US" sz="1600" i="1" dirty="0">
                          <a:solidFill>
                            <a:schemeClr val="accent2">
                              <a:lumMod val="75000"/>
                            </a:schemeClr>
                          </a:solidFill>
                          <a:latin typeface="Cambria Math" panose="02040503050406030204" pitchFamily="18" charset="0"/>
                          <a:ea typeface="Cambria Math" panose="02040503050406030204" pitchFamily="18" charset="0"/>
                        </a:rPr>
                        <m:t> </m:t>
                      </m:r>
                      <m:d>
                        <m:d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dPr>
                        <m:e>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𝐽𝑤</m:t>
                          </m:r>
                        </m:e>
                      </m:d>
                      <m:r>
                        <a:rPr lang="en-US" sz="1600" b="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600" b="0" i="1" dirty="0" smtClean="0">
                          <a:solidFill>
                            <a:schemeClr val="accent2">
                              <a:lumMod val="75000"/>
                            </a:schemeClr>
                          </a:solidFill>
                          <a:latin typeface="Cambria Math" panose="02040503050406030204" pitchFamily="18" charset="0"/>
                          <a:ea typeface="Cambria Math" panose="02040503050406030204" pitchFamily="18" charset="0"/>
                        </a:rPr>
                        <m:t>𝑑𝑦𝑛𝑎𝑚𝑖𝑐</m:t>
                      </m:r>
                    </m:oMath>
                  </m:oMathPara>
                </a14:m>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Constitutive Relation</a:t>
                </a:r>
              </a:p>
              <a:p>
                <a:pPr>
                  <a:defRPr sz="2000">
                    <a:solidFill>
                      <a:srgbClr val="142237"/>
                    </a:solidFill>
                  </a:defRPr>
                </a:pPr>
                <a14:m>
                  <m:oMathPara xmlns:m="http://schemas.openxmlformats.org/officeDocument/2006/math">
                    <m:oMath>
                      <m:r>
                        <a:rPr lang="pt-BR" sz="1600" i="1" dirty="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𝑛</m:t>
                      </m:r>
                      <m:r>
                        <a:rPr lang="en-US" sz="1600" i="1" dirty="0">
                          <a:latin typeface="Cambria Math" panose="02040503050406030204" pitchFamily="18" charset="0"/>
                          <a:ea typeface="Cambria Math" panose="02040503050406030204" pitchFamily="18" charset="0"/>
                        </a:rPr>
                        <m:t> = </m:t>
                      </m:r>
                      <m:r>
                        <a:rPr lang="pt-BR" sz="1600" i="1" dirty="0">
                          <a:latin typeface="Cambria Math" panose="02040503050406030204" pitchFamily="18" charset="0"/>
                          <a:ea typeface="Cambria Math" panose="02040503050406030204" pitchFamily="18" charset="0"/>
                        </a:rPr>
                        <m:t>𝑅</m:t>
                      </m:r>
                      <m:r>
                        <a:rPr lang="pt-BR" sz="1600" i="1" dirty="0">
                          <a:latin typeface="Cambria Math" panose="02040503050406030204" pitchFamily="18" charset="0"/>
                          <a:ea typeface="Cambria Math" panose="02040503050406030204" pitchFamily="18" charset="0"/>
                        </a:rPr>
                        <m:t> </m:t>
                      </m:r>
                      <m:sSub>
                        <m:sSubPr>
                          <m:ctrlPr>
                            <a:rPr lang="pt-BR" sz="1600" i="1" dirty="0">
                              <a:latin typeface="Cambria Math" panose="02040503050406030204" pitchFamily="18" charset="0"/>
                              <a:ea typeface="Cambria Math" panose="02040503050406030204" pitchFamily="18" charset="0"/>
                            </a:rPr>
                          </m:ctrlPr>
                        </m:sSubPr>
                        <m:e>
                          <m:r>
                            <a:rPr lang="pt-BR" sz="1600" i="1" dirty="0">
                              <a:latin typeface="Cambria Math" panose="02040503050406030204" pitchFamily="18" charset="0"/>
                              <a:ea typeface="Cambria Math" panose="02040503050406030204" pitchFamily="18" charset="0"/>
                            </a:rPr>
                            <m:t>𝐾</m:t>
                          </m:r>
                        </m:e>
                        <m:sub>
                          <m:r>
                            <a:rPr lang="pt-BR" sz="1600" i="1" dirty="0">
                              <a:latin typeface="Cambria Math" panose="02040503050406030204" pitchFamily="18" charset="0"/>
                              <a:ea typeface="Cambria Math" panose="02040503050406030204" pitchFamily="18" charset="0"/>
                            </a:rPr>
                            <m:t>𝑏</m:t>
                          </m:r>
                          <m:r>
                            <a:rPr lang="en-US" sz="1600" i="1" dirty="0">
                              <a:latin typeface="Cambria Math" panose="02040503050406030204" pitchFamily="18" charset="0"/>
                              <a:ea typeface="Cambria Math" panose="02040503050406030204" pitchFamily="18" charset="0"/>
                            </a:rPr>
                            <m:t>𝐸</m:t>
                          </m:r>
                        </m:sub>
                      </m:sSub>
                      <m:r>
                        <a:rPr lang="pt-BR" sz="1600" i="1" dirty="0">
                          <a:latin typeface="Cambria Math" panose="02040503050406030204" pitchFamily="18" charset="0"/>
                          <a:ea typeface="Cambria Math" panose="02040503050406030204" pitchFamily="18" charset="0"/>
                        </a:rPr>
                        <m:t> </m:t>
                      </m:r>
                      <m:d>
                        <m:dPr>
                          <m:ctrlPr>
                            <a:rPr lang="en-US" sz="1600" i="1" dirty="0">
                              <a:latin typeface="Cambria Math" panose="02040503050406030204" pitchFamily="18" charset="0"/>
                              <a:ea typeface="Cambria Math" panose="02040503050406030204" pitchFamily="18" charset="0"/>
                            </a:rPr>
                          </m:ctrlPr>
                        </m:dPr>
                        <m:e>
                          <m:r>
                            <a:rPr lang="en-US" sz="1600" i="1" dirty="0">
                              <a:latin typeface="Cambria Math" panose="02040503050406030204" pitchFamily="18" charset="0"/>
                              <a:ea typeface="Cambria Math" panose="02040503050406030204" pitchFamily="18" charset="0"/>
                            </a:rPr>
                            <m:t>𝑣</m:t>
                          </m:r>
                          <m:r>
                            <a:rPr lang="pt-BR" sz="1600" i="1" dirty="0">
                              <a:latin typeface="Cambria Math" panose="02040503050406030204" pitchFamily="18" charset="0"/>
                              <a:ea typeface="Cambria Math" panose="02040503050406030204" pitchFamily="18" charset="0"/>
                            </a:rPr>
                            <m:t> −</m:t>
                          </m:r>
                          <m:sSup>
                            <m:sSupPr>
                              <m:ctrlPr>
                                <a:rPr lang="en-US" sz="1600" i="1" dirty="0">
                                  <a:latin typeface="Cambria Math" panose="02040503050406030204" pitchFamily="18" charset="0"/>
                                  <a:ea typeface="Cambria Math" panose="02040503050406030204" pitchFamily="18" charset="0"/>
                                </a:rPr>
                              </m:ctrlPr>
                            </m:sSupPr>
                            <m:e>
                              <m:r>
                                <a:rPr lang="en-US" sz="1600" i="1" dirty="0">
                                  <a:latin typeface="Cambria Math" panose="02040503050406030204" pitchFamily="18" charset="0"/>
                                  <a:ea typeface="Cambria Math" panose="02040503050406030204" pitchFamily="18" charset="0"/>
                                </a:rPr>
                                <m:t>𝑣</m:t>
                              </m:r>
                            </m:e>
                            <m:sup>
                              <m:r>
                                <a:rPr lang="en-US" sz="1600" i="1" dirty="0">
                                  <a:latin typeface="Cambria Math" panose="02040503050406030204" pitchFamily="18" charset="0"/>
                                  <a:ea typeface="Cambria Math" panose="02040503050406030204" pitchFamily="18" charset="0"/>
                                </a:rPr>
                                <m:t>∗</m:t>
                              </m:r>
                            </m:sup>
                          </m:sSup>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pt-BR" sz="1600" i="1" dirty="0">
                          <a:latin typeface="Cambria Math" panose="02040503050406030204" pitchFamily="18" charset="0"/>
                          <a:ea typeface="Cambria Math" panose="02040503050406030204" pitchFamily="18" charset="0"/>
                        </a:rPr>
                        <m:t>𝑚</m:t>
                      </m:r>
                      <m:r>
                        <a:rPr lang="pt-BR" sz="1600" i="1" dirty="0">
                          <a:latin typeface="Cambria Math" panose="02040503050406030204" pitchFamily="18" charset="0"/>
                          <a:ea typeface="Cambria Math" panose="02040503050406030204" pitchFamily="18" charset="0"/>
                        </a:rPr>
                        <m:t> = </m:t>
                      </m:r>
                      <m:r>
                        <a:rPr lang="pt-BR" sz="1600" i="1" dirty="0">
                          <a:latin typeface="Cambria Math" panose="02040503050406030204" pitchFamily="18" charset="0"/>
                          <a:ea typeface="Cambria Math" panose="02040503050406030204" pitchFamily="18" charset="0"/>
                        </a:rPr>
                        <m:t>𝑅</m:t>
                      </m:r>
                      <m:r>
                        <a:rPr lang="pt-BR" sz="1600" i="1" dirty="0">
                          <a:latin typeface="Cambria Math" panose="02040503050406030204" pitchFamily="18" charset="0"/>
                          <a:ea typeface="Cambria Math" panose="02040503050406030204" pitchFamily="18" charset="0"/>
                        </a:rPr>
                        <m:t> </m:t>
                      </m:r>
                      <m:sSub>
                        <m:sSubPr>
                          <m:ctrlPr>
                            <a:rPr lang="pt-BR" sz="1600" i="1" dirty="0">
                              <a:latin typeface="Cambria Math" panose="02040503050406030204" pitchFamily="18" charset="0"/>
                              <a:ea typeface="Cambria Math" panose="02040503050406030204" pitchFamily="18" charset="0"/>
                            </a:rPr>
                          </m:ctrlPr>
                        </m:sSubPr>
                        <m:e>
                          <m:r>
                            <a:rPr lang="pt-BR" sz="1600" i="1" dirty="0">
                              <a:latin typeface="Cambria Math" panose="02040503050406030204" pitchFamily="18" charset="0"/>
                              <a:ea typeface="Cambria Math" panose="02040503050406030204" pitchFamily="18" charset="0"/>
                            </a:rPr>
                            <m:t>𝐾</m:t>
                          </m:r>
                        </m:e>
                        <m:sub>
                          <m:r>
                            <a:rPr lang="pt-BR" sz="1600" i="1" dirty="0">
                              <a:latin typeface="Cambria Math" panose="02040503050406030204" pitchFamily="18" charset="0"/>
                              <a:ea typeface="Cambria Math" panose="02040503050406030204" pitchFamily="18" charset="0"/>
                            </a:rPr>
                            <m:t>𝑏𝑡</m:t>
                          </m:r>
                        </m:sub>
                      </m:sSub>
                      <m:r>
                        <a:rPr lang="pt-BR" sz="1600" i="1" dirty="0">
                          <a:latin typeface="Cambria Math" panose="02040503050406030204" pitchFamily="18" charset="0"/>
                          <a:ea typeface="Cambria Math" panose="02040503050406030204" pitchFamily="18" charset="0"/>
                        </a:rPr>
                        <m:t> </m:t>
                      </m:r>
                      <m:d>
                        <m:dPr>
                          <m:ctrlPr>
                            <a:rPr lang="pt-BR" sz="1600" i="1" dirty="0">
                              <a:latin typeface="Cambria Math" panose="02040503050406030204" pitchFamily="18" charset="0"/>
                              <a:ea typeface="Cambria Math" panose="02040503050406030204" pitchFamily="18" charset="0"/>
                            </a:rPr>
                          </m:ctrlPr>
                        </m:dPr>
                        <m:e>
                          <m:r>
                            <a:rPr lang="pt-BR" sz="1600" i="1" dirty="0">
                              <a:latin typeface="Cambria Math" panose="02040503050406030204" pitchFamily="18" charset="0"/>
                              <a:ea typeface="Cambria Math" panose="02040503050406030204" pitchFamily="18" charset="0"/>
                            </a:rPr>
                            <m:t>𝑢</m:t>
                          </m:r>
                          <m:r>
                            <a:rPr lang="pt-BR" sz="1600" i="1" dirty="0">
                              <a:latin typeface="Cambria Math" panose="02040503050406030204" pitchFamily="18" charset="0"/>
                              <a:ea typeface="Cambria Math" panose="02040503050406030204" pitchFamily="18" charset="0"/>
                            </a:rPr>
                            <m:t> −</m:t>
                          </m:r>
                          <m:sSup>
                            <m:sSupPr>
                              <m:ctrlPr>
                                <a:rPr lang="en-US" sz="1600" i="1" dirty="0">
                                  <a:latin typeface="Cambria Math" panose="02040503050406030204" pitchFamily="18" charset="0"/>
                                  <a:ea typeface="Cambria Math" panose="02040503050406030204" pitchFamily="18" charset="0"/>
                                </a:rPr>
                              </m:ctrlPr>
                            </m:sSupPr>
                            <m:e>
                              <m:r>
                                <a:rPr lang="en-US" sz="1600" i="1" dirty="0">
                                  <a:latin typeface="Cambria Math" panose="02040503050406030204" pitchFamily="18" charset="0"/>
                                  <a:ea typeface="Cambria Math" panose="02040503050406030204" pitchFamily="18" charset="0"/>
                                </a:rPr>
                                <m:t>𝑢</m:t>
                              </m:r>
                            </m:e>
                            <m:sup>
                              <m:r>
                                <a:rPr lang="en-US" sz="1600" i="1" dirty="0">
                                  <a:latin typeface="Cambria Math" panose="02040503050406030204" pitchFamily="18" charset="0"/>
                                  <a:ea typeface="Cambria Math" panose="02040503050406030204" pitchFamily="18" charset="0"/>
                                </a:rPr>
                                <m:t>∗</m:t>
                              </m:r>
                            </m:sup>
                          </m:sSup>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a:latin typeface="Cambria Math" panose="02040503050406030204" pitchFamily="18" charset="0"/>
                              <a:ea typeface="Cambria Math" panose="02040503050406030204" pitchFamily="18" charset="0"/>
                            </a:rPr>
                          </m:ctrlPr>
                        </m:sSubPr>
                        <m:e>
                          <m:r>
                            <a:rPr lang="en-IN" sz="1600" i="1" dirty="0">
                              <a:latin typeface="Cambria Math" panose="02040503050406030204" pitchFamily="18" charset="0"/>
                              <a:ea typeface="Cambria Math" panose="02040503050406030204" pitchFamily="18" charset="0"/>
                            </a:rPr>
                            <m:t>𝐾</m:t>
                          </m:r>
                        </m:e>
                        <m:sub>
                          <m:r>
                            <a:rPr lang="en-IN" sz="1600" i="1" dirty="0">
                              <a:latin typeface="Cambria Math" panose="02040503050406030204" pitchFamily="18" charset="0"/>
                              <a:ea typeface="Cambria Math" panose="02040503050406030204" pitchFamily="18" charset="0"/>
                            </a:rPr>
                            <m:t>𝑠𝑒</m:t>
                          </m:r>
                        </m:sub>
                      </m:sSub>
                      <m:r>
                        <a:rPr lang="en-IN" sz="1600" i="1" dirty="0">
                          <a:latin typeface="Cambria Math" panose="02040503050406030204" pitchFamily="18" charset="0"/>
                          <a:ea typeface="Cambria Math" panose="02040503050406030204" pitchFamily="18" charset="0"/>
                        </a:rPr>
                        <m:t> = </m:t>
                      </m:r>
                      <m:r>
                        <a:rPr lang="en-IN" sz="1600" i="1" dirty="0" err="1">
                          <a:latin typeface="Cambria Math" panose="02040503050406030204" pitchFamily="18" charset="0"/>
                          <a:ea typeface="Cambria Math" panose="02040503050406030204" pitchFamily="18" charset="0"/>
                        </a:rPr>
                        <m:t>𝑑𝑖𝑎𝑔</m:t>
                      </m:r>
                      <m:d>
                        <m:dPr>
                          <m:ctrlPr>
                            <a:rPr lang="en-IN" sz="1600" i="1" dirty="0">
                              <a:latin typeface="Cambria Math" panose="02040503050406030204" pitchFamily="18" charset="0"/>
                              <a:ea typeface="Cambria Math" panose="02040503050406030204" pitchFamily="18" charset="0"/>
                            </a:rPr>
                          </m:ctrlPr>
                        </m:dPr>
                        <m:e>
                          <m:r>
                            <a:rPr lang="en-IN" sz="1600" i="1" dirty="0">
                              <a:latin typeface="Cambria Math" panose="02040503050406030204" pitchFamily="18" charset="0"/>
                              <a:ea typeface="Cambria Math" panose="02040503050406030204" pitchFamily="18" charset="0"/>
                            </a:rPr>
                            <m:t>𝐺𝐴</m:t>
                          </m:r>
                          <m:r>
                            <a:rPr lang="en-IN" sz="1600" i="1" dirty="0">
                              <a:latin typeface="Cambria Math" panose="02040503050406030204" pitchFamily="18" charset="0"/>
                              <a:ea typeface="Cambria Math" panose="02040503050406030204" pitchFamily="18" charset="0"/>
                            </a:rPr>
                            <m:t>, </m:t>
                          </m:r>
                          <m:r>
                            <a:rPr lang="en-IN" sz="1600" i="1" dirty="0">
                              <a:latin typeface="Cambria Math" panose="02040503050406030204" pitchFamily="18" charset="0"/>
                              <a:ea typeface="Cambria Math" panose="02040503050406030204" pitchFamily="18" charset="0"/>
                            </a:rPr>
                            <m:t>𝐺𝐴</m:t>
                          </m:r>
                          <m:r>
                            <a:rPr lang="en-IN" sz="1600" i="1" dirty="0">
                              <a:latin typeface="Cambria Math" panose="02040503050406030204" pitchFamily="18" charset="0"/>
                              <a:ea typeface="Cambria Math" panose="02040503050406030204" pitchFamily="18" charset="0"/>
                            </a:rPr>
                            <m:t>, </m:t>
                          </m:r>
                          <m:r>
                            <a:rPr lang="en-IN" sz="1600" i="1" dirty="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err="1">
                              <a:latin typeface="Cambria Math" panose="02040503050406030204" pitchFamily="18" charset="0"/>
                              <a:ea typeface="Cambria Math" panose="02040503050406030204" pitchFamily="18" charset="0"/>
                            </a:rPr>
                          </m:ctrlPr>
                        </m:sSubPr>
                        <m:e>
                          <m:r>
                            <a:rPr lang="en-IN" sz="1600" i="1" dirty="0" err="1">
                              <a:latin typeface="Cambria Math" panose="02040503050406030204" pitchFamily="18" charset="0"/>
                              <a:ea typeface="Cambria Math" panose="02040503050406030204" pitchFamily="18" charset="0"/>
                            </a:rPr>
                            <m:t>𝐾</m:t>
                          </m:r>
                        </m:e>
                        <m:sub>
                          <m:r>
                            <a:rPr lang="en-IN" sz="1600" i="1" dirty="0" err="1">
                              <a:latin typeface="Cambria Math" panose="02040503050406030204" pitchFamily="18" charset="0"/>
                              <a:ea typeface="Cambria Math" panose="02040503050406030204" pitchFamily="18" charset="0"/>
                            </a:rPr>
                            <m:t>𝑏𝑡</m:t>
                          </m:r>
                        </m:sub>
                      </m:sSub>
                      <m:r>
                        <a:rPr lang="en-IN" sz="1600" i="1" dirty="0">
                          <a:latin typeface="Cambria Math" panose="02040503050406030204" pitchFamily="18" charset="0"/>
                          <a:ea typeface="Cambria Math" panose="02040503050406030204" pitchFamily="18" charset="0"/>
                        </a:rPr>
                        <m:t> = </m:t>
                      </m:r>
                      <m:r>
                        <a:rPr lang="en-IN" sz="1600" i="1" dirty="0" err="1">
                          <a:latin typeface="Cambria Math" panose="02040503050406030204" pitchFamily="18" charset="0"/>
                          <a:ea typeface="Cambria Math" panose="02040503050406030204" pitchFamily="18" charset="0"/>
                        </a:rPr>
                        <m:t>𝑑𝑖𝑎𝑔</m:t>
                      </m:r>
                      <m:r>
                        <a:rPr lang="en-IN" sz="1600" i="1" dirty="0">
                          <a:latin typeface="Cambria Math" panose="02040503050406030204" pitchFamily="18" charset="0"/>
                          <a:ea typeface="Cambria Math" panose="02040503050406030204" pitchFamily="18" charset="0"/>
                        </a:rPr>
                        <m:t>(</m:t>
                      </m:r>
                      <m:r>
                        <a:rPr lang="en-IN" sz="1600" i="1" dirty="0">
                          <a:latin typeface="Cambria Math" panose="02040503050406030204" pitchFamily="18" charset="0"/>
                          <a:ea typeface="Cambria Math" panose="02040503050406030204" pitchFamily="18" charset="0"/>
                        </a:rPr>
                        <m:t>𝐸𝐼</m:t>
                      </m:r>
                      <m:r>
                        <a:rPr lang="en-IN" sz="1600" i="1" dirty="0">
                          <a:latin typeface="Cambria Math" panose="02040503050406030204" pitchFamily="18" charset="0"/>
                          <a:ea typeface="Cambria Math" panose="02040503050406030204" pitchFamily="18" charset="0"/>
                        </a:rPr>
                        <m:t>ₓₓ, </m:t>
                      </m:r>
                      <m:r>
                        <a:rPr lang="en-IN" sz="1600" i="1" dirty="0">
                          <a:latin typeface="Cambria Math" panose="02040503050406030204" pitchFamily="18" charset="0"/>
                          <a:ea typeface="Cambria Math" panose="02040503050406030204" pitchFamily="18" charset="0"/>
                        </a:rPr>
                        <m:t>𝐸𝐼</m:t>
                      </m:r>
                      <m:r>
                        <a:rPr lang="el-GR" sz="1600" i="1" dirty="0">
                          <a:latin typeface="Cambria Math" panose="02040503050406030204" pitchFamily="18" charset="0"/>
                          <a:ea typeface="Cambria Math" panose="02040503050406030204" pitchFamily="18" charset="0"/>
                        </a:rPr>
                        <m:t>ᵧᵧ, </m:t>
                      </m:r>
                      <m:r>
                        <a:rPr lang="el-GR" sz="1600" i="1" dirty="0" err="1">
                          <a:latin typeface="Cambria Math" panose="02040503050406030204" pitchFamily="18" charset="0"/>
                          <a:ea typeface="Cambria Math" panose="02040503050406030204" pitchFamily="18" charset="0"/>
                        </a:rPr>
                        <m:t>𝐸</m:t>
                      </m:r>
                      <m:sSub>
                        <m:sSubPr>
                          <m:ctrlPr>
                            <a:rPr lang="el-GR" sz="1600" i="1" dirty="0" err="1">
                              <a:latin typeface="Cambria Math" panose="02040503050406030204" pitchFamily="18" charset="0"/>
                              <a:ea typeface="Cambria Math" panose="02040503050406030204" pitchFamily="18" charset="0"/>
                            </a:rPr>
                          </m:ctrlPr>
                        </m:sSubPr>
                        <m:e>
                          <m:r>
                            <a:rPr lang="el-GR" sz="1600" i="1" dirty="0" err="1">
                              <a:latin typeface="Cambria Math" panose="02040503050406030204" pitchFamily="18" charset="0"/>
                              <a:ea typeface="Cambria Math" panose="02040503050406030204" pitchFamily="18" charset="0"/>
                            </a:rPr>
                            <m:t>𝐼</m:t>
                          </m:r>
                        </m:e>
                        <m:sub>
                          <m:r>
                            <a:rPr lang="el-GR" sz="1600" i="1" dirty="0" err="1">
                              <a:latin typeface="Cambria Math" panose="02040503050406030204" pitchFamily="18" charset="0"/>
                              <a:ea typeface="Cambria Math" panose="02040503050406030204" pitchFamily="18" charset="0"/>
                            </a:rPr>
                            <m:t>𝑧𝑧</m:t>
                          </m:r>
                        </m:sub>
                      </m:sSub>
                      <m:r>
                        <a:rPr lang="el-GR" sz="1600" i="1" dirty="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838966" y="1019869"/>
                <a:ext cx="3179012" cy="4036041"/>
              </a:xfrm>
              <a:prstGeom prst="rect">
                <a:avLst/>
              </a:prstGeom>
              <a:blipFill>
                <a:blip r:embed="rId2"/>
                <a:stretch>
                  <a:fillRect l="-1152" t="-604"/>
                </a:stretch>
              </a:blipFill>
            </p:spPr>
            <p:txBody>
              <a:bodyPr/>
              <a:lstStyle/>
              <a:p>
                <a:r>
                  <a:rPr lang="en-IN">
                    <a:noFill/>
                  </a:rPr>
                  <a:t> </a:t>
                </a:r>
              </a:p>
            </p:txBody>
          </p:sp>
        </mc:Fallback>
      </mc:AlternateContent>
      <p:sp>
        <p:nvSpPr>
          <p:cNvPr id="9" name="TextBox 8"/>
          <p:cNvSpPr txBox="1"/>
          <p:nvPr/>
        </p:nvSpPr>
        <p:spPr>
          <a:xfrm>
            <a:off x="833120" y="5182125"/>
            <a:ext cx="7566780" cy="1384995"/>
          </a:xfrm>
          <a:prstGeom prst="rect">
            <a:avLst/>
          </a:prstGeom>
          <a:noFill/>
        </p:spPr>
        <p:txBody>
          <a:bodyPr wrap="square">
            <a:spAutoFit/>
          </a:bodyPr>
          <a:lstStyle/>
          <a:p>
            <a:pPr>
              <a:spcAft>
                <a:spcPts val="800"/>
              </a:spcAft>
              <a:defRPr sz="1700">
                <a:solidFill>
                  <a:srgbClr val="23282D"/>
                </a:solidFill>
              </a:defRPr>
            </a:pPr>
            <a:r>
              <a:rPr lang="en-IN" sz="1600" dirty="0">
                <a:latin typeface="Cambria Math" panose="02040503050406030204" pitchFamily="18" charset="0"/>
                <a:ea typeface="Cambria Math" panose="02040503050406030204" pitchFamily="18" charset="0"/>
              </a:rPr>
              <a:t>u, bending and torsional strains,</a:t>
            </a:r>
          </a:p>
          <a:p>
            <a:pPr>
              <a:spcAft>
                <a:spcPts val="800"/>
              </a:spcAft>
              <a:defRPr sz="1700">
                <a:solidFill>
                  <a:srgbClr val="23282D"/>
                </a:solidFill>
              </a:defRPr>
            </a:pPr>
            <a:r>
              <a:rPr lang="en-IN" sz="1600" dirty="0">
                <a:latin typeface="Cambria Math" panose="02040503050406030204" pitchFamily="18" charset="0"/>
                <a:ea typeface="Cambria Math" panose="02040503050406030204" pitchFamily="18" charset="0"/>
              </a:rPr>
              <a:t>v, shear strains and axial extension.</a:t>
            </a:r>
          </a:p>
          <a:p>
            <a:pPr>
              <a:spcAft>
                <a:spcPts val="800"/>
              </a:spcAft>
              <a:defRPr sz="1700">
                <a:solidFill>
                  <a:srgbClr val="23282D"/>
                </a:solidFill>
              </a:defRPr>
            </a:pPr>
            <a:r>
              <a:rPr lang="en-US" sz="1600" dirty="0">
                <a:latin typeface="Cambria Math" panose="02040503050406030204" pitchFamily="18" charset="0"/>
                <a:ea typeface="Cambria Math" panose="02040503050406030204" pitchFamily="18" charset="0"/>
              </a:rPr>
              <a:t>n and m, are internal force and moment resultants.</a:t>
            </a:r>
          </a:p>
          <a:p>
            <a:pPr>
              <a:spcAft>
                <a:spcPts val="800"/>
              </a:spcAft>
              <a:defRPr sz="1700">
                <a:solidFill>
                  <a:srgbClr val="23282D"/>
                </a:solidFill>
              </a:defRPr>
            </a:pPr>
            <a:r>
              <a:rPr lang="en-US" sz="1600" dirty="0">
                <a:latin typeface="Cambria Math" panose="02040503050406030204" pitchFamily="18" charset="0"/>
                <a:ea typeface="Cambria Math" panose="02040503050406030204" pitchFamily="18" charset="0"/>
              </a:rPr>
              <a:t>f and l, external distributed force/moment enter through.</a:t>
            </a:r>
            <a:endParaRPr lang="en-IN" sz="1600" dirty="0">
              <a:latin typeface="Cambria Math" panose="02040503050406030204" pitchFamily="18" charset="0"/>
              <a:ea typeface="Cambria Math" panose="02040503050406030204" pitchFamily="18" charset="0"/>
            </a:endParaRPr>
          </a:p>
        </p:txBody>
      </p:sp>
      <p:sp>
        <p:nvSpPr>
          <p:cNvPr id="10" name="TextBox 9"/>
          <p:cNvSpPr txBox="1"/>
          <p:nvPr/>
        </p:nvSpPr>
        <p:spPr>
          <a:xfrm>
            <a:off x="11455534" y="6473952"/>
            <a:ext cx="248786" cy="230832"/>
          </a:xfrm>
          <a:prstGeom prst="rect">
            <a:avLst/>
          </a:prstGeom>
          <a:noFill/>
        </p:spPr>
        <p:txBody>
          <a:bodyPr wrap="none">
            <a:spAutoFit/>
          </a:bodyPr>
          <a:lstStyle/>
          <a:p>
            <a:pPr algn="r">
              <a:defRPr sz="900">
                <a:solidFill>
                  <a:srgbClr val="5A6978"/>
                </a:solidFill>
              </a:defRPr>
            </a:pPr>
            <a:r>
              <a:rPr>
                <a:latin typeface="Cambria Math" panose="02040503050406030204" pitchFamily="18" charset="0"/>
                <a:ea typeface="Cambria Math" panose="02040503050406030204" pitchFamily="18" charset="0"/>
              </a:rPr>
              <a:t>3</a:t>
            </a:r>
          </a:p>
        </p:txBody>
      </p:sp>
      <p:grpSp>
        <p:nvGrpSpPr>
          <p:cNvPr id="19" name="Group 18">
            <a:extLst>
              <a:ext uri="{FF2B5EF4-FFF2-40B4-BE49-F238E27FC236}">
                <a16:creationId xmlns:a16="http://schemas.microsoft.com/office/drawing/2014/main" id="{69D76209-E75B-4A2C-B6CE-0F94EEEEED84}"/>
              </a:ext>
            </a:extLst>
          </p:cNvPr>
          <p:cNvGrpSpPr/>
          <p:nvPr/>
        </p:nvGrpSpPr>
        <p:grpSpPr>
          <a:xfrm>
            <a:off x="6770344" y="1224054"/>
            <a:ext cx="3479247" cy="3112305"/>
            <a:chOff x="7363385" y="927111"/>
            <a:chExt cx="3713435" cy="3112305"/>
          </a:xfrm>
        </p:grpSpPr>
        <p:pic>
          <p:nvPicPr>
            <p:cNvPr id="14" name="Picture 13" descr="The diagram illustrates a Cosserat rod model, showing mathematical relationships between variables such as s, d, r, S, e2, and a.&#10;&#10;AI-generated content may be incorrect.">
              <a:extLst>
                <a:ext uri="{FF2B5EF4-FFF2-40B4-BE49-F238E27FC236}">
                  <a16:creationId xmlns:a16="http://schemas.microsoft.com/office/drawing/2014/main" id="{5744A335-8642-E371-9690-44098BEA4F43}"/>
                </a:ext>
              </a:extLst>
            </p:cNvPr>
            <p:cNvPicPr>
              <a:picLocks noChangeAspect="1"/>
            </p:cNvPicPr>
            <p:nvPr/>
          </p:nvPicPr>
          <p:blipFill>
            <a:blip r:embed="rId3"/>
            <a:stretch>
              <a:fillRect/>
            </a:stretch>
          </p:blipFill>
          <p:spPr>
            <a:xfrm>
              <a:off x="7363385" y="927111"/>
              <a:ext cx="3713435" cy="3112305"/>
            </a:xfrm>
            <a:prstGeom prst="rect">
              <a:avLst/>
            </a:prstGeom>
            <a:ln>
              <a:solidFill>
                <a:schemeClr val="tx1"/>
              </a:solidFill>
            </a:ln>
          </p:spPr>
        </p:pic>
        <p:sp>
          <p:nvSpPr>
            <p:cNvPr id="15" name="TextBox 14">
              <a:extLst>
                <a:ext uri="{FF2B5EF4-FFF2-40B4-BE49-F238E27FC236}">
                  <a16:creationId xmlns:a16="http://schemas.microsoft.com/office/drawing/2014/main" id="{D1CEE03F-CD09-F1B4-4E62-E80C039BB87D}"/>
                </a:ext>
              </a:extLst>
            </p:cNvPr>
            <p:cNvSpPr txBox="1"/>
            <p:nvPr/>
          </p:nvSpPr>
          <p:spPr>
            <a:xfrm>
              <a:off x="9558867" y="1708203"/>
              <a:ext cx="745717"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R(</a:t>
              </a:r>
              <a:r>
                <a:rPr lang="en-US" dirty="0" err="1">
                  <a:latin typeface="Cambria Math" panose="02040503050406030204" pitchFamily="18" charset="0"/>
                  <a:ea typeface="Cambria Math" panose="02040503050406030204" pitchFamily="18" charset="0"/>
                </a:rPr>
                <a:t>s,t</a:t>
              </a:r>
              <a:r>
                <a:rPr lang="en-US" dirty="0">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p:txBody>
        </p:sp>
        <p:sp>
          <p:nvSpPr>
            <p:cNvPr id="17" name="TextBox 16">
              <a:extLst>
                <a:ext uri="{FF2B5EF4-FFF2-40B4-BE49-F238E27FC236}">
                  <a16:creationId xmlns:a16="http://schemas.microsoft.com/office/drawing/2014/main" id="{59E75EC0-220F-8990-4B22-AA496D0CD6FB}"/>
                </a:ext>
              </a:extLst>
            </p:cNvPr>
            <p:cNvSpPr txBox="1"/>
            <p:nvPr/>
          </p:nvSpPr>
          <p:spPr>
            <a:xfrm>
              <a:off x="8847666" y="2504672"/>
              <a:ext cx="627501" cy="307777"/>
            </a:xfrm>
            <a:prstGeom prst="rect">
              <a:avLst/>
            </a:prstGeom>
            <a:noFill/>
          </p:spPr>
          <p:txBody>
            <a:bodyPr wrap="square">
              <a:spAutoFit/>
            </a:bodyPr>
            <a:lstStyle/>
            <a:p>
              <a:r>
                <a:rPr lang="en-US" sz="1400" dirty="0">
                  <a:latin typeface="Cambria Math" panose="02040503050406030204" pitchFamily="18" charset="0"/>
                  <a:ea typeface="Cambria Math" panose="02040503050406030204" pitchFamily="18" charset="0"/>
                </a:rPr>
                <a:t>(</a:t>
              </a:r>
              <a:r>
                <a:rPr lang="en-US" sz="1400" dirty="0" err="1">
                  <a:latin typeface="Cambria Math" panose="02040503050406030204" pitchFamily="18" charset="0"/>
                  <a:ea typeface="Cambria Math" panose="02040503050406030204" pitchFamily="18" charset="0"/>
                </a:rPr>
                <a:t>s,t</a:t>
              </a:r>
              <a:r>
                <a:rPr lang="en-US" sz="1400" dirty="0">
                  <a:latin typeface="Cambria Math" panose="02040503050406030204" pitchFamily="18" charset="0"/>
                  <a:ea typeface="Cambria Math" panose="02040503050406030204" pitchFamily="18" charset="0"/>
                </a:rPr>
                <a:t>)</a:t>
              </a:r>
              <a:endParaRPr lang="en-IN" sz="1400" dirty="0"/>
            </a:p>
          </p:txBody>
        </p:sp>
      </p:grpSp>
      <p:pic>
        <p:nvPicPr>
          <p:cNvPr id="21" name="Picture 20" descr="The image appears to depict a graphical representation of mathematical functions or variables, possibly illustrating the relationship between different parameters (f, l, n, p, m, S, and c) within a global frame or structure.&#10;&#10;AI-generated content may be incorrect.">
            <a:extLst>
              <a:ext uri="{FF2B5EF4-FFF2-40B4-BE49-F238E27FC236}">
                <a16:creationId xmlns:a16="http://schemas.microsoft.com/office/drawing/2014/main" id="{BD699E3D-FF4B-0C3D-1B86-6F407D0D18DE}"/>
              </a:ext>
            </a:extLst>
          </p:cNvPr>
          <p:cNvPicPr>
            <a:picLocks noChangeAspect="1"/>
          </p:cNvPicPr>
          <p:nvPr/>
        </p:nvPicPr>
        <p:blipFill>
          <a:blip r:embed="rId4"/>
          <a:stretch>
            <a:fillRect/>
          </a:stretch>
        </p:blipFill>
        <p:spPr>
          <a:xfrm>
            <a:off x="6770343" y="4336359"/>
            <a:ext cx="3479247" cy="1342474"/>
          </a:xfrm>
          <a:prstGeom prst="rect">
            <a:avLst/>
          </a:prstGeom>
          <a:ln>
            <a:solidFill>
              <a:schemeClr val="tx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394B42-97FB-C5F4-7000-586D53093DE2}"/>
              </a:ext>
            </a:extLst>
          </p:cNvPr>
          <p:cNvPicPr>
            <a:picLocks noChangeAspect="1"/>
          </p:cNvPicPr>
          <p:nvPr/>
        </p:nvPicPr>
        <p:blipFill>
          <a:blip r:embed="rId2"/>
          <a:stretch>
            <a:fillRect/>
          </a:stretch>
        </p:blipFill>
        <p:spPr>
          <a:xfrm>
            <a:off x="6873061" y="316115"/>
            <a:ext cx="3983745" cy="2520007"/>
          </a:xfrm>
          <a:prstGeom prst="rect">
            <a:avLst/>
          </a:prstGeom>
          <a:ln>
            <a:solidFill>
              <a:schemeClr val="tx1"/>
            </a:solidFill>
          </a:ln>
        </p:spPr>
      </p:pic>
      <p:pic>
        <p:nvPicPr>
          <p:cNvPr id="5" name="Picture 4">
            <a:extLst>
              <a:ext uri="{FF2B5EF4-FFF2-40B4-BE49-F238E27FC236}">
                <a16:creationId xmlns:a16="http://schemas.microsoft.com/office/drawing/2014/main" id="{54AFD2D6-28CC-945C-5553-162829006D72}"/>
              </a:ext>
            </a:extLst>
          </p:cNvPr>
          <p:cNvPicPr>
            <a:picLocks noChangeAspect="1"/>
          </p:cNvPicPr>
          <p:nvPr/>
        </p:nvPicPr>
        <p:blipFill>
          <a:blip r:embed="rId3"/>
          <a:stretch>
            <a:fillRect/>
          </a:stretch>
        </p:blipFill>
        <p:spPr>
          <a:xfrm>
            <a:off x="1483031" y="1344946"/>
            <a:ext cx="4612969" cy="4725207"/>
          </a:xfrm>
          <a:prstGeom prst="rect">
            <a:avLst/>
          </a:prstGeom>
          <a:ln>
            <a:solidFill>
              <a:schemeClr val="tx1"/>
            </a:solidFill>
          </a:ln>
        </p:spPr>
      </p:pic>
      <p:pic>
        <p:nvPicPr>
          <p:cNvPr id="4" name="Picture 3">
            <a:extLst>
              <a:ext uri="{FF2B5EF4-FFF2-40B4-BE49-F238E27FC236}">
                <a16:creationId xmlns:a16="http://schemas.microsoft.com/office/drawing/2014/main" id="{E4976B26-609D-6B93-B61B-67098DAD9606}"/>
              </a:ext>
            </a:extLst>
          </p:cNvPr>
          <p:cNvPicPr>
            <a:picLocks noChangeAspect="1"/>
          </p:cNvPicPr>
          <p:nvPr/>
        </p:nvPicPr>
        <p:blipFill>
          <a:blip r:embed="rId4"/>
          <a:stretch>
            <a:fillRect/>
          </a:stretch>
        </p:blipFill>
        <p:spPr>
          <a:xfrm>
            <a:off x="6873062" y="3013724"/>
            <a:ext cx="3983746" cy="3174162"/>
          </a:xfrm>
          <a:prstGeom prst="rect">
            <a:avLst/>
          </a:prstGeom>
          <a:ln>
            <a:solidFill>
              <a:schemeClr val="tx1"/>
            </a:solidFill>
          </a:ln>
        </p:spPr>
      </p:pic>
      <p:pic>
        <p:nvPicPr>
          <p:cNvPr id="7" name="Picture 6" descr="The image is a document abstract summarizing a study on the dynamics and control of continuum robots involving tendon routing and external loading, authored by D. Caleb Rucker and Robert J. Webster.&#10;&#10;AI-generated content may be incorrect.">
            <a:extLst>
              <a:ext uri="{FF2B5EF4-FFF2-40B4-BE49-F238E27FC236}">
                <a16:creationId xmlns:a16="http://schemas.microsoft.com/office/drawing/2014/main" id="{F00D8C59-4F9B-0686-B4AE-A2514285BDF8}"/>
              </a:ext>
            </a:extLst>
          </p:cNvPr>
          <p:cNvPicPr>
            <a:picLocks noChangeAspect="1"/>
          </p:cNvPicPr>
          <p:nvPr/>
        </p:nvPicPr>
        <p:blipFill>
          <a:blip r:embed="rId5"/>
          <a:stretch>
            <a:fillRect/>
          </a:stretch>
        </p:blipFill>
        <p:spPr>
          <a:xfrm>
            <a:off x="1156218" y="316115"/>
            <a:ext cx="5303896" cy="943464"/>
          </a:xfrm>
          <a:prstGeom prst="rect">
            <a:avLst/>
          </a:prstGeom>
          <a:ln>
            <a:solidFill>
              <a:schemeClr val="tx1"/>
            </a:solidFill>
          </a:ln>
        </p:spPr>
      </p:pic>
    </p:spTree>
    <p:extLst>
      <p:ext uri="{BB962C8B-B14F-4D97-AF65-F5344CB8AC3E}">
        <p14:creationId xmlns:p14="http://schemas.microsoft.com/office/powerpoint/2010/main" val="420487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DFCDD-046A-B58F-1740-A7A8CE5AA8F0}"/>
            </a:ext>
          </a:extLst>
        </p:cNvPr>
        <p:cNvGrpSpPr/>
        <p:nvPr/>
      </p:nvGrpSpPr>
      <p:grpSpPr>
        <a:xfrm>
          <a:off x="0" y="0"/>
          <a:ext cx="0" cy="0"/>
          <a:chOff x="0" y="0"/>
          <a:chExt cx="0" cy="0"/>
        </a:xfrm>
      </p:grpSpPr>
      <p:pic>
        <p:nvPicPr>
          <p:cNvPr id="7" name="Picture 6" descr="The text describes a comparison between two robot design approaches and their accuracy, as evaluated through experiments on a prototype.&#10;&#10;AI-generated content may be incorrect.">
            <a:extLst>
              <a:ext uri="{FF2B5EF4-FFF2-40B4-BE49-F238E27FC236}">
                <a16:creationId xmlns:a16="http://schemas.microsoft.com/office/drawing/2014/main" id="{AD5A6678-3BC5-E677-4B8F-EED6287719C7}"/>
              </a:ext>
            </a:extLst>
          </p:cNvPr>
          <p:cNvPicPr>
            <a:picLocks noChangeAspect="1"/>
          </p:cNvPicPr>
          <p:nvPr/>
        </p:nvPicPr>
        <p:blipFill>
          <a:blip r:embed="rId2"/>
          <a:stretch>
            <a:fillRect/>
          </a:stretch>
        </p:blipFill>
        <p:spPr>
          <a:xfrm>
            <a:off x="6536540" y="5209046"/>
            <a:ext cx="4082000" cy="806000"/>
          </a:xfrm>
          <a:prstGeom prst="rect">
            <a:avLst/>
          </a:prstGeom>
          <a:ln>
            <a:solidFill>
              <a:schemeClr val="tx1"/>
            </a:solidFill>
          </a:ln>
        </p:spPr>
      </p:pic>
      <p:sp>
        <p:nvSpPr>
          <p:cNvPr id="3" name="TextBox 2">
            <a:extLst>
              <a:ext uri="{FF2B5EF4-FFF2-40B4-BE49-F238E27FC236}">
                <a16:creationId xmlns:a16="http://schemas.microsoft.com/office/drawing/2014/main" id="{7A8E2238-741A-B187-1FA2-4A2A8D1C51DB}"/>
              </a:ext>
            </a:extLst>
          </p:cNvPr>
          <p:cNvSpPr txBox="1"/>
          <p:nvPr/>
        </p:nvSpPr>
        <p:spPr>
          <a:xfrm>
            <a:off x="833120" y="370435"/>
            <a:ext cx="6237413"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point moment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50DACBF3-B5CF-4CCD-9A0C-02255C7D69B3}"/>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E3132C-7777-8338-908D-880CA14A270C}"/>
                  </a:ext>
                </a:extLst>
              </p:cNvPr>
              <p:cNvSpPr txBox="1"/>
              <p:nvPr/>
            </p:nvSpPr>
            <p:spPr>
              <a:xfrm>
                <a:off x="1815870" y="1440139"/>
                <a:ext cx="3090846" cy="4036041"/>
              </a:xfrm>
              <a:prstGeom prst="rect">
                <a:avLst/>
              </a:prstGeom>
              <a:noFill/>
            </p:spPr>
            <p:txBody>
              <a:bodyPr wrap="non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Governing Equations (</a:t>
                </a:r>
                <a:r>
                  <a:rPr lang="en-US" sz="1600" dirty="0">
                    <a:solidFill>
                      <a:schemeClr val="accent3">
                        <a:lumMod val="75000"/>
                      </a:schemeClr>
                    </a:solidFill>
                    <a:latin typeface="Cambria Math" panose="02040503050406030204" pitchFamily="18" charset="0"/>
                    <a:ea typeface="Cambria Math" panose="02040503050406030204" pitchFamily="18" charset="0"/>
                  </a:rPr>
                  <a:t>ODE</a:t>
                </a:r>
                <a:r>
                  <a:rPr lang="en-US" sz="1600" dirty="0">
                    <a:latin typeface="Cambria Math" panose="02040503050406030204" pitchFamily="18" charset="0"/>
                    <a:ea typeface="Cambria Math" panose="02040503050406030204" pitchFamily="18" charset="0"/>
                  </a:rPr>
                  <a:t>/</a:t>
                </a:r>
                <a:r>
                  <a:rPr lang="en-US" sz="1600" dirty="0">
                    <a:solidFill>
                      <a:schemeClr val="accent2">
                        <a:lumMod val="75000"/>
                      </a:schemeClr>
                    </a:solidFill>
                    <a:latin typeface="Cambria Math" panose="02040503050406030204" pitchFamily="18" charset="0"/>
                    <a:ea typeface="Cambria Math" panose="02040503050406030204" pitchFamily="18" charset="0"/>
                  </a:rPr>
                  <a:t>PDE</a:t>
                </a:r>
                <a:r>
                  <a:rPr lang="en-US" sz="1600" dirty="0">
                    <a:latin typeface="Cambria Math" panose="02040503050406030204" pitchFamily="18" charset="0"/>
                    <a:ea typeface="Cambria Math" panose="02040503050406030204" pitchFamily="18" charset="0"/>
                  </a:rPr>
                  <a:t>)</a:t>
                </a:r>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r>
                        <m:rPr>
                          <m:sty m:val="p"/>
                        </m:rPr>
                        <a:rPr lang="en-US" sz="1600" i="1" dirty="0">
                          <a:latin typeface="Cambria Math" panose="02040503050406030204" pitchFamily="18" charset="0"/>
                          <a:ea typeface="Cambria Math" panose="02040503050406030204" pitchFamily="18" charset="0"/>
                        </a:rPr>
                        <m:t>Rv</m:t>
                      </m:r>
                      <m:r>
                        <a:rPr lang="en-US" sz="1600" b="0" i="1" dirty="0" smtClean="0">
                          <a:latin typeface="Cambria Math" panose="02040503050406030204" pitchFamily="18" charset="0"/>
                          <a:ea typeface="Cambria Math" panose="02040503050406030204" pitchFamily="18" charset="0"/>
                        </a:rPr>
                        <m:t>,</m:t>
                      </m:r>
                      <m:sSub>
                        <m:sSubPr>
                          <m:ctrlPr>
                            <a:rPr lang="en-US" sz="1600" b="0" i="0" dirty="0" smtClean="0">
                              <a:latin typeface="Cambria Math" panose="02040503050406030204" pitchFamily="18" charset="0"/>
                              <a:ea typeface="Cambria Math" panose="02040503050406030204" pitchFamily="18" charset="0"/>
                            </a:rPr>
                          </m:ctrlPr>
                        </m:sSubPr>
                        <m:e>
                          <m:r>
                            <a:rPr lang="en-US" sz="1600" b="0" i="0" dirty="0" smtClean="0">
                              <a:latin typeface="Cambria Math" panose="02040503050406030204" pitchFamily="18" charset="0"/>
                              <a:ea typeface="Cambria Math" panose="02040503050406030204" pitchFamily="18" charset="0"/>
                            </a:rPr>
                            <m:t>  </m:t>
                          </m:r>
                          <m:r>
                            <m:rPr>
                              <m:sty m:val="p"/>
                            </m:rPr>
                            <a:rPr lang="en-US" sz="1600" dirty="0">
                              <a:latin typeface="Cambria Math" panose="02040503050406030204" pitchFamily="18" charset="0"/>
                              <a:ea typeface="Cambria Math" panose="02040503050406030204" pitchFamily="18" charset="0"/>
                            </a:rPr>
                            <m:t>r</m:t>
                          </m:r>
                        </m:e>
                        <m:sub>
                          <m:r>
                            <m:rPr>
                              <m:sty m:val="p"/>
                            </m:rPr>
                            <a:rPr lang="en-IN" sz="1600" dirty="0" err="1">
                              <a:latin typeface="Cambria Math" panose="02040503050406030204" pitchFamily="18" charset="0"/>
                              <a:ea typeface="Cambria Math" panose="02040503050406030204" pitchFamily="18" charset="0"/>
                            </a:rPr>
                            <m:t>t</m:t>
                          </m:r>
                        </m:sub>
                      </m:sSub>
                      <m:r>
                        <a:rPr lang="en-IN" sz="1600" dirty="0">
                          <a:latin typeface="Cambria Math" panose="02040503050406030204" pitchFamily="18" charset="0"/>
                          <a:ea typeface="Cambria Math" panose="02040503050406030204" pitchFamily="18" charset="0"/>
                        </a:rPr>
                        <m:t> =</m:t>
                      </m:r>
                      <m:r>
                        <m:rPr>
                          <m:sty m:val="p"/>
                        </m:rPr>
                        <a:rPr lang="en-US" sz="1600" dirty="0">
                          <a:latin typeface="Cambria Math" panose="02040503050406030204" pitchFamily="18" charset="0"/>
                          <a:ea typeface="Cambria Math" panose="02040503050406030204" pitchFamily="18" charset="0"/>
                        </a:rPr>
                        <m:t>Rq</m:t>
                      </m:r>
                      <m:r>
                        <a:rPr lang="en-IN" sz="1600" dirty="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𝑅</m:t>
                          </m:r>
                        </m:e>
                        <m:sub>
                          <m:r>
                            <a:rPr lang="en-US" sz="1600" i="1">
                              <a:latin typeface="Cambria Math" panose="02040503050406030204" pitchFamily="18" charset="0"/>
                              <a:ea typeface="Cambria Math" panose="02040503050406030204" pitchFamily="18" charset="0"/>
                            </a:rPr>
                            <m:t>𝑠</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𝑅</m:t>
                      </m:r>
                      <m:d>
                        <m:dPr>
                          <m:begChr m:val="["/>
                          <m:endChr m:val="]"/>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𝑈𝑥</m:t>
                          </m:r>
                        </m:e>
                      </m:d>
                      <m:r>
                        <a:rPr lang="en-US" sz="1600" i="1">
                          <a:latin typeface="Cambria Math" panose="02040503050406030204" pitchFamily="18" charset="0"/>
                          <a:ea typeface="Cambria Math" panose="02040503050406030204" pitchFamily="18" charset="0"/>
                        </a:rPr>
                        <m:t>, </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𝑅</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𝑅</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𝑊𝑥</m:t>
                      </m:r>
                      <m:r>
                        <a:rPr lang="en-US" sz="1600" i="1">
                          <a:latin typeface="Cambria Math" panose="02040503050406030204" pitchFamily="18" charset="0"/>
                          <a:ea typeface="Cambria Math" panose="02040503050406030204" pitchFamily="18" charset="0"/>
                        </a:rPr>
                        <m:t>]</m:t>
                      </m:r>
                    </m:oMath>
                  </m:oMathPara>
                </a14:m>
                <a:endParaRPr lang="en-US" sz="1600" dirty="0">
                  <a:latin typeface="Cambria Math" panose="02040503050406030204" pitchFamily="18" charset="0"/>
                  <a:ea typeface="Cambria Math" panose="02040503050406030204" pitchFamily="18" charset="0"/>
                </a:endParaRPr>
              </a:p>
              <a:p>
                <a:pPr algn="ctr">
                  <a:defRPr sz="2000">
                    <a:solidFill>
                      <a:srgbClr val="142237"/>
                    </a:solidFill>
                  </a:defRPr>
                </a:pPr>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Force Balance</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err="1"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 </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0, </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𝑠𝑡𝑎𝑡𝑖𝑐</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14:m>
                  <m:oMath xmlns:m="http://schemas.openxmlformats.org/officeDocument/2006/math">
                    <m:r>
                      <a:rPr lang="en-US" sz="1600" b="0" i="1" dirty="0" smtClean="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a:solidFill>
                              <a:schemeClr val="accent2">
                                <a:lumMod val="75000"/>
                              </a:schemeClr>
                            </a:solidFill>
                            <a:latin typeface="Cambria Math" panose="02040503050406030204" pitchFamily="18" charset="0"/>
                            <a:ea typeface="Cambria Math" panose="02040503050406030204" pitchFamily="18" charset="0"/>
                          </a:rPr>
                          <m:t>𝑟</m:t>
                        </m:r>
                      </m:e>
                      <m:sub>
                        <m:r>
                          <a:rPr lang="en-US" sz="1600" i="1" dirty="0">
                            <a:solidFill>
                              <a:schemeClr val="accent2">
                                <a:lumMod val="75000"/>
                              </a:schemeClr>
                            </a:solidFill>
                            <a:latin typeface="Cambria Math" panose="02040503050406030204" pitchFamily="18" charset="0"/>
                            <a:ea typeface="Cambria Math" panose="02040503050406030204" pitchFamily="18" charset="0"/>
                          </a:rPr>
                          <m:t>𝑡𝑡</m:t>
                        </m:r>
                      </m:sub>
                    </m:sSub>
                  </m:oMath>
                </a14:m>
                <a:r>
                  <a:rPr lang="en-IN" sz="1600" i="1" dirty="0">
                    <a:solidFill>
                      <a:schemeClr val="accent2">
                        <a:lumMod val="75000"/>
                      </a:schemeClr>
                    </a:solidFill>
                    <a:latin typeface="Cambria Math" panose="02040503050406030204" pitchFamily="18" charset="0"/>
                    <a:ea typeface="Cambria Math" panose="02040503050406030204" pitchFamily="18" charset="0"/>
                  </a:rPr>
                  <a:t>, dynamic</a:t>
                </a:r>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Moment Balance</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err="1"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err="1" smtClean="0">
                              <a:latin typeface="Cambria Math" panose="02040503050406030204" pitchFamily="18" charset="0"/>
                              <a:ea typeface="Cambria Math" panose="02040503050406030204" pitchFamily="18" charset="0"/>
                            </a:rPr>
                          </m:ctrlPr>
                        </m:sSubPr>
                        <m:e>
                          <m:r>
                            <a:rPr lang="en-US" sz="1600" i="1" dirty="0" err="1" smtClean="0">
                              <a:latin typeface="Cambria Math" panose="02040503050406030204" pitchFamily="18" charset="0"/>
                              <a:ea typeface="Cambria Math" panose="02040503050406030204" pitchFamily="18" charset="0"/>
                            </a:rPr>
                            <m:t>𝑟</m:t>
                          </m:r>
                        </m:e>
                        <m:sub>
                          <m:r>
                            <a:rPr lang="en-US" sz="1600" i="1" dirty="0" err="1"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smtClean="0">
                          <a:latin typeface="Cambria Math" panose="02040503050406030204" pitchFamily="18" charset="0"/>
                          <a:ea typeface="Cambria Math" panose="02040503050406030204" pitchFamily="18" charset="0"/>
                        </a:rPr>
                        <m:t> =   0, </m:t>
                      </m:r>
                      <m:r>
                        <a:rPr lang="en-US" sz="1600" i="1" dirty="0">
                          <a:solidFill>
                            <a:schemeClr val="accent3">
                              <a:lumMod val="75000"/>
                            </a:schemeClr>
                          </a:solidFill>
                          <a:latin typeface="Cambria Math" panose="02040503050406030204" pitchFamily="18" charset="0"/>
                          <a:ea typeface="Cambria Math" panose="02040503050406030204" pitchFamily="18" charset="0"/>
                        </a:rPr>
                        <m:t>𝑠𝑡𝑎𝑡𝑖𝑐</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r>
                        <a:rPr lang="en-US" sz="1600" i="1" dirty="0">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𝑇</m:t>
                      </m:r>
                      <m:sSub>
                        <m:sSub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a:solidFill>
                                <a:schemeClr val="accent2">
                                  <a:lumMod val="75000"/>
                                </a:schemeClr>
                              </a:solidFill>
                              <a:latin typeface="Cambria Math" panose="02040503050406030204" pitchFamily="18" charset="0"/>
                              <a:ea typeface="Cambria Math" panose="02040503050406030204" pitchFamily="18" charset="0"/>
                            </a:rPr>
                            <m:t>𝑤</m:t>
                          </m:r>
                        </m:e>
                        <m:sub>
                          <m:r>
                            <a:rPr lang="en-US" sz="1600" i="1" dirty="0">
                              <a:solidFill>
                                <a:schemeClr val="accent2">
                                  <a:lumMod val="75000"/>
                                </a:schemeClr>
                              </a:solidFill>
                              <a:latin typeface="Cambria Math" panose="02040503050406030204" pitchFamily="18" charset="0"/>
                              <a:ea typeface="Cambria Math" panose="02040503050406030204" pitchFamily="18" charset="0"/>
                            </a:rPr>
                            <m:t>𝑡</m:t>
                          </m:r>
                        </m:sub>
                      </m:sSub>
                      <m:r>
                        <a:rPr lang="en-US" sz="1600" i="1" dirty="0">
                          <a:solidFill>
                            <a:schemeClr val="accent2">
                              <a:lumMod val="75000"/>
                            </a:schemeClr>
                          </a:solidFill>
                          <a:latin typeface="Cambria Math" panose="02040503050406030204" pitchFamily="18" charset="0"/>
                          <a:ea typeface="Cambria Math" panose="02040503050406030204" pitchFamily="18" charset="0"/>
                        </a:rPr>
                        <m:t>+</m:t>
                      </m:r>
                      <m:r>
                        <a:rPr lang="en-US" sz="1600" i="1" dirty="0">
                          <a:solidFill>
                            <a:schemeClr val="accent2">
                              <a:lumMod val="75000"/>
                            </a:schemeClr>
                          </a:solidFill>
                          <a:latin typeface="Cambria Math" panose="02040503050406030204" pitchFamily="18" charset="0"/>
                          <a:ea typeface="Cambria Math" panose="02040503050406030204" pitchFamily="18" charset="0"/>
                        </a:rPr>
                        <m:t>𝑤</m:t>
                      </m:r>
                      <m:r>
                        <a:rPr lang="en-US" sz="1600" i="1" dirty="0">
                          <a:solidFill>
                            <a:schemeClr val="accent2">
                              <a:lumMod val="75000"/>
                            </a:schemeClr>
                          </a:solidFill>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𝑥</m:t>
                      </m:r>
                      <m:r>
                        <a:rPr lang="en-US" sz="1600" i="1" dirty="0">
                          <a:solidFill>
                            <a:schemeClr val="accent2">
                              <a:lumMod val="75000"/>
                            </a:schemeClr>
                          </a:solidFill>
                          <a:latin typeface="Cambria Math" panose="02040503050406030204" pitchFamily="18" charset="0"/>
                          <a:ea typeface="Cambria Math" panose="02040503050406030204" pitchFamily="18" charset="0"/>
                        </a:rPr>
                        <m:t> </m:t>
                      </m:r>
                      <m:d>
                        <m:d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dPr>
                        <m:e>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𝐽𝑤</m:t>
                          </m:r>
                        </m:e>
                      </m:d>
                      <m:r>
                        <a:rPr lang="en-US" sz="1600" i="1" dirty="0">
                          <a:solidFill>
                            <a:schemeClr val="accent2">
                              <a:lumMod val="75000"/>
                            </a:schemeClr>
                          </a:solidFill>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𝑑𝑦𝑛𝑎𝑚𝑖𝑐</m:t>
                      </m:r>
                    </m:oMath>
                  </m:oMathPara>
                </a14:m>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Constitutive Relation</a:t>
                </a:r>
              </a:p>
              <a:p>
                <a:pPr>
                  <a:defRPr sz="2000">
                    <a:solidFill>
                      <a:srgbClr val="142237"/>
                    </a:solidFill>
                  </a:defRPr>
                </a:pPr>
                <a14:m>
                  <m:oMathPara xmlns:m="http://schemas.openxmlformats.org/officeDocument/2006/math">
                    <m:oMath>
                      <m:r>
                        <a:rPr lang="en-US" sz="1600" i="1" dirty="0">
                          <a:latin typeface="Cambria Math" panose="02040503050406030204" pitchFamily="18" charset="0"/>
                          <a:ea typeface="Cambria Math" panose="02040503050406030204" pitchFamily="18" charset="0"/>
                        </a:rPr>
                        <m:t>𝑛</m:t>
                      </m:r>
                      <m:r>
                        <a:rPr lang="en-US" sz="1600" i="1" dirty="0">
                          <a:latin typeface="Cambria Math" panose="02040503050406030204" pitchFamily="18" charset="0"/>
                          <a:ea typeface="Cambria Math" panose="02040503050406030204" pitchFamily="18" charset="0"/>
                        </a:rPr>
                        <m:t> = </m:t>
                      </m:r>
                      <m:r>
                        <a:rPr lang="pt-BR" sz="1600" i="1" dirty="0">
                          <a:latin typeface="Cambria Math" panose="02040503050406030204" pitchFamily="18" charset="0"/>
                          <a:ea typeface="Cambria Math" panose="02040503050406030204" pitchFamily="18" charset="0"/>
                        </a:rPr>
                        <m:t>𝑅</m:t>
                      </m:r>
                      <m:r>
                        <a:rPr lang="pt-BR" sz="1600" i="1" dirty="0">
                          <a:latin typeface="Cambria Math" panose="02040503050406030204" pitchFamily="18" charset="0"/>
                          <a:ea typeface="Cambria Math" panose="02040503050406030204" pitchFamily="18" charset="0"/>
                        </a:rPr>
                        <m:t> </m:t>
                      </m:r>
                      <m:sSub>
                        <m:sSubPr>
                          <m:ctrlPr>
                            <a:rPr lang="pt-BR" sz="1600" i="1" dirty="0">
                              <a:latin typeface="Cambria Math" panose="02040503050406030204" pitchFamily="18" charset="0"/>
                              <a:ea typeface="Cambria Math" panose="02040503050406030204" pitchFamily="18" charset="0"/>
                            </a:rPr>
                          </m:ctrlPr>
                        </m:sSubPr>
                        <m:e>
                          <m:r>
                            <a:rPr lang="pt-BR" sz="1600" i="1" dirty="0">
                              <a:latin typeface="Cambria Math" panose="02040503050406030204" pitchFamily="18" charset="0"/>
                              <a:ea typeface="Cambria Math" panose="02040503050406030204" pitchFamily="18" charset="0"/>
                            </a:rPr>
                            <m:t>𝐾</m:t>
                          </m:r>
                        </m:e>
                        <m:sub>
                          <m:r>
                            <a:rPr lang="en-US" sz="1600" b="0" i="1" dirty="0" smtClean="0">
                              <a:latin typeface="Cambria Math" panose="02040503050406030204" pitchFamily="18" charset="0"/>
                              <a:ea typeface="Cambria Math" panose="02040503050406030204" pitchFamily="18" charset="0"/>
                            </a:rPr>
                            <m:t>𝑠𝑒</m:t>
                          </m:r>
                        </m:sub>
                      </m:sSub>
                      <m:r>
                        <a:rPr lang="pt-BR" sz="1600" i="1" dirty="0">
                          <a:latin typeface="Cambria Math" panose="02040503050406030204" pitchFamily="18" charset="0"/>
                          <a:ea typeface="Cambria Math" panose="02040503050406030204" pitchFamily="18" charset="0"/>
                        </a:rPr>
                        <m:t> </m:t>
                      </m:r>
                      <m:d>
                        <m:dPr>
                          <m:ctrlPr>
                            <a:rPr lang="en-US" sz="1600" i="1" dirty="0">
                              <a:latin typeface="Cambria Math" panose="02040503050406030204" pitchFamily="18" charset="0"/>
                              <a:ea typeface="Cambria Math" panose="02040503050406030204" pitchFamily="18" charset="0"/>
                            </a:rPr>
                          </m:ctrlPr>
                        </m:dPr>
                        <m:e>
                          <m:r>
                            <a:rPr lang="en-US" sz="1600" i="1" dirty="0">
                              <a:latin typeface="Cambria Math" panose="02040503050406030204" pitchFamily="18" charset="0"/>
                              <a:ea typeface="Cambria Math" panose="02040503050406030204" pitchFamily="18" charset="0"/>
                            </a:rPr>
                            <m:t>𝑣</m:t>
                          </m:r>
                          <m:r>
                            <a:rPr lang="pt-BR" sz="1600" i="1" dirty="0">
                              <a:latin typeface="Cambria Math" panose="02040503050406030204" pitchFamily="18" charset="0"/>
                              <a:ea typeface="Cambria Math" panose="02040503050406030204" pitchFamily="18" charset="0"/>
                            </a:rPr>
                            <m:t> −</m:t>
                          </m:r>
                          <m:sSup>
                            <m:sSupPr>
                              <m:ctrlPr>
                                <a:rPr lang="en-US" sz="1600" i="1" dirty="0">
                                  <a:latin typeface="Cambria Math" panose="02040503050406030204" pitchFamily="18" charset="0"/>
                                  <a:ea typeface="Cambria Math" panose="02040503050406030204" pitchFamily="18" charset="0"/>
                                </a:rPr>
                              </m:ctrlPr>
                            </m:sSupPr>
                            <m:e>
                              <m:r>
                                <a:rPr lang="en-US" sz="1600" i="1" dirty="0">
                                  <a:latin typeface="Cambria Math" panose="02040503050406030204" pitchFamily="18" charset="0"/>
                                  <a:ea typeface="Cambria Math" panose="02040503050406030204" pitchFamily="18" charset="0"/>
                                </a:rPr>
                                <m:t>𝑣</m:t>
                              </m:r>
                            </m:e>
                            <m:sup>
                              <m:r>
                                <a:rPr lang="en-US" sz="1600" i="1" dirty="0">
                                  <a:latin typeface="Cambria Math" panose="02040503050406030204" pitchFamily="18" charset="0"/>
                                  <a:ea typeface="Cambria Math" panose="02040503050406030204" pitchFamily="18" charset="0"/>
                                </a:rPr>
                                <m:t>∗</m:t>
                              </m:r>
                            </m:sup>
                          </m:sSup>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pt-BR" sz="1600" i="1" dirty="0">
                          <a:latin typeface="Cambria Math" panose="02040503050406030204" pitchFamily="18" charset="0"/>
                          <a:ea typeface="Cambria Math" panose="02040503050406030204" pitchFamily="18" charset="0"/>
                        </a:rPr>
                        <m:t>𝑚</m:t>
                      </m:r>
                      <m:r>
                        <a:rPr lang="pt-BR" sz="1600" i="1" dirty="0">
                          <a:latin typeface="Cambria Math" panose="02040503050406030204" pitchFamily="18" charset="0"/>
                          <a:ea typeface="Cambria Math" panose="02040503050406030204" pitchFamily="18" charset="0"/>
                        </a:rPr>
                        <m:t> = </m:t>
                      </m:r>
                      <m:r>
                        <a:rPr lang="pt-BR" sz="1600" i="1" dirty="0">
                          <a:latin typeface="Cambria Math" panose="02040503050406030204" pitchFamily="18" charset="0"/>
                          <a:ea typeface="Cambria Math" panose="02040503050406030204" pitchFamily="18" charset="0"/>
                        </a:rPr>
                        <m:t>𝑅</m:t>
                      </m:r>
                      <m:r>
                        <a:rPr lang="pt-BR" sz="1600" i="1" dirty="0">
                          <a:latin typeface="Cambria Math" panose="02040503050406030204" pitchFamily="18" charset="0"/>
                          <a:ea typeface="Cambria Math" panose="02040503050406030204" pitchFamily="18" charset="0"/>
                        </a:rPr>
                        <m:t> </m:t>
                      </m:r>
                      <m:sSub>
                        <m:sSubPr>
                          <m:ctrlPr>
                            <a:rPr lang="pt-BR" sz="1600" i="1" dirty="0">
                              <a:latin typeface="Cambria Math" panose="02040503050406030204" pitchFamily="18" charset="0"/>
                              <a:ea typeface="Cambria Math" panose="02040503050406030204" pitchFamily="18" charset="0"/>
                            </a:rPr>
                          </m:ctrlPr>
                        </m:sSubPr>
                        <m:e>
                          <m:r>
                            <a:rPr lang="pt-BR" sz="1600" i="1" dirty="0">
                              <a:latin typeface="Cambria Math" panose="02040503050406030204" pitchFamily="18" charset="0"/>
                              <a:ea typeface="Cambria Math" panose="02040503050406030204" pitchFamily="18" charset="0"/>
                            </a:rPr>
                            <m:t>𝐾</m:t>
                          </m:r>
                        </m:e>
                        <m:sub>
                          <m:r>
                            <a:rPr lang="pt-BR" sz="1600" i="1" dirty="0">
                              <a:latin typeface="Cambria Math" panose="02040503050406030204" pitchFamily="18" charset="0"/>
                              <a:ea typeface="Cambria Math" panose="02040503050406030204" pitchFamily="18" charset="0"/>
                            </a:rPr>
                            <m:t>𝑏𝑡</m:t>
                          </m:r>
                        </m:sub>
                      </m:sSub>
                      <m:r>
                        <a:rPr lang="pt-BR" sz="1600" i="1" dirty="0">
                          <a:latin typeface="Cambria Math" panose="02040503050406030204" pitchFamily="18" charset="0"/>
                          <a:ea typeface="Cambria Math" panose="02040503050406030204" pitchFamily="18" charset="0"/>
                        </a:rPr>
                        <m:t> </m:t>
                      </m:r>
                      <m:d>
                        <m:dPr>
                          <m:ctrlPr>
                            <a:rPr lang="pt-BR" sz="1600" i="1" dirty="0">
                              <a:latin typeface="Cambria Math" panose="02040503050406030204" pitchFamily="18" charset="0"/>
                              <a:ea typeface="Cambria Math" panose="02040503050406030204" pitchFamily="18" charset="0"/>
                            </a:rPr>
                          </m:ctrlPr>
                        </m:dPr>
                        <m:e>
                          <m:r>
                            <a:rPr lang="pt-BR" sz="1600" i="1" dirty="0">
                              <a:latin typeface="Cambria Math" panose="02040503050406030204" pitchFamily="18" charset="0"/>
                              <a:ea typeface="Cambria Math" panose="02040503050406030204" pitchFamily="18" charset="0"/>
                            </a:rPr>
                            <m:t>𝑢</m:t>
                          </m:r>
                          <m:r>
                            <a:rPr lang="pt-BR" sz="1600" i="1" dirty="0">
                              <a:latin typeface="Cambria Math" panose="02040503050406030204" pitchFamily="18" charset="0"/>
                              <a:ea typeface="Cambria Math" panose="02040503050406030204" pitchFamily="18" charset="0"/>
                            </a:rPr>
                            <m:t> −</m:t>
                          </m:r>
                          <m:sSup>
                            <m:sSupPr>
                              <m:ctrlPr>
                                <a:rPr lang="en-US" sz="1600" i="1" dirty="0">
                                  <a:latin typeface="Cambria Math" panose="02040503050406030204" pitchFamily="18" charset="0"/>
                                  <a:ea typeface="Cambria Math" panose="02040503050406030204" pitchFamily="18" charset="0"/>
                                </a:rPr>
                              </m:ctrlPr>
                            </m:sSupPr>
                            <m:e>
                              <m:r>
                                <a:rPr lang="en-US" sz="1600" i="1" dirty="0">
                                  <a:latin typeface="Cambria Math" panose="02040503050406030204" pitchFamily="18" charset="0"/>
                                  <a:ea typeface="Cambria Math" panose="02040503050406030204" pitchFamily="18" charset="0"/>
                                </a:rPr>
                                <m:t>𝑢</m:t>
                              </m:r>
                            </m:e>
                            <m:sup>
                              <m:r>
                                <a:rPr lang="en-US" sz="1600" i="1" dirty="0">
                                  <a:latin typeface="Cambria Math" panose="02040503050406030204" pitchFamily="18" charset="0"/>
                                  <a:ea typeface="Cambria Math" panose="02040503050406030204" pitchFamily="18" charset="0"/>
                                </a:rPr>
                                <m:t>∗</m:t>
                              </m:r>
                            </m:sup>
                          </m:sSup>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a:latin typeface="Cambria Math" panose="02040503050406030204" pitchFamily="18" charset="0"/>
                              <a:ea typeface="Cambria Math" panose="02040503050406030204" pitchFamily="18" charset="0"/>
                            </a:rPr>
                          </m:ctrlPr>
                        </m:sSubPr>
                        <m:e>
                          <m:r>
                            <a:rPr lang="en-IN" sz="1600" i="1" dirty="0">
                              <a:latin typeface="Cambria Math" panose="02040503050406030204" pitchFamily="18" charset="0"/>
                              <a:ea typeface="Cambria Math" panose="02040503050406030204" pitchFamily="18" charset="0"/>
                            </a:rPr>
                            <m:t>𝐾</m:t>
                          </m:r>
                        </m:e>
                        <m:sub>
                          <m:r>
                            <a:rPr lang="en-IN" sz="1600" i="1" dirty="0">
                              <a:latin typeface="Cambria Math" panose="02040503050406030204" pitchFamily="18" charset="0"/>
                              <a:ea typeface="Cambria Math" panose="02040503050406030204" pitchFamily="18" charset="0"/>
                            </a:rPr>
                            <m:t>𝑠𝑒</m:t>
                          </m:r>
                        </m:sub>
                      </m:sSub>
                      <m:r>
                        <a:rPr lang="en-IN" sz="1600" i="1" dirty="0">
                          <a:latin typeface="Cambria Math" panose="02040503050406030204" pitchFamily="18" charset="0"/>
                          <a:ea typeface="Cambria Math" panose="02040503050406030204" pitchFamily="18" charset="0"/>
                        </a:rPr>
                        <m:t> = </m:t>
                      </m:r>
                      <m:r>
                        <a:rPr lang="en-IN" sz="1600" i="1" dirty="0" err="1">
                          <a:latin typeface="Cambria Math" panose="02040503050406030204" pitchFamily="18" charset="0"/>
                          <a:ea typeface="Cambria Math" panose="02040503050406030204" pitchFamily="18" charset="0"/>
                        </a:rPr>
                        <m:t>𝑑𝑖𝑎𝑔</m:t>
                      </m:r>
                      <m:d>
                        <m:dPr>
                          <m:ctrlPr>
                            <a:rPr lang="en-IN" sz="1600" i="1" dirty="0">
                              <a:latin typeface="Cambria Math" panose="02040503050406030204" pitchFamily="18" charset="0"/>
                              <a:ea typeface="Cambria Math" panose="02040503050406030204" pitchFamily="18" charset="0"/>
                            </a:rPr>
                          </m:ctrlPr>
                        </m:dPr>
                        <m:e>
                          <m:r>
                            <a:rPr lang="en-IN" sz="1600" i="1" dirty="0">
                              <a:latin typeface="Cambria Math" panose="02040503050406030204" pitchFamily="18" charset="0"/>
                              <a:ea typeface="Cambria Math" panose="02040503050406030204" pitchFamily="18" charset="0"/>
                            </a:rPr>
                            <m:t>𝐺𝐴</m:t>
                          </m:r>
                          <m:r>
                            <a:rPr lang="en-IN" sz="1600" i="1" dirty="0">
                              <a:latin typeface="Cambria Math" panose="02040503050406030204" pitchFamily="18" charset="0"/>
                              <a:ea typeface="Cambria Math" panose="02040503050406030204" pitchFamily="18" charset="0"/>
                            </a:rPr>
                            <m:t>, </m:t>
                          </m:r>
                          <m:r>
                            <a:rPr lang="en-IN" sz="1600" i="1" dirty="0">
                              <a:latin typeface="Cambria Math" panose="02040503050406030204" pitchFamily="18" charset="0"/>
                              <a:ea typeface="Cambria Math" panose="02040503050406030204" pitchFamily="18" charset="0"/>
                            </a:rPr>
                            <m:t>𝐺𝐴</m:t>
                          </m:r>
                          <m:r>
                            <a:rPr lang="en-IN" sz="1600" i="1" dirty="0">
                              <a:latin typeface="Cambria Math" panose="02040503050406030204" pitchFamily="18" charset="0"/>
                              <a:ea typeface="Cambria Math" panose="02040503050406030204" pitchFamily="18" charset="0"/>
                            </a:rPr>
                            <m:t>, </m:t>
                          </m:r>
                          <m:r>
                            <a:rPr lang="en-IN" sz="1600" i="1" dirty="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err="1">
                              <a:latin typeface="Cambria Math" panose="02040503050406030204" pitchFamily="18" charset="0"/>
                              <a:ea typeface="Cambria Math" panose="02040503050406030204" pitchFamily="18" charset="0"/>
                            </a:rPr>
                          </m:ctrlPr>
                        </m:sSubPr>
                        <m:e>
                          <m:r>
                            <a:rPr lang="en-IN" sz="1600" i="1" dirty="0" err="1">
                              <a:latin typeface="Cambria Math" panose="02040503050406030204" pitchFamily="18" charset="0"/>
                              <a:ea typeface="Cambria Math" panose="02040503050406030204" pitchFamily="18" charset="0"/>
                            </a:rPr>
                            <m:t>𝐾</m:t>
                          </m:r>
                        </m:e>
                        <m:sub>
                          <m:r>
                            <a:rPr lang="en-IN" sz="1600" i="1" dirty="0" err="1">
                              <a:latin typeface="Cambria Math" panose="02040503050406030204" pitchFamily="18" charset="0"/>
                              <a:ea typeface="Cambria Math" panose="02040503050406030204" pitchFamily="18" charset="0"/>
                            </a:rPr>
                            <m:t>𝑏𝑡</m:t>
                          </m:r>
                        </m:sub>
                      </m:sSub>
                      <m:r>
                        <a:rPr lang="en-IN" sz="1600" i="1" dirty="0">
                          <a:latin typeface="Cambria Math" panose="02040503050406030204" pitchFamily="18" charset="0"/>
                          <a:ea typeface="Cambria Math" panose="02040503050406030204" pitchFamily="18" charset="0"/>
                        </a:rPr>
                        <m:t> = </m:t>
                      </m:r>
                      <m:r>
                        <a:rPr lang="en-IN" sz="1600" i="1" dirty="0" err="1">
                          <a:latin typeface="Cambria Math" panose="02040503050406030204" pitchFamily="18" charset="0"/>
                          <a:ea typeface="Cambria Math" panose="02040503050406030204" pitchFamily="18" charset="0"/>
                        </a:rPr>
                        <m:t>𝑑𝑖𝑎𝑔</m:t>
                      </m:r>
                      <m:r>
                        <a:rPr lang="en-IN" sz="1600" i="1" dirty="0">
                          <a:latin typeface="Cambria Math" panose="02040503050406030204" pitchFamily="18" charset="0"/>
                          <a:ea typeface="Cambria Math" panose="02040503050406030204" pitchFamily="18" charset="0"/>
                        </a:rPr>
                        <m:t>(</m:t>
                      </m:r>
                      <m:r>
                        <a:rPr lang="en-IN" sz="1600" i="1" dirty="0">
                          <a:latin typeface="Cambria Math" panose="02040503050406030204" pitchFamily="18" charset="0"/>
                          <a:ea typeface="Cambria Math" panose="02040503050406030204" pitchFamily="18" charset="0"/>
                        </a:rPr>
                        <m:t>𝐸𝐼</m:t>
                      </m:r>
                      <m:r>
                        <a:rPr lang="en-IN" sz="1600" i="1" dirty="0">
                          <a:latin typeface="Cambria Math" panose="02040503050406030204" pitchFamily="18" charset="0"/>
                          <a:ea typeface="Cambria Math" panose="02040503050406030204" pitchFamily="18" charset="0"/>
                        </a:rPr>
                        <m:t>ₓₓ, </m:t>
                      </m:r>
                      <m:r>
                        <a:rPr lang="en-IN" sz="1600" i="1" dirty="0">
                          <a:latin typeface="Cambria Math" panose="02040503050406030204" pitchFamily="18" charset="0"/>
                          <a:ea typeface="Cambria Math" panose="02040503050406030204" pitchFamily="18" charset="0"/>
                        </a:rPr>
                        <m:t>𝐸𝐼</m:t>
                      </m:r>
                      <m:r>
                        <a:rPr lang="el-GR" sz="1600" i="1" dirty="0">
                          <a:latin typeface="Cambria Math" panose="02040503050406030204" pitchFamily="18" charset="0"/>
                          <a:ea typeface="Cambria Math" panose="02040503050406030204" pitchFamily="18" charset="0"/>
                        </a:rPr>
                        <m:t>ᵧᵧ, </m:t>
                      </m:r>
                      <m:r>
                        <a:rPr lang="el-GR" sz="1600" i="1" dirty="0" err="1">
                          <a:latin typeface="Cambria Math" panose="02040503050406030204" pitchFamily="18" charset="0"/>
                          <a:ea typeface="Cambria Math" panose="02040503050406030204" pitchFamily="18" charset="0"/>
                        </a:rPr>
                        <m:t>𝐸</m:t>
                      </m:r>
                      <m:sSub>
                        <m:sSubPr>
                          <m:ctrlPr>
                            <a:rPr lang="el-GR" sz="1600" i="1" dirty="0" err="1">
                              <a:latin typeface="Cambria Math" panose="02040503050406030204" pitchFamily="18" charset="0"/>
                              <a:ea typeface="Cambria Math" panose="02040503050406030204" pitchFamily="18" charset="0"/>
                            </a:rPr>
                          </m:ctrlPr>
                        </m:sSubPr>
                        <m:e>
                          <m:r>
                            <a:rPr lang="el-GR" sz="1600" i="1" dirty="0" err="1">
                              <a:latin typeface="Cambria Math" panose="02040503050406030204" pitchFamily="18" charset="0"/>
                              <a:ea typeface="Cambria Math" panose="02040503050406030204" pitchFamily="18" charset="0"/>
                            </a:rPr>
                            <m:t>𝐼</m:t>
                          </m:r>
                        </m:e>
                        <m:sub>
                          <m:r>
                            <a:rPr lang="el-GR" sz="1600" i="1" dirty="0" err="1">
                              <a:latin typeface="Cambria Math" panose="02040503050406030204" pitchFamily="18" charset="0"/>
                              <a:ea typeface="Cambria Math" panose="02040503050406030204" pitchFamily="18" charset="0"/>
                            </a:rPr>
                            <m:t>𝑧𝑧</m:t>
                          </m:r>
                        </m:sub>
                      </m:sSub>
                      <m:r>
                        <a:rPr lang="el-GR" sz="1600" i="1" dirty="0">
                          <a:latin typeface="Cambria Math" panose="02040503050406030204" pitchFamily="18" charset="0"/>
                          <a:ea typeface="Cambria Math" panose="02040503050406030204" pitchFamily="18" charset="0"/>
                        </a:rPr>
                        <m:t>)</m:t>
                      </m:r>
                    </m:oMath>
                  </m:oMathPara>
                </a14:m>
                <a:endParaRPr lang="el-GR" sz="1600" i="1" dirty="0">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2AE3132C-7777-8338-908D-880CA14A270C}"/>
                  </a:ext>
                </a:extLst>
              </p:cNvPr>
              <p:cNvSpPr txBox="1">
                <a:spLocks noRot="1" noChangeAspect="1" noMove="1" noResize="1" noEditPoints="1" noAdjustHandles="1" noChangeArrowheads="1" noChangeShapeType="1" noTextEdit="1"/>
              </p:cNvSpPr>
              <p:nvPr/>
            </p:nvSpPr>
            <p:spPr>
              <a:xfrm>
                <a:off x="1815870" y="1440139"/>
                <a:ext cx="3090846" cy="4036041"/>
              </a:xfrm>
              <a:prstGeom prst="rect">
                <a:avLst/>
              </a:prstGeom>
              <a:blipFill>
                <a:blip r:embed="rId3"/>
                <a:stretch>
                  <a:fillRect l="-1183" t="-604" r="-197"/>
                </a:stretch>
              </a:blipFill>
            </p:spPr>
            <p:txBody>
              <a:bodyPr/>
              <a:lstStyle/>
              <a:p>
                <a:r>
                  <a:rPr lang="en-IN">
                    <a:noFill/>
                  </a:rPr>
                  <a:t> </a:t>
                </a:r>
              </a:p>
            </p:txBody>
          </p:sp>
        </mc:Fallback>
      </mc:AlternateContent>
      <p:pic>
        <p:nvPicPr>
          <p:cNvPr id="12" name="Picture 11"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8FC772F1-4C6D-1FAF-4741-F58FC7631AA3}"/>
              </a:ext>
            </a:extLst>
          </p:cNvPr>
          <p:cNvPicPr>
            <a:picLocks noChangeAspect="1"/>
          </p:cNvPicPr>
          <p:nvPr/>
        </p:nvPicPr>
        <p:blipFill>
          <a:blip r:embed="rId4"/>
          <a:srcRect l="53850"/>
          <a:stretch>
            <a:fillRect/>
          </a:stretch>
        </p:blipFill>
        <p:spPr>
          <a:xfrm>
            <a:off x="7002876" y="990654"/>
            <a:ext cx="3149327" cy="2708561"/>
          </a:xfrm>
          <a:prstGeom prst="rect">
            <a:avLst/>
          </a:prstGeom>
          <a:ln>
            <a:solidFill>
              <a:schemeClr val="tx1"/>
            </a:solidFill>
          </a:ln>
        </p:spPr>
      </p:pic>
      <p:pic>
        <p:nvPicPr>
          <p:cNvPr id="20" name="Picture 19" descr="The text describes a method in robotics where a point force and distributed loads cancel each other out, resulting in a final shape that closely matches the full coupled model when robot deformation occurs in a plane.&#10;&#10;AI-generated content may be incorrect.">
            <a:extLst>
              <a:ext uri="{FF2B5EF4-FFF2-40B4-BE49-F238E27FC236}">
                <a16:creationId xmlns:a16="http://schemas.microsoft.com/office/drawing/2014/main" id="{E92351CF-6DE8-2C43-B440-FC423FBDED04}"/>
              </a:ext>
            </a:extLst>
          </p:cNvPr>
          <p:cNvPicPr>
            <a:picLocks noChangeAspect="1"/>
          </p:cNvPicPr>
          <p:nvPr/>
        </p:nvPicPr>
        <p:blipFill>
          <a:blip r:embed="rId5"/>
          <a:stretch>
            <a:fillRect/>
          </a:stretch>
        </p:blipFill>
        <p:spPr>
          <a:xfrm>
            <a:off x="6536540" y="3796214"/>
            <a:ext cx="4082000" cy="1322554"/>
          </a:xfrm>
          <a:prstGeom prst="rect">
            <a:avLst/>
          </a:prstGeom>
          <a:ln>
            <a:solidFill>
              <a:schemeClr val="tx1"/>
            </a:solidFill>
          </a:ln>
        </p:spPr>
      </p:pic>
      <p:sp>
        <p:nvSpPr>
          <p:cNvPr id="22" name="TextBox 21">
            <a:extLst>
              <a:ext uri="{FF2B5EF4-FFF2-40B4-BE49-F238E27FC236}">
                <a16:creationId xmlns:a16="http://schemas.microsoft.com/office/drawing/2014/main" id="{170DEB38-2666-C273-32EB-279348180B87}"/>
              </a:ext>
            </a:extLst>
          </p:cNvPr>
          <p:cNvSpPr txBox="1"/>
          <p:nvPr/>
        </p:nvSpPr>
        <p:spPr>
          <a:xfrm>
            <a:off x="9726949" y="6105324"/>
            <a:ext cx="891591" cy="253916"/>
          </a:xfrm>
          <a:prstGeom prst="rect">
            <a:avLst/>
          </a:prstGeom>
          <a:noFill/>
          <a:ln>
            <a:solidFill>
              <a:schemeClr val="tx1"/>
            </a:solidFill>
          </a:ln>
        </p:spPr>
        <p:txBody>
          <a:bodyPr wrap="none" rtlCol="0">
            <a:spAutoFit/>
          </a:bodyPr>
          <a:lstStyle/>
          <a:p>
            <a:r>
              <a:rPr lang="en-US" sz="1050" dirty="0">
                <a:latin typeface="Cambria Math" panose="02040503050406030204" pitchFamily="18" charset="0"/>
                <a:ea typeface="Cambria Math" panose="02040503050406030204" pitchFamily="18" charset="0"/>
              </a:rPr>
              <a:t>Rucker .et al</a:t>
            </a:r>
            <a:endParaRPr lang="en-IN" sz="105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403EE2E-B720-E8A4-9849-AE78DA414D59}"/>
                  </a:ext>
                </a:extLst>
              </p:cNvPr>
              <p:cNvSpPr txBox="1"/>
              <p:nvPr/>
            </p:nvSpPr>
            <p:spPr>
              <a:xfrm>
                <a:off x="1118332" y="6347270"/>
                <a:ext cx="6096000" cy="280590"/>
              </a:xfrm>
              <a:prstGeom prst="rect">
                <a:avLst/>
              </a:prstGeom>
              <a:noFill/>
            </p:spPr>
            <p:txBody>
              <a:bodyPr wrap="square">
                <a:spAutoFit/>
              </a:bodyPr>
              <a:lstStyle/>
              <a:p>
                <a:r>
                  <a:rPr lang="en-IN" sz="1200" dirty="0">
                    <a:latin typeface="Cambria Math" panose="02040503050406030204" pitchFamily="18" charset="0"/>
                    <a:ea typeface="Cambria Math" panose="02040503050406030204" pitchFamily="18" charset="0"/>
                  </a:rPr>
                  <a:t>For a straight undeformed rod: </a:t>
                </a:r>
                <a14:m>
                  <m:oMath xmlns:m="http://schemas.openxmlformats.org/officeDocument/2006/math">
                    <m:sSup>
                      <m:sSupPr>
                        <m:ctrlPr>
                          <a:rPr lang="en-US" sz="1200" b="0" i="0" dirty="0" smtClean="0">
                            <a:latin typeface="Cambria Math" panose="02040503050406030204" pitchFamily="18" charset="0"/>
                            <a:ea typeface="Cambria Math" panose="02040503050406030204" pitchFamily="18" charset="0"/>
                          </a:rPr>
                        </m:ctrlPr>
                      </m:sSupPr>
                      <m:e>
                        <m:r>
                          <m:rPr>
                            <m:sty m:val="p"/>
                          </m:rPr>
                          <a:rPr lang="en-US" sz="1200" b="0" i="0" dirty="0" smtClean="0">
                            <a:latin typeface="Cambria Math" panose="02040503050406030204" pitchFamily="18" charset="0"/>
                            <a:ea typeface="Cambria Math" panose="02040503050406030204" pitchFamily="18" charset="0"/>
                          </a:rPr>
                          <m:t>u</m:t>
                        </m:r>
                      </m:e>
                      <m:sup>
                        <m:r>
                          <a:rPr lang="en-US" sz="1200" b="0" i="0" dirty="0" smtClean="0">
                            <a:latin typeface="Cambria Math" panose="02040503050406030204" pitchFamily="18" charset="0"/>
                            <a:ea typeface="Cambria Math" panose="02040503050406030204" pitchFamily="18" charset="0"/>
                          </a:rPr>
                          <m:t>∗</m:t>
                        </m:r>
                      </m:sup>
                    </m:sSup>
                    <m:r>
                      <a:rPr lang="el-GR" sz="1200" i="0" dirty="0" smtClean="0">
                        <a:latin typeface="Cambria Math" panose="02040503050406030204" pitchFamily="18" charset="0"/>
                        <a:ea typeface="Cambria Math" panose="02040503050406030204" pitchFamily="18" charset="0"/>
                      </a:rPr>
                      <m:t> </m:t>
                    </m:r>
                    <m:r>
                      <a:rPr lang="el-GR" sz="1200" i="0" dirty="0">
                        <a:latin typeface="Cambria Math" panose="02040503050406030204" pitchFamily="18" charset="0"/>
                        <a:ea typeface="Cambria Math" panose="02040503050406030204" pitchFamily="18" charset="0"/>
                      </a:rPr>
                      <m:t>= </m:t>
                    </m:r>
                    <m:sSup>
                      <m:sSupPr>
                        <m:ctrlPr>
                          <a:rPr lang="el-GR" sz="1200" i="1" dirty="0" smtClean="0">
                            <a:latin typeface="Cambria Math" panose="02040503050406030204" pitchFamily="18" charset="0"/>
                            <a:ea typeface="Cambria Math" panose="02040503050406030204" pitchFamily="18" charset="0"/>
                          </a:rPr>
                        </m:ctrlPr>
                      </m:sSupPr>
                      <m:e>
                        <m:d>
                          <m:dPr>
                            <m:begChr m:val="["/>
                            <m:endChr m:val="]"/>
                            <m:ctrlPr>
                              <a:rPr lang="el-GR" sz="1200" i="0" dirty="0" smtClean="0">
                                <a:latin typeface="Cambria Math" panose="02040503050406030204" pitchFamily="18" charset="0"/>
                                <a:ea typeface="Cambria Math" panose="02040503050406030204" pitchFamily="18" charset="0"/>
                              </a:rPr>
                            </m:ctrlPr>
                          </m:dPr>
                          <m:e>
                            <m:r>
                              <a:rPr lang="el-GR" sz="1200" i="0" dirty="0" smtClean="0">
                                <a:latin typeface="Cambria Math" panose="02040503050406030204" pitchFamily="18" charset="0"/>
                                <a:ea typeface="Cambria Math" panose="02040503050406030204" pitchFamily="18" charset="0"/>
                              </a:rPr>
                              <m:t>0,0,0</m:t>
                            </m:r>
                          </m:e>
                        </m:d>
                      </m:e>
                      <m:sup>
                        <m:r>
                          <m:rPr>
                            <m:sty m:val="p"/>
                          </m:rPr>
                          <a:rPr lang="en-US" sz="1200" i="0" dirty="0" smtClean="0">
                            <a:latin typeface="Cambria Math" panose="02040503050406030204" pitchFamily="18" charset="0"/>
                            <a:ea typeface="Cambria Math" panose="02040503050406030204" pitchFamily="18" charset="0"/>
                          </a:rPr>
                          <m:t>T</m:t>
                        </m:r>
                      </m:sup>
                    </m:sSup>
                    <m:r>
                      <a:rPr lang="en-US" sz="1200" b="0" i="0" dirty="0" smtClean="0">
                        <a:latin typeface="Cambria Math" panose="02040503050406030204" pitchFamily="18" charset="0"/>
                        <a:ea typeface="Cambria Math" panose="02040503050406030204" pitchFamily="18" charset="0"/>
                      </a:rPr>
                      <m:t>,</m:t>
                    </m:r>
                    <m:r>
                      <a:rPr lang="en-US" sz="1200" i="0" dirty="0" smtClean="0">
                        <a:latin typeface="Cambria Math" panose="02040503050406030204" pitchFamily="18" charset="0"/>
                        <a:ea typeface="Cambria Math" panose="02040503050406030204" pitchFamily="18" charset="0"/>
                      </a:rPr>
                      <m:t> </m:t>
                    </m:r>
                    <m:sSup>
                      <m:sSupPr>
                        <m:ctrlPr>
                          <a:rPr lang="en-US" sz="1200" i="0" dirty="0" smtClean="0">
                            <a:latin typeface="Cambria Math" panose="02040503050406030204" pitchFamily="18" charset="0"/>
                            <a:ea typeface="Cambria Math" panose="02040503050406030204" pitchFamily="18" charset="0"/>
                          </a:rPr>
                        </m:ctrlPr>
                      </m:sSupPr>
                      <m:e>
                        <m:r>
                          <m:rPr>
                            <m:sty m:val="p"/>
                          </m:rPr>
                          <a:rPr lang="en-US" sz="1200" i="0" dirty="0" smtClean="0">
                            <a:latin typeface="Cambria Math" panose="02040503050406030204" pitchFamily="18" charset="0"/>
                            <a:ea typeface="Cambria Math" panose="02040503050406030204" pitchFamily="18" charset="0"/>
                          </a:rPr>
                          <m:t>v</m:t>
                        </m:r>
                      </m:e>
                      <m:sup>
                        <m:r>
                          <a:rPr lang="en-US" sz="1200" i="0" dirty="0" smtClean="0">
                            <a:latin typeface="Cambria Math" panose="02040503050406030204" pitchFamily="18" charset="0"/>
                            <a:ea typeface="Cambria Math" panose="02040503050406030204" pitchFamily="18" charset="0"/>
                          </a:rPr>
                          <m:t>∗</m:t>
                        </m:r>
                      </m:sup>
                    </m:sSup>
                    <m:r>
                      <a:rPr lang="en-US" sz="1200" i="0" dirty="0" smtClean="0">
                        <a:latin typeface="Cambria Math" panose="02040503050406030204" pitchFamily="18" charset="0"/>
                        <a:ea typeface="Cambria Math" panose="02040503050406030204" pitchFamily="18" charset="0"/>
                      </a:rPr>
                      <m:t>=[</m:t>
                    </m:r>
                    <m:r>
                      <a:rPr lang="el-GR" sz="1200" i="0" dirty="0" smtClean="0">
                        <a:latin typeface="Cambria Math" panose="02040503050406030204" pitchFamily="18" charset="0"/>
                        <a:ea typeface="Cambria Math" panose="02040503050406030204" pitchFamily="18" charset="0"/>
                      </a:rPr>
                      <m:t>0,0,1</m:t>
                    </m:r>
                    <m:r>
                      <a:rPr lang="el-GR" sz="1200" i="0" dirty="0">
                        <a:latin typeface="Cambria Math" panose="02040503050406030204" pitchFamily="18" charset="0"/>
                        <a:ea typeface="Cambria Math" panose="02040503050406030204" pitchFamily="18" charset="0"/>
                      </a:rPr>
                      <m:t>]</m:t>
                    </m:r>
                    <m:r>
                      <a:rPr lang="en-IN" sz="1200" i="0" dirty="0">
                        <a:latin typeface="Cambria Math" panose="02040503050406030204" pitchFamily="18" charset="0"/>
                        <a:ea typeface="Cambria Math" panose="02040503050406030204" pitchFamily="18" charset="0"/>
                      </a:rPr>
                      <m:t>ᵀ</m:t>
                    </m:r>
                  </m:oMath>
                </a14:m>
                <a:endParaRPr lang="en-IN" sz="1200" dirty="0"/>
              </a:p>
            </p:txBody>
          </p:sp>
        </mc:Choice>
        <mc:Fallback xmlns="">
          <p:sp>
            <p:nvSpPr>
              <p:cNvPr id="4" name="TextBox 3">
                <a:extLst>
                  <a:ext uri="{FF2B5EF4-FFF2-40B4-BE49-F238E27FC236}">
                    <a16:creationId xmlns:a16="http://schemas.microsoft.com/office/drawing/2014/main" id="{5403EE2E-B720-E8A4-9849-AE78DA414D59}"/>
                  </a:ext>
                </a:extLst>
              </p:cNvPr>
              <p:cNvSpPr txBox="1">
                <a:spLocks noRot="1" noChangeAspect="1" noMove="1" noResize="1" noEditPoints="1" noAdjustHandles="1" noChangeArrowheads="1" noChangeShapeType="1" noTextEdit="1"/>
              </p:cNvSpPr>
              <p:nvPr/>
            </p:nvSpPr>
            <p:spPr>
              <a:xfrm>
                <a:off x="1118332" y="6347270"/>
                <a:ext cx="6096000" cy="280590"/>
              </a:xfrm>
              <a:prstGeom prst="rect">
                <a:avLst/>
              </a:prstGeom>
              <a:blipFill>
                <a:blip r:embed="rId6"/>
                <a:stretch>
                  <a:fillRect b="-15217"/>
                </a:stretch>
              </a:blipFill>
            </p:spPr>
            <p:txBody>
              <a:bodyPr/>
              <a:lstStyle/>
              <a:p>
                <a:r>
                  <a:rPr lang="en-IN">
                    <a:noFill/>
                  </a:rPr>
                  <a:t> </a:t>
                </a:r>
              </a:p>
            </p:txBody>
          </p:sp>
        </mc:Fallback>
      </mc:AlternateContent>
    </p:spTree>
    <p:extLst>
      <p:ext uri="{BB962C8B-B14F-4D97-AF65-F5344CB8AC3E}">
        <p14:creationId xmlns:p14="http://schemas.microsoft.com/office/powerpoint/2010/main" val="1023998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ED59A-46EF-685A-E682-73FB4B12FC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8C6AFF-1759-4A9E-8981-B43DDDE6382D}"/>
              </a:ext>
            </a:extLst>
          </p:cNvPr>
          <p:cNvSpPr txBox="1"/>
          <p:nvPr/>
        </p:nvSpPr>
        <p:spPr>
          <a:xfrm>
            <a:off x="833120" y="370435"/>
            <a:ext cx="6237413"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point moment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3EA8DAAC-DFF2-0683-F331-A16A177D24FD}"/>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1E5B906-E587-5140-460E-0E31E86ACE57}"/>
                  </a:ext>
                </a:extLst>
              </p:cNvPr>
              <p:cNvSpPr txBox="1"/>
              <p:nvPr/>
            </p:nvSpPr>
            <p:spPr>
              <a:xfrm>
                <a:off x="5615516" y="1347324"/>
                <a:ext cx="2807500" cy="3069686"/>
              </a:xfrm>
              <a:prstGeom prst="rect">
                <a:avLst/>
              </a:prstGeom>
              <a:noFill/>
            </p:spPr>
            <p:txBody>
              <a:bodyPr wrap="none">
                <a:spAutoFit/>
              </a:bodyPr>
              <a:lstStyle/>
              <a:p>
                <a:pPr>
                  <a:defRPr sz="2000">
                    <a:solidFill>
                      <a:srgbClr val="142237"/>
                    </a:solidFill>
                  </a:defRPr>
                </a:pPr>
                <a:r>
                  <a:rPr lang="en-US" sz="16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60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𝑣</m:t>
                      </m:r>
                      <m:r>
                        <a:rPr lang="en-US" sz="1600" i="1" dirty="0" smtClean="0">
                          <a:latin typeface="Cambria Math" panose="02040503050406030204" pitchFamily="18" charset="0"/>
                          <a:ea typeface="Cambria Math" panose="02040503050406030204" pitchFamily="18" charset="0"/>
                        </a:rPr>
                        <m:t> =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en-US" sz="1600" b="0" i="1" dirty="0" smtClean="0">
                                  <a:latin typeface="Cambria Math" panose="02040503050406030204" pitchFamily="18" charset="0"/>
                                  <a:ea typeface="Cambria Math" panose="02040503050406030204" pitchFamily="18" charset="0"/>
                                </a:rPr>
                                <m:t>𝑠𝑒</m:t>
                              </m:r>
                            </m:sub>
                            <m:sup>
                              <m:r>
                                <a:rPr lang="en-US" sz="1600" b="0" i="1" dirty="0" smtClean="0">
                                  <a:latin typeface="Cambria Math" panose="02040503050406030204" pitchFamily="18" charset="0"/>
                                  <a:ea typeface="Cambria Math" panose="02040503050406030204" pitchFamily="18" charset="0"/>
                                </a:rPr>
                                <m:t>−1</m:t>
                              </m:r>
                            </m:sup>
                          </m:sSubSup>
                          <m:r>
                            <a:rPr lang="en-US" sz="1600" b="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b="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𝑛</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𝑣</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600" b="0" i="1" dirty="0" smtClean="0">
                          <a:latin typeface="Cambria Math" panose="02040503050406030204" pitchFamily="18" charset="0"/>
                          <a:ea typeface="Cambria Math" panose="02040503050406030204" pitchFamily="18" charset="0"/>
                        </a:rPr>
                        <m:t>𝑢</m:t>
                      </m:r>
                      <m:r>
                        <a:rPr lang="pt-BR" sz="1600" i="1" dirty="0" smtClean="0">
                          <a:latin typeface="Cambria Math" panose="02040503050406030204" pitchFamily="18" charset="0"/>
                          <a:ea typeface="Cambria Math" panose="02040503050406030204" pitchFamily="18" charset="0"/>
                        </a:rPr>
                        <m:t>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pt-BR" sz="1600" i="1" dirty="0" smtClean="0">
                                  <a:latin typeface="Cambria Math" panose="02040503050406030204" pitchFamily="18" charset="0"/>
                                  <a:ea typeface="Cambria Math" panose="02040503050406030204" pitchFamily="18" charset="0"/>
                                </a:rPr>
                                <m:t>𝑏</m:t>
                              </m:r>
                              <m:r>
                                <a:rPr lang="en-US" sz="1600" b="0" i="1" dirty="0" smtClean="0">
                                  <a:latin typeface="Cambria Math" panose="02040503050406030204" pitchFamily="18" charset="0"/>
                                  <a:ea typeface="Cambria Math" panose="02040503050406030204" pitchFamily="18" charset="0"/>
                                </a:rPr>
                                <m:t>𝑡</m:t>
                              </m:r>
                            </m:sub>
                            <m:sup>
                              <m:r>
                                <a:rPr lang="en-US" sz="1600" i="1" dirty="0" smtClean="0">
                                  <a:latin typeface="Cambria Math" panose="02040503050406030204" pitchFamily="18" charset="0"/>
                                  <a:ea typeface="Cambria Math" panose="02040503050406030204" pitchFamily="18" charset="0"/>
                                </a:rPr>
                                <m:t>−1</m:t>
                              </m:r>
                            </m:sup>
                          </m:sSubSup>
                          <m:r>
                            <a:rPr lang="en-US" sz="160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𝑚</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𝑠𝑒</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d>
                        <m:dPr>
                          <m:ctrlPr>
                            <a:rPr lang="en-IN" sz="1600" i="1" dirty="0" smtClean="0">
                              <a:latin typeface="Cambria Math" panose="02040503050406030204" pitchFamily="18" charset="0"/>
                              <a:ea typeface="Cambria Math" panose="02040503050406030204" pitchFamily="18" charset="0"/>
                            </a:rPr>
                          </m:ctrlPr>
                        </m:dPr>
                        <m:e>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𝑏𝑡</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r>
                        <a:rPr lang="en-IN" sz="160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𝐸𝐼</m:t>
                      </m:r>
                      <m:r>
                        <a:rPr lang="en-IN" sz="1600" i="1" dirty="0" smtClean="0">
                          <a:latin typeface="Cambria Math" panose="02040503050406030204" pitchFamily="18" charset="0"/>
                          <a:ea typeface="Cambria Math" panose="02040503050406030204" pitchFamily="18" charset="0"/>
                        </a:rPr>
                        <m:t>ₓₓ, </m:t>
                      </m:r>
                      <m:r>
                        <a:rPr lang="en-IN" sz="1600" i="1" dirty="0" smtClean="0">
                          <a:latin typeface="Cambria Math" panose="02040503050406030204" pitchFamily="18" charset="0"/>
                          <a:ea typeface="Cambria Math" panose="02040503050406030204" pitchFamily="18" charset="0"/>
                        </a:rPr>
                        <m:t>𝐸𝐼</m:t>
                      </m:r>
                      <m:r>
                        <a:rPr lang="el-GR" sz="1600" i="1" dirty="0" smtClean="0">
                          <a:latin typeface="Cambria Math" panose="02040503050406030204" pitchFamily="18" charset="0"/>
                          <a:ea typeface="Cambria Math" panose="02040503050406030204" pitchFamily="18" charset="0"/>
                        </a:rPr>
                        <m:t>ᵧᵧ, </m:t>
                      </m:r>
                      <m:r>
                        <a:rPr lang="el-GR" sz="1600" i="1" dirty="0" smtClean="0">
                          <a:latin typeface="Cambria Math" panose="02040503050406030204" pitchFamily="18" charset="0"/>
                          <a:ea typeface="Cambria Math" panose="02040503050406030204" pitchFamily="18" charset="0"/>
                        </a:rPr>
                        <m:t>𝐸</m:t>
                      </m:r>
                      <m:sSub>
                        <m:sSubPr>
                          <m:ctrlPr>
                            <a:rPr lang="el-GR" sz="1600" i="1" dirty="0" smtClean="0">
                              <a:latin typeface="Cambria Math" panose="02040503050406030204" pitchFamily="18" charset="0"/>
                              <a:ea typeface="Cambria Math" panose="02040503050406030204" pitchFamily="18" charset="0"/>
                            </a:rPr>
                          </m:ctrlPr>
                        </m:sSubPr>
                        <m:e>
                          <m:r>
                            <a:rPr lang="el-GR" sz="1600" i="1" dirty="0" smtClean="0">
                              <a:latin typeface="Cambria Math" panose="02040503050406030204" pitchFamily="18" charset="0"/>
                              <a:ea typeface="Cambria Math" panose="02040503050406030204" pitchFamily="18" charset="0"/>
                            </a:rPr>
                            <m:t>𝐼</m:t>
                          </m:r>
                        </m:e>
                        <m:sub>
                          <m:r>
                            <a:rPr lang="el-GR" sz="1600" i="1" dirty="0" smtClean="0">
                              <a:latin typeface="Cambria Math" panose="02040503050406030204" pitchFamily="18" charset="0"/>
                              <a:ea typeface="Cambria Math" panose="02040503050406030204" pitchFamily="18" charset="0"/>
                            </a:rPr>
                            <m:t>𝑧𝑧</m:t>
                          </m:r>
                        </m:sub>
                      </m:sSub>
                      <m:r>
                        <a:rPr lang="el-GR"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i="1" dirty="0">
                    <a:latin typeface="Cambria Math" panose="02040503050406030204" pitchFamily="18" charset="0"/>
                    <a:ea typeface="Cambria Math" panose="02040503050406030204" pitchFamily="18" charset="0"/>
                  </a:rPr>
                  <a:t>3) Governing equations</a:t>
                </a:r>
              </a:p>
              <a:p>
                <a:pPr algn="ct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𝑅𝑣</m:t>
                      </m:r>
                      <m:r>
                        <a:rPr lang="en-US" sz="1600" b="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 </m:t>
                      </m:r>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𝑅</m:t>
                          </m:r>
                        </m:e>
                        <m:sub>
                          <m:r>
                            <a:rPr lang="en-US" sz="1600" b="0" i="1" dirty="0" smtClean="0">
                              <a:latin typeface="Cambria Math" panose="02040503050406030204" pitchFamily="18" charset="0"/>
                              <a:ea typeface="Cambria Math" panose="02040503050406030204" pitchFamily="18" charset="0"/>
                            </a:rPr>
                            <m:t>𝑠</m:t>
                          </m:r>
                        </m:sub>
                      </m:sSub>
                      <m:r>
                        <a:rPr lang="en-IN" sz="160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𝑅</m:t>
                      </m:r>
                      <m:d>
                        <m:dPr>
                          <m:begChr m:val="["/>
                          <m:endChr m:val="]"/>
                          <m:ctrlPr>
                            <a:rPr lang="en-US" sz="1600" b="0" i="1" dirty="0" smtClean="0">
                              <a:latin typeface="Cambria Math" panose="02040503050406030204" pitchFamily="18" charset="0"/>
                              <a:ea typeface="Cambria Math" panose="02040503050406030204" pitchFamily="18" charset="0"/>
                            </a:rPr>
                          </m:ctrlPr>
                        </m:dPr>
                        <m:e>
                          <m:r>
                            <a:rPr lang="en-US" sz="1600" b="0" i="1" dirty="0" smtClean="0">
                              <a:latin typeface="Cambria Math" panose="02040503050406030204" pitchFamily="18" charset="0"/>
                              <a:ea typeface="Cambria Math" panose="02040503050406030204" pitchFamily="18" charset="0"/>
                            </a:rPr>
                            <m:t>𝑈</m:t>
                          </m:r>
                          <m:r>
                            <a:rPr lang="en-US" sz="1600" i="1" dirty="0" smtClean="0">
                              <a:latin typeface="Cambria Math" panose="02040503050406030204" pitchFamily="18" charset="0"/>
                              <a:ea typeface="Cambria Math" panose="02040503050406030204" pitchFamily="18" charset="0"/>
                            </a:rPr>
                            <m:t>𝑥</m:t>
                          </m:r>
                        </m:e>
                      </m:d>
                      <m:r>
                        <a:rPr lang="en-IN"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0</m:t>
                      </m:r>
                    </m:oMath>
                  </m:oMathPara>
                </a14:m>
                <a:endParaRPr lang="en-IN"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b="0" i="1" dirty="0" smtClean="0">
                          <a:solidFill>
                            <a:schemeClr val="accent3">
                              <a:lumMod val="75000"/>
                            </a:schemeClr>
                          </a:solidFill>
                          <a:latin typeface="Cambria Math" panose="02040503050406030204" pitchFamily="18" charset="0"/>
                          <a:ea typeface="Cambria Math" panose="02040503050406030204" pitchFamily="18" charset="0"/>
                        </a:rPr>
                        <m:t>=</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 0</m:t>
                      </m:r>
                    </m:oMath>
                  </m:oMathPara>
                </a14:m>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A1E5B906-E587-5140-460E-0E31E86ACE57}"/>
                  </a:ext>
                </a:extLst>
              </p:cNvPr>
              <p:cNvSpPr txBox="1">
                <a:spLocks noRot="1" noChangeAspect="1" noMove="1" noResize="1" noEditPoints="1" noAdjustHandles="1" noChangeArrowheads="1" noChangeShapeType="1" noTextEdit="1"/>
              </p:cNvSpPr>
              <p:nvPr/>
            </p:nvSpPr>
            <p:spPr>
              <a:xfrm>
                <a:off x="5615516" y="1347324"/>
                <a:ext cx="2807500" cy="3069686"/>
              </a:xfrm>
              <a:prstGeom prst="rect">
                <a:avLst/>
              </a:prstGeom>
              <a:blipFill>
                <a:blip r:embed="rId2"/>
                <a:stretch>
                  <a:fillRect l="-1085" t="-79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4CD8FC5-A2EF-F1CE-9ED4-65EC7826E53F}"/>
                  </a:ext>
                </a:extLst>
              </p:cNvPr>
              <p:cNvSpPr txBox="1"/>
              <p:nvPr/>
            </p:nvSpPr>
            <p:spPr>
              <a:xfrm>
                <a:off x="5479767" y="4894320"/>
                <a:ext cx="3646112" cy="1605632"/>
              </a:xfrm>
              <a:prstGeom prst="rect">
                <a:avLst/>
              </a:prstGeom>
              <a:noFill/>
            </p:spPr>
            <p:txBody>
              <a:bodyPr wrap="square">
                <a:spAutoFit/>
              </a:bodyPr>
              <a:lstStyle/>
              <a:p>
                <a:r>
                  <a:rPr lang="en-US" sz="1600" i="1" dirty="0">
                    <a:latin typeface="Cambria Math" panose="02040503050406030204" pitchFamily="18" charset="0"/>
                    <a:ea typeface="Cambria Math" panose="02040503050406030204" pitchFamily="18" charset="0"/>
                  </a:rPr>
                  <a:t>Tendon force,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𝐹</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𝜏</m:t>
                        </m:r>
                      </m:e>
                      <m:sub>
                        <m:r>
                          <a:rPr lang="en-US" sz="1600" i="1">
                            <a:latin typeface="Cambria Math" panose="02040503050406030204" pitchFamily="18" charset="0"/>
                            <a:ea typeface="Cambria Math" panose="02040503050406030204" pitchFamily="18" charset="0"/>
                          </a:rPr>
                          <m:t>𝑖</m:t>
                        </m:r>
                      </m:sub>
                    </m:sSub>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𝑑</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oMath>
                </a14:m>
                <a:endParaRPr lang="en-US" sz="1600" i="1" dirty="0">
                  <a:latin typeface="Cambria Math" panose="02040503050406030204" pitchFamily="18" charset="0"/>
                  <a:ea typeface="Cambria Math" panose="02040503050406030204" pitchFamily="18" charset="0"/>
                </a:endParaRPr>
              </a:p>
              <a:p>
                <a:r>
                  <a:rPr lang="en-US" sz="1600" i="1" dirty="0">
                    <a:latin typeface="Cambria Math" panose="02040503050406030204" pitchFamily="18" charset="0"/>
                    <a:ea typeface="Cambria Math" panose="02040503050406030204" pitchFamily="18" charset="0"/>
                  </a:rPr>
                  <a:t>where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𝜏</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𝑡𝑒𝑛𝑠𝑖𝑜𝑛</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𝑜𝑓</m:t>
                    </m:r>
                    <m:r>
                      <a:rPr lang="en-US" sz="1600" i="1">
                        <a:latin typeface="Cambria Math" panose="02040503050406030204" pitchFamily="18" charset="0"/>
                        <a:ea typeface="Cambria Math" panose="02040503050406030204" pitchFamily="18" charset="0"/>
                      </a:rPr>
                      <m:t> </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𝑖</m:t>
                        </m:r>
                      </m:e>
                      <m:sup>
                        <m:r>
                          <a:rPr lang="en-US" sz="1600" i="1">
                            <a:latin typeface="Cambria Math" panose="02040503050406030204" pitchFamily="18" charset="0"/>
                            <a:ea typeface="Cambria Math" panose="02040503050406030204" pitchFamily="18" charset="0"/>
                          </a:rPr>
                          <m:t>𝑡ℎ</m:t>
                        </m:r>
                      </m:sup>
                    </m:sSup>
                    <m:r>
                      <a:rPr lang="en-US" sz="1600" i="1">
                        <a:latin typeface="Cambria Math" panose="02040503050406030204" pitchFamily="18" charset="0"/>
                        <a:ea typeface="Cambria Math" panose="02040503050406030204" pitchFamily="18" charset="0"/>
                      </a:rPr>
                      <m:t>𝑡𝑒𝑛𝑑𝑜𝑛</m:t>
                    </m:r>
                  </m:oMath>
                </a14:m>
                <a:endParaRPr lang="en-US" sz="16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𝑑</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𝑖</m:t>
                        </m:r>
                      </m:sub>
                    </m:sSub>
                    <m:r>
                      <a:rPr lang="en-US" sz="1600" b="0" i="1" smtClean="0">
                        <a:latin typeface="Cambria Math" panose="02040503050406030204" pitchFamily="18" charset="0"/>
                        <a:ea typeface="Cambria Math" panose="02040503050406030204" pitchFamily="18" charset="0"/>
                      </a:rPr>
                      <m:t>/|</m:t>
                    </m:r>
                    <m:d>
                      <m:dPr>
                        <m:begChr m:val="|"/>
                        <m:endChr m:val="|"/>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𝑖</m:t>
                            </m:r>
                          </m:sub>
                        </m:sSub>
                      </m:e>
                    </m:d>
                    <m:r>
                      <a:rPr lang="en-US" sz="1600" b="0" i="1" smtClean="0">
                        <a:latin typeface="Cambria Math" panose="02040503050406030204" pitchFamily="18" charset="0"/>
                        <a:ea typeface="Cambria Math" panose="02040503050406030204" pitchFamily="18" charset="0"/>
                      </a:rPr>
                      <m:t>|</m:t>
                    </m:r>
                  </m:oMath>
                </a14:m>
                <a:r>
                  <a:rPr lang="en-IN" sz="1600" i="1" dirty="0">
                    <a:latin typeface="Cambria Math" panose="02040503050406030204" pitchFamily="18" charset="0"/>
                    <a:ea typeface="Cambria Math" panose="02040503050406030204" pitchFamily="18" charset="0"/>
                  </a:rPr>
                  <a:t> , tendon direction (</a:t>
                </a:r>
                <a14:m>
                  <m:oMath xmlns:m="http://schemas.openxmlformats.org/officeDocument/2006/math">
                    <m:sSubSup>
                      <m:sSubSupPr>
                        <m:ctrlPr>
                          <a:rPr lang="en-IN" sz="1600" i="1" dirty="0" smtClean="0">
                            <a:latin typeface="Cambria Math" panose="02040503050406030204" pitchFamily="18" charset="0"/>
                            <a:ea typeface="Cambria Math" panose="02040503050406030204" pitchFamily="18" charset="0"/>
                          </a:rPr>
                        </m:ctrlPr>
                      </m:sSubSupPr>
                      <m:e>
                        <m:r>
                          <a:rPr lang="en-IN" sz="1600" i="1" dirty="0" smtClean="0">
                            <a:latin typeface="Cambria Math" panose="02040503050406030204" pitchFamily="18" charset="0"/>
                            <a:ea typeface="Cambria Math" panose="02040503050406030204" pitchFamily="18" charset="0"/>
                          </a:rPr>
                          <m:t>𝑡</m:t>
                        </m:r>
                      </m:e>
                      <m:sub>
                        <m:r>
                          <a:rPr lang="en-IN" sz="1600" i="1" dirty="0" smtClean="0">
                            <a:latin typeface="Cambria Math" panose="02040503050406030204" pitchFamily="18" charset="0"/>
                            <a:ea typeface="Cambria Math" panose="02040503050406030204" pitchFamily="18" charset="0"/>
                          </a:rPr>
                          <m:t>𝑖</m:t>
                        </m:r>
                      </m:sub>
                      <m:sup>
                        <m:r>
                          <a:rPr lang="en-IN" sz="1600" i="1" dirty="0" smtClean="0">
                            <a:latin typeface="Cambria Math" panose="02040503050406030204" pitchFamily="18" charset="0"/>
                            <a:ea typeface="Cambria Math" panose="02040503050406030204" pitchFamily="18" charset="0"/>
                          </a:rPr>
                          <m:t>’</m:t>
                        </m:r>
                      </m:sup>
                    </m:sSubSup>
                    <m:r>
                      <a:rPr lang="en-US" sz="1600" b="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m:t>
                    </m:r>
                  </m:oMath>
                </a14:m>
                <a:endParaRPr lang="en-US" sz="1600" i="1" dirty="0">
                  <a:latin typeface="Cambria Math" panose="02040503050406030204" pitchFamily="18" charset="0"/>
                  <a:ea typeface="Cambria Math" panose="02040503050406030204" pitchFamily="18" charset="0"/>
                </a:endParaRPr>
              </a:p>
              <a:p>
                <a14:m>
                  <m:oMathPara xmlns:m="http://schemas.openxmlformats.org/officeDocument/2006/math">
                    <m:oMath>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𝑔</m:t>
                          </m:r>
                        </m:e>
                        <m:sub>
                          <m:r>
                            <a:rPr lang="en-IN" sz="1600" i="1" dirty="0" smtClean="0">
                              <a:latin typeface="Cambria Math" panose="02040503050406030204" pitchFamily="18" charset="0"/>
                              <a:ea typeface="Cambria Math" panose="02040503050406030204" pitchFamily="18" charset="0"/>
                            </a:rPr>
                            <m:t>𝑖</m:t>
                          </m:r>
                        </m:sub>
                      </m:sSub>
                      <m:r>
                        <a:rPr lang="en-IN" sz="1600" i="1" dirty="0" smtClean="0">
                          <a:latin typeface="Cambria Math" panose="02040503050406030204" pitchFamily="18" charset="0"/>
                          <a:ea typeface="Cambria Math" panose="02040503050406030204" pitchFamily="18" charset="0"/>
                        </a:rPr>
                        <m:t> =</m:t>
                      </m:r>
                      <m:d>
                        <m:dPr>
                          <m:begChr m:val="["/>
                          <m:endChr m:val="]"/>
                          <m:ctrlPr>
                            <a:rPr lang="en-US" sz="1600" i="1" dirty="0">
                              <a:latin typeface="Cambria Math" panose="02040503050406030204" pitchFamily="18" charset="0"/>
                              <a:ea typeface="Cambria Math" panose="02040503050406030204" pitchFamily="18" charset="0"/>
                            </a:rPr>
                          </m:ctrlPr>
                        </m:dPr>
                        <m:e>
                          <m:r>
                            <a:rPr lang="en-US" sz="1600" i="1" dirty="0">
                              <a:latin typeface="Cambria Math" panose="02040503050406030204" pitchFamily="18" charset="0"/>
                              <a:ea typeface="Cambria Math" panose="02040503050406030204" pitchFamily="18" charset="0"/>
                            </a:rPr>
                            <m:t>𝑈𝑥</m:t>
                          </m:r>
                        </m:e>
                      </m:d>
                      <m:r>
                        <a:rPr lang="en-US" sz="1600" b="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𝑟ℎ</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𝑜</m:t>
                          </m:r>
                        </m:e>
                        <m:sub>
                          <m:r>
                            <a:rPr lang="en-US" sz="1600" b="0" i="1" dirty="0" smtClean="0">
                              <a:latin typeface="Cambria Math" panose="02040503050406030204" pitchFamily="18" charset="0"/>
                              <a:ea typeface="Cambria Math" panose="02040503050406030204" pitchFamily="18" charset="0"/>
                            </a:rPr>
                            <m:t>𝑖</m:t>
                          </m:r>
                        </m:sub>
                      </m:sSub>
                      <m:r>
                        <a:rPr lang="en-US" sz="1600" b="0" i="1" dirty="0" smtClean="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𝑟ℎ</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𝑜</m:t>
                          </m:r>
                        </m:e>
                        <m:sub>
                          <m:r>
                            <a:rPr lang="en-US" sz="1600" i="1" dirty="0">
                              <a:latin typeface="Cambria Math" panose="02040503050406030204" pitchFamily="18" charset="0"/>
                              <a:ea typeface="Cambria Math" panose="02040503050406030204" pitchFamily="18" charset="0"/>
                            </a:rPr>
                            <m:t>𝑖</m:t>
                          </m:r>
                          <m:r>
                            <a:rPr lang="en-US" sz="1600" b="0" i="1" dirty="0" smtClean="0">
                              <a:latin typeface="Cambria Math" panose="02040503050406030204" pitchFamily="18" charset="0"/>
                              <a:ea typeface="Cambria Math" panose="02040503050406030204" pitchFamily="18" charset="0"/>
                            </a:rPr>
                            <m:t>_</m:t>
                          </m:r>
                          <m:r>
                            <a:rPr lang="en-US" sz="1600" b="0" i="1" dirty="0"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𝑣</m:t>
                      </m:r>
                    </m:oMath>
                  </m:oMathPara>
                </a14:m>
                <a:endParaRPr lang="en-US" sz="1600" i="1" dirty="0">
                  <a:latin typeface="Cambria Math" panose="02040503050406030204" pitchFamily="18" charset="0"/>
                  <a:ea typeface="Cambria Math" panose="02040503050406030204" pitchFamily="18" charset="0"/>
                </a:endParaRPr>
              </a:p>
              <a:p>
                <a:r>
                  <a:rPr lang="en-IN" sz="1600" i="1" dirty="0">
                    <a:latin typeface="Cambria Math" panose="02040503050406030204" pitchFamily="18" charset="0"/>
                    <a:ea typeface="Cambria Math" panose="02040503050406030204" pitchFamily="18" charset="0"/>
                  </a:rPr>
                  <a:t>For a straight undeformed rod: </a:t>
                </a:r>
              </a:p>
              <a:p>
                <a:pPr/>
                <a14:m>
                  <m:oMathPara xmlns:m="http://schemas.openxmlformats.org/officeDocument/2006/math">
                    <m:oMath>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r>
                        <a:rPr lang="el-GR" sz="1600" i="1" dirty="0" smtClean="0">
                          <a:latin typeface="Cambria Math" panose="02040503050406030204" pitchFamily="18" charset="0"/>
                          <a:ea typeface="Cambria Math" panose="02040503050406030204" pitchFamily="18" charset="0"/>
                        </a:rPr>
                        <m:t> </m:t>
                      </m:r>
                      <m:r>
                        <a:rPr lang="el-GR" sz="1600" i="1" dirty="0">
                          <a:latin typeface="Cambria Math" panose="02040503050406030204" pitchFamily="18" charset="0"/>
                          <a:ea typeface="Cambria Math" panose="02040503050406030204" pitchFamily="18" charset="0"/>
                        </a:rPr>
                        <m:t>= </m:t>
                      </m:r>
                      <m:sSup>
                        <m:sSupPr>
                          <m:ctrlPr>
                            <a:rPr lang="el-GR" sz="1600" i="1" dirty="0" smtClean="0">
                              <a:latin typeface="Cambria Math" panose="02040503050406030204" pitchFamily="18" charset="0"/>
                              <a:ea typeface="Cambria Math" panose="02040503050406030204" pitchFamily="18" charset="0"/>
                            </a:rPr>
                          </m:ctrlPr>
                        </m:sSupPr>
                        <m:e>
                          <m:d>
                            <m:dPr>
                              <m:begChr m:val="["/>
                              <m:endChr m:val="]"/>
                              <m:ctrlPr>
                                <a:rPr lang="el-GR" sz="1600" i="1" dirty="0" smtClean="0">
                                  <a:latin typeface="Cambria Math" panose="02040503050406030204" pitchFamily="18" charset="0"/>
                                  <a:ea typeface="Cambria Math" panose="02040503050406030204" pitchFamily="18" charset="0"/>
                                </a:rPr>
                              </m:ctrlPr>
                            </m:dPr>
                            <m:e>
                              <m:r>
                                <a:rPr lang="el-GR" sz="1600" i="1" dirty="0" smtClean="0">
                                  <a:latin typeface="Cambria Math" panose="02040503050406030204" pitchFamily="18" charset="0"/>
                                  <a:ea typeface="Cambria Math" panose="02040503050406030204" pitchFamily="18" charset="0"/>
                                </a:rPr>
                                <m:t>0,0,0</m:t>
                              </m:r>
                            </m:e>
                          </m:d>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 </m:t>
                      </m:r>
                      <m:sSup>
                        <m:sSupPr>
                          <m:ctrlPr>
                            <a:rPr lang="en-US" sz="1600" i="1" dirty="0" smtClean="0">
                              <a:latin typeface="Cambria Math" panose="02040503050406030204" pitchFamily="18" charset="0"/>
                              <a:ea typeface="Cambria Math" panose="02040503050406030204" pitchFamily="18" charset="0"/>
                            </a:rPr>
                          </m:ctrlPr>
                        </m:sSupPr>
                        <m:e>
                          <m:r>
                            <a:rPr lang="en-US" sz="1600" i="1" dirty="0" smtClean="0">
                              <a:latin typeface="Cambria Math" panose="02040503050406030204" pitchFamily="18" charset="0"/>
                              <a:ea typeface="Cambria Math" panose="02040503050406030204" pitchFamily="18" charset="0"/>
                            </a:rPr>
                            <m:t>𝑣</m:t>
                          </m:r>
                        </m:e>
                        <m:sup>
                          <m:r>
                            <a:rPr lang="en-US" sz="1600" i="1" dirty="0" smtClean="0">
                              <a:latin typeface="Cambria Math" panose="02040503050406030204" pitchFamily="18" charset="0"/>
                              <a:ea typeface="Cambria Math" panose="02040503050406030204" pitchFamily="18" charset="0"/>
                            </a:rPr>
                            <m:t>∗</m:t>
                          </m:r>
                        </m:sup>
                      </m:sSup>
                      <m:r>
                        <a:rPr lang="en-US" sz="1600" i="1" dirty="0" smtClean="0">
                          <a:latin typeface="Cambria Math" panose="02040503050406030204" pitchFamily="18" charset="0"/>
                          <a:ea typeface="Cambria Math" panose="02040503050406030204" pitchFamily="18" charset="0"/>
                        </a:rPr>
                        <m:t>=[</m:t>
                      </m:r>
                      <m:r>
                        <a:rPr lang="el-GR" sz="1600" i="1" dirty="0" smtClean="0">
                          <a:latin typeface="Cambria Math" panose="02040503050406030204" pitchFamily="18" charset="0"/>
                          <a:ea typeface="Cambria Math" panose="02040503050406030204" pitchFamily="18" charset="0"/>
                        </a:rPr>
                        <m:t>0,0,1</m:t>
                      </m:r>
                      <m:r>
                        <a:rPr lang="el-GR" sz="1600" i="1" dirty="0">
                          <a:latin typeface="Cambria Math" panose="02040503050406030204" pitchFamily="18" charset="0"/>
                          <a:ea typeface="Cambria Math" panose="02040503050406030204" pitchFamily="18" charset="0"/>
                        </a:rPr>
                        <m:t>]</m:t>
                      </m:r>
                      <m:r>
                        <a:rPr lang="en-IN" sz="1600" i="1" dirty="0">
                          <a:latin typeface="Cambria Math" panose="02040503050406030204" pitchFamily="18" charset="0"/>
                          <a:ea typeface="Cambria Math" panose="02040503050406030204" pitchFamily="18" charset="0"/>
                        </a:rPr>
                        <m:t>ᵀ</m:t>
                      </m:r>
                    </m:oMath>
                  </m:oMathPara>
                </a14:m>
                <a:endParaRPr lang="en-IN" sz="1600" i="1"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34CD8FC5-A2EF-F1CE-9ED4-65EC7826E53F}"/>
                  </a:ext>
                </a:extLst>
              </p:cNvPr>
              <p:cNvSpPr txBox="1">
                <a:spLocks noRot="1" noChangeAspect="1" noMove="1" noResize="1" noEditPoints="1" noAdjustHandles="1" noChangeArrowheads="1" noChangeShapeType="1" noTextEdit="1"/>
              </p:cNvSpPr>
              <p:nvPr/>
            </p:nvSpPr>
            <p:spPr>
              <a:xfrm>
                <a:off x="5479767" y="4894320"/>
                <a:ext cx="3646112" cy="1605632"/>
              </a:xfrm>
              <a:prstGeom prst="rect">
                <a:avLst/>
              </a:prstGeom>
              <a:blipFill>
                <a:blip r:embed="rId3"/>
                <a:stretch>
                  <a:fillRect l="-1003" t="-1521" b="-1901"/>
                </a:stretch>
              </a:blipFill>
            </p:spPr>
            <p:txBody>
              <a:bodyPr/>
              <a:lstStyle/>
              <a:p>
                <a:r>
                  <a:rPr lang="en-IN">
                    <a:noFill/>
                  </a:rPr>
                  <a:t> </a:t>
                </a:r>
              </a:p>
            </p:txBody>
          </p:sp>
        </mc:Fallback>
      </mc:AlternateContent>
      <p:grpSp>
        <p:nvGrpSpPr>
          <p:cNvPr id="76" name="Group 75">
            <a:extLst>
              <a:ext uri="{FF2B5EF4-FFF2-40B4-BE49-F238E27FC236}">
                <a16:creationId xmlns:a16="http://schemas.microsoft.com/office/drawing/2014/main" id="{5CAAD3B6-E215-6747-05D2-9EC9ED076EE8}"/>
              </a:ext>
            </a:extLst>
          </p:cNvPr>
          <p:cNvGrpSpPr/>
          <p:nvPr/>
        </p:nvGrpSpPr>
        <p:grpSpPr>
          <a:xfrm>
            <a:off x="611805" y="1384254"/>
            <a:ext cx="4467660" cy="5027676"/>
            <a:chOff x="4136574" y="1153071"/>
            <a:chExt cx="4467660" cy="5027676"/>
          </a:xfrm>
        </p:grpSpPr>
        <p:sp>
          <p:nvSpPr>
            <p:cNvPr id="51" name="TextBox 50">
              <a:extLst>
                <a:ext uri="{FF2B5EF4-FFF2-40B4-BE49-F238E27FC236}">
                  <a16:creationId xmlns:a16="http://schemas.microsoft.com/office/drawing/2014/main" id="{4569D114-80BA-8C39-A016-7AD3C8D3C978}"/>
                </a:ext>
              </a:extLst>
            </p:cNvPr>
            <p:cNvSpPr txBox="1"/>
            <p:nvPr/>
          </p:nvSpPr>
          <p:spPr>
            <a:xfrm>
              <a:off x="7312312" y="1606583"/>
              <a:ext cx="402674"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y0</a:t>
              </a:r>
              <a:endParaRPr lang="en-IN" sz="1600" dirty="0">
                <a:latin typeface="Cambria Math" panose="02040503050406030204" pitchFamily="18" charset="0"/>
                <a:ea typeface="Cambria Math" panose="02040503050406030204" pitchFamily="18" charset="0"/>
              </a:endParaRPr>
            </a:p>
          </p:txBody>
        </p:sp>
        <p:grpSp>
          <p:nvGrpSpPr>
            <p:cNvPr id="75" name="Group 74">
              <a:extLst>
                <a:ext uri="{FF2B5EF4-FFF2-40B4-BE49-F238E27FC236}">
                  <a16:creationId xmlns:a16="http://schemas.microsoft.com/office/drawing/2014/main" id="{2EC0C020-90D7-C384-FC07-50C5D4D02758}"/>
                </a:ext>
              </a:extLst>
            </p:cNvPr>
            <p:cNvGrpSpPr/>
            <p:nvPr/>
          </p:nvGrpSpPr>
          <p:grpSpPr>
            <a:xfrm>
              <a:off x="4136574" y="1153071"/>
              <a:ext cx="4467660" cy="5027676"/>
              <a:chOff x="4136574" y="1153071"/>
              <a:chExt cx="4467660" cy="5027676"/>
            </a:xfrm>
          </p:grpSpPr>
          <p:sp>
            <p:nvSpPr>
              <p:cNvPr id="23" name="Rectangle 22">
                <a:extLst>
                  <a:ext uri="{FF2B5EF4-FFF2-40B4-BE49-F238E27FC236}">
                    <a16:creationId xmlns:a16="http://schemas.microsoft.com/office/drawing/2014/main" id="{EE08BC65-0FB9-FC1B-1B14-51E7D4FDDA84}"/>
                  </a:ext>
                </a:extLst>
              </p:cNvPr>
              <p:cNvSpPr/>
              <p:nvPr/>
            </p:nvSpPr>
            <p:spPr>
              <a:xfrm>
                <a:off x="4682066" y="1603044"/>
                <a:ext cx="2092916" cy="7337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BVP</a:t>
                </a:r>
              </a:p>
              <a:p>
                <a:pPr algn="ctr"/>
                <a:r>
                  <a:rPr lang="en-US" sz="1600" dirty="0">
                    <a:latin typeface="Cambria Math" panose="02040503050406030204" pitchFamily="18" charset="0"/>
                    <a:ea typeface="Cambria Math" panose="02040503050406030204" pitchFamily="18" charset="0"/>
                  </a:rPr>
                  <a:t>Shooting method</a:t>
                </a:r>
              </a:p>
              <a:p>
                <a:pPr algn="ctr"/>
                <a:r>
                  <a:rPr lang="en-US" sz="1600" dirty="0">
                    <a:latin typeface="Cambria Math" panose="02040503050406030204" pitchFamily="18" charset="0"/>
                    <a:ea typeface="Cambria Math" panose="02040503050406030204" pitchFamily="18" charset="0"/>
                  </a:rPr>
                  <a:t>[ 1) guess n0, m0]</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38B8D4F6-03C1-AD5F-A25A-6182A13BA067}"/>
                      </a:ext>
                    </a:extLst>
                  </p:cNvPr>
                  <p:cNvSpPr/>
                  <p:nvPr/>
                </p:nvSpPr>
                <p:spPr>
                  <a:xfrm>
                    <a:off x="6345289" y="2504322"/>
                    <a:ext cx="1886420" cy="5085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ODE of </a:t>
                    </a:r>
                  </a:p>
                  <a:p>
                    <a:pPr algn="ct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𝑅</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𝑛</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𝑚</m:t>
                              </m:r>
                            </m:e>
                            <m:sub>
                              <m:r>
                                <a:rPr lang="en-US" sz="1600" i="1" dirty="0" err="1">
                                  <a:latin typeface="Cambria Math" panose="02040503050406030204" pitchFamily="18" charset="0"/>
                                  <a:ea typeface="Cambria Math" panose="02040503050406030204" pitchFamily="18" charset="0"/>
                                </a:rPr>
                                <m:t>𝑠</m:t>
                              </m:r>
                            </m:sub>
                          </m:sSub>
                        </m:oMath>
                      </m:oMathPara>
                    </a14:m>
                    <a:endParaRPr lang="en-IN" sz="1600" dirty="0">
                      <a:latin typeface="Cambria Math" panose="02040503050406030204" pitchFamily="18" charset="0"/>
                      <a:ea typeface="Cambria Math" panose="02040503050406030204" pitchFamily="18" charset="0"/>
                    </a:endParaRPr>
                  </a:p>
                </p:txBody>
              </p:sp>
            </mc:Choice>
            <mc:Fallback xmlns="">
              <p:sp>
                <p:nvSpPr>
                  <p:cNvPr id="25" name="Rectangle 24">
                    <a:extLst>
                      <a:ext uri="{FF2B5EF4-FFF2-40B4-BE49-F238E27FC236}">
                        <a16:creationId xmlns:a16="http://schemas.microsoft.com/office/drawing/2014/main" id="{38B8D4F6-03C1-AD5F-A25A-6182A13BA067}"/>
                      </a:ext>
                    </a:extLst>
                  </p:cNvPr>
                  <p:cNvSpPr>
                    <a:spLocks noRot="1" noChangeAspect="1" noMove="1" noResize="1" noEditPoints="1" noAdjustHandles="1" noChangeArrowheads="1" noChangeShapeType="1" noTextEdit="1"/>
                  </p:cNvSpPr>
                  <p:nvPr/>
                </p:nvSpPr>
                <p:spPr>
                  <a:xfrm>
                    <a:off x="6345289" y="2504322"/>
                    <a:ext cx="1886420" cy="508526"/>
                  </a:xfrm>
                  <a:prstGeom prst="rect">
                    <a:avLst/>
                  </a:prstGeom>
                  <a:blipFill>
                    <a:blip r:embed="rId4"/>
                    <a:stretch>
                      <a:fillRect t="-9195" b="-2299"/>
                    </a:stretch>
                  </a:blipFill>
                </p:spPr>
                <p:txBody>
                  <a:bodyPr/>
                  <a:lstStyle/>
                  <a:p>
                    <a:r>
                      <a:rPr lang="en-IN">
                        <a:noFill/>
                      </a:rPr>
                      <a:t> </a:t>
                    </a:r>
                  </a:p>
                </p:txBody>
              </p:sp>
            </mc:Fallback>
          </mc:AlternateContent>
          <p:cxnSp>
            <p:nvCxnSpPr>
              <p:cNvPr id="30" name="Straight Arrow Connector 29">
                <a:extLst>
                  <a:ext uri="{FF2B5EF4-FFF2-40B4-BE49-F238E27FC236}">
                    <a16:creationId xmlns:a16="http://schemas.microsoft.com/office/drawing/2014/main" id="{B4A9355D-9C67-2CC8-D82D-C8397BE48743}"/>
                  </a:ext>
                </a:extLst>
              </p:cNvPr>
              <p:cNvCxnSpPr>
                <a:cxnSpLocks/>
                <a:stCxn id="25" idx="2"/>
              </p:cNvCxnSpPr>
              <p:nvPr/>
            </p:nvCxnSpPr>
            <p:spPr>
              <a:xfrm>
                <a:off x="7288499" y="3012848"/>
                <a:ext cx="5256" cy="373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DDDD5908-A4D6-DDD8-EC43-BFD8DFF4D20B}"/>
                  </a:ext>
                </a:extLst>
              </p:cNvPr>
              <p:cNvSpPr/>
              <p:nvPr/>
            </p:nvSpPr>
            <p:spPr>
              <a:xfrm>
                <a:off x="6377262" y="3414888"/>
                <a:ext cx="1886420" cy="5353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atin typeface="Cambria Math" panose="02040503050406030204" pitchFamily="18" charset="0"/>
                  <a:ea typeface="Cambria Math" panose="02040503050406030204" pitchFamily="18" charset="0"/>
                </a:endParaRPr>
              </a:p>
              <a:p>
                <a:pPr algn="ctr"/>
                <a:r>
                  <a:rPr lang="en-US" sz="1600" dirty="0">
                    <a:latin typeface="Cambria Math" panose="02040503050406030204" pitchFamily="18" charset="0"/>
                    <a:ea typeface="Cambria Math" panose="02040503050406030204" pitchFamily="18" charset="0"/>
                  </a:rPr>
                  <a:t>4) IVP – RK45,RK4 etc.</a:t>
                </a:r>
                <a:endParaRPr lang="en-IN" sz="1600" dirty="0">
                  <a:latin typeface="Cambria Math" panose="02040503050406030204" pitchFamily="18" charset="0"/>
                  <a:ea typeface="Cambria Math" panose="02040503050406030204" pitchFamily="18" charset="0"/>
                </a:endParaRPr>
              </a:p>
              <a:p>
                <a:pPr algn="ctr"/>
                <a:endParaRPr lang="en-US" sz="1600" dirty="0">
                  <a:latin typeface="Cambria Math" panose="02040503050406030204" pitchFamily="18" charset="0"/>
                  <a:ea typeface="Cambria Math" panose="02040503050406030204" pitchFamily="18" charset="0"/>
                </a:endParaRPr>
              </a:p>
            </p:txBody>
          </p:sp>
          <p:cxnSp>
            <p:nvCxnSpPr>
              <p:cNvPr id="37" name="Connector: Elbow 36">
                <a:extLst>
                  <a:ext uri="{FF2B5EF4-FFF2-40B4-BE49-F238E27FC236}">
                    <a16:creationId xmlns:a16="http://schemas.microsoft.com/office/drawing/2014/main" id="{11FDD4A7-CF31-0E65-61E5-A1BF3AF85FB3}"/>
                  </a:ext>
                </a:extLst>
              </p:cNvPr>
              <p:cNvCxnSpPr>
                <a:cxnSpLocks/>
                <a:stCxn id="23" idx="3"/>
                <a:endCxn id="25" idx="0"/>
              </p:cNvCxnSpPr>
              <p:nvPr/>
            </p:nvCxnSpPr>
            <p:spPr>
              <a:xfrm>
                <a:off x="6774982" y="1969922"/>
                <a:ext cx="513517" cy="5344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3833D965-EE7E-CE83-328D-9116A2516B29}"/>
                  </a:ext>
                </a:extLst>
              </p:cNvPr>
              <p:cNvSpPr txBox="1"/>
              <p:nvPr/>
            </p:nvSpPr>
            <p:spPr>
              <a:xfrm>
                <a:off x="4682066" y="1224761"/>
                <a:ext cx="1414939" cy="338554"/>
              </a:xfrm>
              <a:prstGeom prst="rect">
                <a:avLst/>
              </a:prstGeom>
              <a:no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 = [r, R, n ,m]</a:t>
                </a:r>
                <a:endParaRPr lang="en-IN" sz="1600" dirty="0">
                  <a:latin typeface="Cambria Math" panose="02040503050406030204" pitchFamily="18" charset="0"/>
                  <a:ea typeface="Cambria Math" panose="02040503050406030204" pitchFamily="18" charset="0"/>
                </a:endParaRPr>
              </a:p>
            </p:txBody>
          </p:sp>
          <p:sp>
            <p:nvSpPr>
              <p:cNvPr id="53" name="TextBox 52">
                <a:extLst>
                  <a:ext uri="{FF2B5EF4-FFF2-40B4-BE49-F238E27FC236}">
                    <a16:creationId xmlns:a16="http://schemas.microsoft.com/office/drawing/2014/main" id="{47222904-5AC3-9507-3155-794C095778DB}"/>
                  </a:ext>
                </a:extLst>
              </p:cNvPr>
              <p:cNvSpPr txBox="1"/>
              <p:nvPr/>
            </p:nvSpPr>
            <p:spPr>
              <a:xfrm>
                <a:off x="6027915" y="4285455"/>
                <a:ext cx="569387"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y(L)</a:t>
                </a:r>
                <a:endParaRPr lang="en-IN" sz="1600" dirty="0">
                  <a:latin typeface="Cambria Math" panose="02040503050406030204" pitchFamily="18" charset="0"/>
                  <a:ea typeface="Cambria Math" panose="02040503050406030204" pitchFamily="18" charset="0"/>
                </a:endParaRPr>
              </a:p>
            </p:txBody>
          </p:sp>
          <p:cxnSp>
            <p:nvCxnSpPr>
              <p:cNvPr id="56" name="Connector: Elbow 55">
                <a:extLst>
                  <a:ext uri="{FF2B5EF4-FFF2-40B4-BE49-F238E27FC236}">
                    <a16:creationId xmlns:a16="http://schemas.microsoft.com/office/drawing/2014/main" id="{94C850C3-1161-0C7B-C001-94355F5DE948}"/>
                  </a:ext>
                </a:extLst>
              </p:cNvPr>
              <p:cNvCxnSpPr>
                <a:cxnSpLocks/>
                <a:stCxn id="35" idx="2"/>
                <a:endCxn id="67" idx="3"/>
              </p:cNvCxnSpPr>
              <p:nvPr/>
            </p:nvCxnSpPr>
            <p:spPr>
              <a:xfrm rot="5400000">
                <a:off x="6211396" y="3675809"/>
                <a:ext cx="834615" cy="13835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2960CD6D-FF67-A142-B042-6BE52B440F62}"/>
                  </a:ext>
                </a:extLst>
              </p:cNvPr>
              <p:cNvSpPr txBox="1"/>
              <p:nvPr/>
            </p:nvSpPr>
            <p:spPr>
              <a:xfrm>
                <a:off x="7320472" y="4626319"/>
                <a:ext cx="546945"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y(s)</a:t>
                </a:r>
                <a:endParaRPr lang="en-IN" sz="1600" dirty="0">
                  <a:latin typeface="Cambria Math" panose="02040503050406030204" pitchFamily="18" charset="0"/>
                  <a:ea typeface="Cambria Math" panose="02040503050406030204" pitchFamily="18" charset="0"/>
                </a:endParaRPr>
              </a:p>
            </p:txBody>
          </p:sp>
          <p:cxnSp>
            <p:nvCxnSpPr>
              <p:cNvPr id="62" name="Straight Arrow Connector 61">
                <a:extLst>
                  <a:ext uri="{FF2B5EF4-FFF2-40B4-BE49-F238E27FC236}">
                    <a16:creationId xmlns:a16="http://schemas.microsoft.com/office/drawing/2014/main" id="{F89338FF-19D0-A1F6-D302-071FFB190C19}"/>
                  </a:ext>
                </a:extLst>
              </p:cNvPr>
              <p:cNvCxnSpPr>
                <a:cxnSpLocks/>
                <a:stCxn id="23" idx="2"/>
              </p:cNvCxnSpPr>
              <p:nvPr/>
            </p:nvCxnSpPr>
            <p:spPr>
              <a:xfrm>
                <a:off x="5728524" y="2336800"/>
                <a:ext cx="10511" cy="3491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7" name="Diamond 66">
                <a:extLst>
                  <a:ext uri="{FF2B5EF4-FFF2-40B4-BE49-F238E27FC236}">
                    <a16:creationId xmlns:a16="http://schemas.microsoft.com/office/drawing/2014/main" id="{F769A23E-63A5-A6AD-2A1A-D6B92C8E24DE}"/>
                  </a:ext>
                </a:extLst>
              </p:cNvPr>
              <p:cNvSpPr/>
              <p:nvPr/>
            </p:nvSpPr>
            <p:spPr>
              <a:xfrm>
                <a:off x="5520113" y="4542251"/>
                <a:ext cx="416821" cy="485269"/>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600">
                  <a:latin typeface="Cambria Math" panose="02040503050406030204" pitchFamily="18" charset="0"/>
                  <a:ea typeface="Cambria Math" panose="02040503050406030204" pitchFamily="18" charset="0"/>
                </a:endParaRPr>
              </a:p>
            </p:txBody>
          </p:sp>
          <p:sp>
            <p:nvSpPr>
              <p:cNvPr id="68" name="TextBox 67">
                <a:extLst>
                  <a:ext uri="{FF2B5EF4-FFF2-40B4-BE49-F238E27FC236}">
                    <a16:creationId xmlns:a16="http://schemas.microsoft.com/office/drawing/2014/main" id="{C901F475-16B9-D18F-0282-45EFFF8F3B9C}"/>
                  </a:ext>
                </a:extLst>
              </p:cNvPr>
              <p:cNvSpPr txBox="1"/>
              <p:nvPr/>
            </p:nvSpPr>
            <p:spPr>
              <a:xfrm>
                <a:off x="4136574" y="3721815"/>
                <a:ext cx="1435027" cy="830997"/>
              </a:xfrm>
              <a:prstGeom prst="rect">
                <a:avLst/>
              </a:prstGeom>
              <a:solidFill>
                <a:schemeClr val="bg1"/>
              </a:solidFill>
              <a:ln>
                <a:solidFill>
                  <a:schemeClr val="tx1"/>
                </a:solidFill>
              </a:ln>
            </p:spPr>
            <p:txBody>
              <a:bodyPr wrap="square" rtlCol="0">
                <a:spAutoFit/>
              </a:bodyPr>
              <a:lstStyle/>
              <a:p>
                <a:r>
                  <a:rPr lang="en-US" sz="1600" dirty="0">
                    <a:latin typeface="Cambria Math" panose="02040503050406030204" pitchFamily="18" charset="0"/>
                    <a:ea typeface="Cambria Math" panose="02040503050406030204" pitchFamily="18" charset="0"/>
                  </a:rPr>
                  <a:t>Check error with knowns</a:t>
                </a:r>
              </a:p>
              <a:p>
                <a:r>
                  <a:rPr lang="en-US" sz="1600" dirty="0">
                    <a:latin typeface="Cambria Math" panose="02040503050406030204" pitchFamily="18" charset="0"/>
                    <a:ea typeface="Cambria Math" panose="02040503050406030204" pitchFamily="18" charset="0"/>
                  </a:rPr>
                  <a:t>n(L), m(L)</a:t>
                </a:r>
              </a:p>
            </p:txBody>
          </p:sp>
          <p:sp>
            <p:nvSpPr>
              <p:cNvPr id="70" name="TextBox 69">
                <a:extLst>
                  <a:ext uri="{FF2B5EF4-FFF2-40B4-BE49-F238E27FC236}">
                    <a16:creationId xmlns:a16="http://schemas.microsoft.com/office/drawing/2014/main" id="{8D3C7FBE-4789-2F06-8E12-224B07604653}"/>
                  </a:ext>
                </a:extLst>
              </p:cNvPr>
              <p:cNvSpPr txBox="1"/>
              <p:nvPr/>
            </p:nvSpPr>
            <p:spPr>
              <a:xfrm>
                <a:off x="5249958" y="5842193"/>
                <a:ext cx="1045479"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r(L), R(L)</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89FB6DA-B9D6-69C1-3C5B-1EB9AA3A0A25}"/>
                      </a:ext>
                    </a:extLst>
                  </p:cNvPr>
                  <p:cNvSpPr txBox="1"/>
                  <p:nvPr/>
                </p:nvSpPr>
                <p:spPr>
                  <a:xfrm>
                    <a:off x="7312312" y="1153071"/>
                    <a:ext cx="1291922" cy="430887"/>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𝑟</m:t>
                          </m:r>
                          <m:d>
                            <m:dPr>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m:t>
                              </m:r>
                            </m:e>
                          </m:d>
                          <m:r>
                            <a:rPr lang="en-US" sz="1100" i="1" dirty="0" smtClean="0">
                              <a:latin typeface="Cambria Math" panose="02040503050406030204" pitchFamily="18" charset="0"/>
                              <a:ea typeface="Cambria Math" panose="02040503050406030204" pitchFamily="18" charset="0"/>
                            </a:rPr>
                            <m:t>= </m:t>
                          </m:r>
                          <m:sSup>
                            <m:sSupPr>
                              <m:ctrlPr>
                                <a:rPr lang="en-US" sz="1100" i="1" dirty="0" smtClean="0">
                                  <a:latin typeface="Cambria Math" panose="02040503050406030204" pitchFamily="18" charset="0"/>
                                  <a:ea typeface="Cambria Math" panose="02040503050406030204" pitchFamily="18" charset="0"/>
                                </a:rPr>
                              </m:ctrlPr>
                            </m:sSupPr>
                            <m:e>
                              <m:d>
                                <m:dPr>
                                  <m:begChr m:val="["/>
                                  <m:endChr m:val="]"/>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0 0 0</m:t>
                                  </m:r>
                                </m:e>
                              </m:d>
                            </m:e>
                            <m:sup>
                              <m:r>
                                <a:rPr lang="en-US" sz="1100" i="1" dirty="0" smtClean="0">
                                  <a:latin typeface="Cambria Math" panose="02040503050406030204" pitchFamily="18" charset="0"/>
                                  <a:ea typeface="Cambria Math" panose="02040503050406030204" pitchFamily="18" charset="0"/>
                                </a:rPr>
                                <m:t>𝑇</m:t>
                              </m:r>
                            </m:sup>
                          </m:sSup>
                          <m:r>
                            <a:rPr lang="en-US" sz="1100" i="1" dirty="0" smtClean="0">
                              <a:latin typeface="Cambria Math" panose="02040503050406030204" pitchFamily="18" charset="0"/>
                              <a:ea typeface="Cambria Math" panose="02040503050406030204" pitchFamily="18" charset="0"/>
                            </a:rPr>
                            <m:t> ; </m:t>
                          </m:r>
                        </m:oMath>
                      </m:oMathPara>
                    </a14:m>
                    <a:endParaRPr lang="en-US" sz="11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𝑅</m:t>
                          </m:r>
                          <m:r>
                            <a:rPr lang="en-US" sz="1100" i="1" dirty="0" smtClean="0">
                              <a:latin typeface="Cambria Math" panose="02040503050406030204" pitchFamily="18" charset="0"/>
                              <a:ea typeface="Cambria Math" panose="02040503050406030204" pitchFamily="18" charset="0"/>
                            </a:rPr>
                            <m:t>(0) = </m:t>
                          </m:r>
                          <m:r>
                            <a:rPr lang="en-US" sz="1100" i="1" dirty="0" smtClean="0">
                              <a:latin typeface="Cambria Math" panose="02040503050406030204" pitchFamily="18" charset="0"/>
                              <a:ea typeface="Cambria Math" panose="02040503050406030204" pitchFamily="18" charset="0"/>
                            </a:rPr>
                            <m:t>𝐼</m:t>
                          </m:r>
                        </m:oMath>
                      </m:oMathPara>
                    </a14:m>
                    <a:endParaRPr lang="en-US" sz="1100" i="1" dirty="0">
                      <a:latin typeface="Cambria Math" panose="02040503050406030204" pitchFamily="18" charset="0"/>
                      <a:ea typeface="Cambria Math" panose="02040503050406030204" pitchFamily="18" charset="0"/>
                    </a:endParaRPr>
                  </a:p>
                </p:txBody>
              </p:sp>
            </mc:Choice>
            <mc:Fallback xmlns="">
              <p:sp>
                <p:nvSpPr>
                  <p:cNvPr id="72" name="TextBox 71">
                    <a:extLst>
                      <a:ext uri="{FF2B5EF4-FFF2-40B4-BE49-F238E27FC236}">
                        <a16:creationId xmlns:a16="http://schemas.microsoft.com/office/drawing/2014/main" id="{E89FB6DA-B9D6-69C1-3C5B-1EB9AA3A0A25}"/>
                      </a:ext>
                    </a:extLst>
                  </p:cNvPr>
                  <p:cNvSpPr txBox="1">
                    <a:spLocks noRot="1" noChangeAspect="1" noMove="1" noResize="1" noEditPoints="1" noAdjustHandles="1" noChangeArrowheads="1" noChangeShapeType="1" noTextEdit="1"/>
                  </p:cNvSpPr>
                  <p:nvPr/>
                </p:nvSpPr>
                <p:spPr>
                  <a:xfrm>
                    <a:off x="7312312" y="1153071"/>
                    <a:ext cx="1291922" cy="430887"/>
                  </a:xfrm>
                  <a:prstGeom prst="rect">
                    <a:avLst/>
                  </a:prstGeom>
                  <a:blipFill>
                    <a:blip r:embed="rId5"/>
                    <a:stretch>
                      <a:fillRect b="-6849"/>
                    </a:stretch>
                  </a:blipFill>
                  <a:ln>
                    <a:solidFill>
                      <a:schemeClr val="tx1"/>
                    </a:solidFill>
                  </a:ln>
                </p:spPr>
                <p:txBody>
                  <a:bodyPr/>
                  <a:lstStyle/>
                  <a:p>
                    <a:r>
                      <a:rPr lang="en-IN">
                        <a:noFill/>
                      </a:rPr>
                      <a:t> </a:t>
                    </a:r>
                  </a:p>
                </p:txBody>
              </p:sp>
            </mc:Fallback>
          </mc:AlternateContent>
        </p:grpSp>
      </p:grpSp>
      <p:pic>
        <p:nvPicPr>
          <p:cNvPr id="78" name="Picture 77"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58AADEB1-08B2-4507-641A-F3327044257E}"/>
              </a:ext>
            </a:extLst>
          </p:cNvPr>
          <p:cNvPicPr>
            <a:picLocks noChangeAspect="1"/>
          </p:cNvPicPr>
          <p:nvPr/>
        </p:nvPicPr>
        <p:blipFill>
          <a:blip r:embed="rId6"/>
          <a:srcRect l="53850"/>
          <a:stretch>
            <a:fillRect/>
          </a:stretch>
        </p:blipFill>
        <p:spPr>
          <a:xfrm>
            <a:off x="9283362" y="370435"/>
            <a:ext cx="2271718" cy="1953778"/>
          </a:xfrm>
          <a:prstGeom prst="rect">
            <a:avLst/>
          </a:prstGeom>
          <a:ln>
            <a:solidFill>
              <a:schemeClr val="tx1"/>
            </a:solidFill>
          </a:ln>
        </p:spPr>
      </p:pic>
      <p:sp>
        <p:nvSpPr>
          <p:cNvPr id="6" name="TextBox 5">
            <a:extLst>
              <a:ext uri="{FF2B5EF4-FFF2-40B4-BE49-F238E27FC236}">
                <a16:creationId xmlns:a16="http://schemas.microsoft.com/office/drawing/2014/main" id="{E2680BD9-AAF2-B269-D678-F10164C8B450}"/>
              </a:ext>
            </a:extLst>
          </p:cNvPr>
          <p:cNvSpPr txBox="1"/>
          <p:nvPr/>
        </p:nvSpPr>
        <p:spPr>
          <a:xfrm>
            <a:off x="876314" y="753206"/>
            <a:ext cx="6096000" cy="584775"/>
          </a:xfrm>
          <a:prstGeom prst="rect">
            <a:avLst/>
          </a:prstGeom>
          <a:noFill/>
        </p:spPr>
        <p:txBody>
          <a:bodyPr wrap="squar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Static Equilibrium:</a:t>
            </a:r>
          </a:p>
          <a:p>
            <a:pPr>
              <a:defRPr sz="2000">
                <a:solidFill>
                  <a:srgbClr val="142237"/>
                </a:solidFill>
              </a:defRPr>
            </a:pPr>
            <a:r>
              <a:rPr lang="en-US" sz="1600" dirty="0">
                <a:latin typeface="Cambria Math" panose="02040503050406030204" pitchFamily="18" charset="0"/>
                <a:ea typeface="Cambria Math" panose="02040503050406030204" pitchFamily="18" charset="0"/>
              </a:rPr>
              <a:t>(t = 0)</a:t>
            </a:r>
          </a:p>
        </p:txBody>
      </p:sp>
      <p:sp>
        <p:nvSpPr>
          <p:cNvPr id="11" name="TextBox 10">
            <a:extLst>
              <a:ext uri="{FF2B5EF4-FFF2-40B4-BE49-F238E27FC236}">
                <a16:creationId xmlns:a16="http://schemas.microsoft.com/office/drawing/2014/main" id="{074B9605-CBC6-934A-2494-A72B2924A680}"/>
              </a:ext>
            </a:extLst>
          </p:cNvPr>
          <p:cNvSpPr txBox="1"/>
          <p:nvPr/>
        </p:nvSpPr>
        <p:spPr>
          <a:xfrm>
            <a:off x="9201712" y="2443117"/>
            <a:ext cx="2501006"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No external loading</a:t>
            </a:r>
          </a:p>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No distributed loading</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225C9F-4F3E-30A4-955F-C8410EC01E69}"/>
                  </a:ext>
                </a:extLst>
              </p:cNvPr>
              <p:cNvSpPr txBox="1"/>
              <p:nvPr/>
            </p:nvSpPr>
            <p:spPr>
              <a:xfrm>
                <a:off x="428270" y="3235469"/>
                <a:ext cx="1649491" cy="737189"/>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𝑛</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0 0 0</m:t>
                              </m:r>
                            </m:e>
                          </m:d>
                        </m:e>
                        <m:sup>
                          <m:r>
                            <a:rPr lang="en-US" sz="1400" b="0" i="1" smtClean="0">
                              <a:latin typeface="Cambria Math" panose="02040503050406030204" pitchFamily="18" charset="0"/>
                            </a:rPr>
                            <m:t>𝑇</m:t>
                          </m:r>
                        </m:sup>
                      </m:sSup>
                    </m:oMath>
                  </m:oMathPara>
                </a14:m>
                <a:endParaRPr lang="en-US" sz="1400" b="0" dirty="0"/>
              </a:p>
              <a:p>
                <a:pPr/>
                <a14:m>
                  <m:oMathPara xmlns:m="http://schemas.openxmlformats.org/officeDocument/2006/math">
                    <m:oMath>
                      <m:r>
                        <a:rPr lang="en-IN" sz="1400" i="1" dirty="0" smtClean="0">
                          <a:latin typeface="Cambria Math" panose="02040503050406030204" pitchFamily="18" charset="0"/>
                        </a:rPr>
                        <m:t>𝑚</m:t>
                      </m:r>
                      <m:r>
                        <a:rPr lang="en-IN" sz="1400" i="1" dirty="0" smtClean="0">
                          <a:latin typeface="Cambria Math" panose="02040503050406030204" pitchFamily="18" charset="0"/>
                        </a:rPr>
                        <m:t>(</m:t>
                      </m:r>
                      <m:r>
                        <a:rPr lang="en-IN" sz="1400" i="1" dirty="0" smtClean="0">
                          <a:latin typeface="Cambria Math" panose="02040503050406030204" pitchFamily="18" charset="0"/>
                        </a:rPr>
                        <m:t>𝐿</m:t>
                      </m:r>
                      <m:r>
                        <a:rPr lang="en-IN" sz="1400" i="1" dirty="0" smtClean="0">
                          <a:latin typeface="Cambria Math" panose="02040503050406030204" pitchFamily="18" charset="0"/>
                        </a:rPr>
                        <m:t>) =</m:t>
                      </m:r>
                      <m:nary>
                        <m:naryPr>
                          <m:chr m:val="∑"/>
                          <m:subHide m:val="on"/>
                          <m:supHide m:val="on"/>
                          <m:ctrlPr>
                            <a:rPr lang="en-IN" sz="1400" i="1" dirty="0" smtClean="0">
                              <a:latin typeface="Cambria Math" panose="02040503050406030204" pitchFamily="18" charset="0"/>
                            </a:rPr>
                          </m:ctrlPr>
                        </m:naryPr>
                        <m:sub/>
                        <m:sup/>
                        <m:e>
                          <m:r>
                            <a:rPr lang="en-US" sz="1400" b="0" i="1" dirty="0" smtClean="0">
                              <a:latin typeface="Cambria Math" panose="02040503050406030204" pitchFamily="18" charset="0"/>
                            </a:rPr>
                            <m:t>𝑟ℎ</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𝑜</m:t>
                              </m:r>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rPr>
                            <m:t>𝑥</m:t>
                          </m:r>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𝑖</m:t>
                              </m:r>
                            </m:sub>
                          </m:sSub>
                        </m:e>
                      </m:nary>
                    </m:oMath>
                  </m:oMathPara>
                </a14:m>
                <a:endParaRPr lang="en-IN" sz="1400" dirty="0"/>
              </a:p>
            </p:txBody>
          </p:sp>
        </mc:Choice>
        <mc:Fallback xmlns="">
          <p:sp>
            <p:nvSpPr>
              <p:cNvPr id="12" name="TextBox 11">
                <a:extLst>
                  <a:ext uri="{FF2B5EF4-FFF2-40B4-BE49-F238E27FC236}">
                    <a16:creationId xmlns:a16="http://schemas.microsoft.com/office/drawing/2014/main" id="{52225C9F-4F3E-30A4-955F-C8410EC01E69}"/>
                  </a:ext>
                </a:extLst>
              </p:cNvPr>
              <p:cNvSpPr txBox="1">
                <a:spLocks noRot="1" noChangeAspect="1" noMove="1" noResize="1" noEditPoints="1" noAdjustHandles="1" noChangeArrowheads="1" noChangeShapeType="1" noTextEdit="1"/>
              </p:cNvSpPr>
              <p:nvPr/>
            </p:nvSpPr>
            <p:spPr>
              <a:xfrm>
                <a:off x="428270" y="3235469"/>
                <a:ext cx="1649491" cy="737189"/>
              </a:xfrm>
              <a:prstGeom prst="rect">
                <a:avLst/>
              </a:prstGeom>
              <a:blipFill>
                <a:blip r:embed="rId7"/>
                <a:stretch>
                  <a:fillRect l="-738" t="-74380" r="-36162" b="-144628"/>
                </a:stretch>
              </a:blipFill>
            </p:spPr>
            <p:txBody>
              <a:bodyPr/>
              <a:lstStyle/>
              <a:p>
                <a:r>
                  <a:rPr lang="en-IN">
                    <a:noFill/>
                  </a:rPr>
                  <a:t> </a:t>
                </a:r>
              </a:p>
            </p:txBody>
          </p:sp>
        </mc:Fallback>
      </mc:AlternateContent>
      <p:sp>
        <p:nvSpPr>
          <p:cNvPr id="32" name="Oval 31">
            <a:extLst>
              <a:ext uri="{FF2B5EF4-FFF2-40B4-BE49-F238E27FC236}">
                <a16:creationId xmlns:a16="http://schemas.microsoft.com/office/drawing/2014/main" id="{DC756E0D-F184-3EAC-1B18-DC16D99B68CF}"/>
              </a:ext>
            </a:extLst>
          </p:cNvPr>
          <p:cNvSpPr/>
          <p:nvPr/>
        </p:nvSpPr>
        <p:spPr>
          <a:xfrm rot="19251957">
            <a:off x="10185275" y="4948004"/>
            <a:ext cx="330554" cy="152458"/>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grpSp>
        <p:nvGrpSpPr>
          <p:cNvPr id="71" name="Group 70">
            <a:extLst>
              <a:ext uri="{FF2B5EF4-FFF2-40B4-BE49-F238E27FC236}">
                <a16:creationId xmlns:a16="http://schemas.microsoft.com/office/drawing/2014/main" id="{5D5EF352-39E8-526A-A768-1AC1DA677A4B}"/>
              </a:ext>
            </a:extLst>
          </p:cNvPr>
          <p:cNvGrpSpPr/>
          <p:nvPr/>
        </p:nvGrpSpPr>
        <p:grpSpPr>
          <a:xfrm>
            <a:off x="9278673" y="3727441"/>
            <a:ext cx="2353817" cy="2742829"/>
            <a:chOff x="9278673" y="3727441"/>
            <a:chExt cx="2353817" cy="2742829"/>
          </a:xfrm>
        </p:grpSpPr>
        <p:sp>
          <p:nvSpPr>
            <p:cNvPr id="15" name="Oval 14">
              <a:extLst>
                <a:ext uri="{FF2B5EF4-FFF2-40B4-BE49-F238E27FC236}">
                  <a16:creationId xmlns:a16="http://schemas.microsoft.com/office/drawing/2014/main" id="{8A66075A-34EF-9F7F-E1C6-34B2C7DF4B79}"/>
                </a:ext>
              </a:extLst>
            </p:cNvPr>
            <p:cNvSpPr/>
            <p:nvPr/>
          </p:nvSpPr>
          <p:spPr>
            <a:xfrm rot="19251957">
              <a:off x="9657291" y="4652686"/>
              <a:ext cx="1523860" cy="74818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14" name="Connector: Curved 13">
              <a:extLst>
                <a:ext uri="{FF2B5EF4-FFF2-40B4-BE49-F238E27FC236}">
                  <a16:creationId xmlns:a16="http://schemas.microsoft.com/office/drawing/2014/main" id="{DA58E7D9-7748-6CE5-20DF-04CF37923B9A}"/>
                </a:ext>
              </a:extLst>
            </p:cNvPr>
            <p:cNvCxnSpPr>
              <a:cxnSpLocks/>
            </p:cNvCxnSpPr>
            <p:nvPr/>
          </p:nvCxnSpPr>
          <p:spPr>
            <a:xfrm rot="16200000" flipH="1">
              <a:off x="9514041" y="4193177"/>
              <a:ext cx="1989000" cy="1667205"/>
            </a:xfrm>
            <a:prstGeom prst="curvedConnector3">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8" name="Connector: Curved 17">
              <a:extLst>
                <a:ext uri="{FF2B5EF4-FFF2-40B4-BE49-F238E27FC236}">
                  <a16:creationId xmlns:a16="http://schemas.microsoft.com/office/drawing/2014/main" id="{4A2EFF22-955D-CA1C-5908-4D32A0759020}"/>
                </a:ext>
              </a:extLst>
            </p:cNvPr>
            <p:cNvCxnSpPr>
              <a:cxnSpLocks/>
            </p:cNvCxnSpPr>
            <p:nvPr/>
          </p:nvCxnSpPr>
          <p:spPr>
            <a:xfrm rot="16200000" flipH="1">
              <a:off x="9117776" y="4529394"/>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Connector: Curved 18">
              <a:extLst>
                <a:ext uri="{FF2B5EF4-FFF2-40B4-BE49-F238E27FC236}">
                  <a16:creationId xmlns:a16="http://schemas.microsoft.com/office/drawing/2014/main" id="{0D761A09-6B5E-F35D-CC25-EB2D48B16F4F}"/>
                </a:ext>
              </a:extLst>
            </p:cNvPr>
            <p:cNvCxnSpPr>
              <a:cxnSpLocks/>
            </p:cNvCxnSpPr>
            <p:nvPr/>
          </p:nvCxnSpPr>
          <p:spPr>
            <a:xfrm rot="16200000" flipH="1">
              <a:off x="9804388" y="3888338"/>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Oval 20">
              <a:extLst>
                <a:ext uri="{FF2B5EF4-FFF2-40B4-BE49-F238E27FC236}">
                  <a16:creationId xmlns:a16="http://schemas.microsoft.com/office/drawing/2014/main" id="{DFB8C1BA-B267-24B9-2CF7-CB64B08521A6}"/>
                </a:ext>
              </a:extLst>
            </p:cNvPr>
            <p:cNvSpPr/>
            <p:nvPr/>
          </p:nvSpPr>
          <p:spPr>
            <a:xfrm rot="19251957">
              <a:off x="10490860" y="510038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055FA08A-EC6E-977D-958C-47C7DEB19E6F}"/>
                </a:ext>
              </a:extLst>
            </p:cNvPr>
            <p:cNvSpPr/>
            <p:nvPr/>
          </p:nvSpPr>
          <p:spPr>
            <a:xfrm rot="19251957">
              <a:off x="10630895" y="467957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024A6D94-5573-1ADF-F505-DE63F7BB83F0}"/>
                </a:ext>
              </a:extLst>
            </p:cNvPr>
            <p:cNvSpPr/>
            <p:nvPr/>
          </p:nvSpPr>
          <p:spPr>
            <a:xfrm rot="19251957">
              <a:off x="10037961" y="4892592"/>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785BBDB5-6210-F960-1CA2-15EEC4A7ED4B}"/>
                </a:ext>
              </a:extLst>
            </p:cNvPr>
            <p:cNvSpPr/>
            <p:nvPr/>
          </p:nvSpPr>
          <p:spPr>
            <a:xfrm rot="19251957">
              <a:off x="9970227" y="5296104"/>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34" name="Connector: Elbow 33">
              <a:extLst>
                <a:ext uri="{FF2B5EF4-FFF2-40B4-BE49-F238E27FC236}">
                  <a16:creationId xmlns:a16="http://schemas.microsoft.com/office/drawing/2014/main" id="{50585B16-078E-5A38-2C40-D1CD6950872D}"/>
                </a:ext>
              </a:extLst>
            </p:cNvPr>
            <p:cNvCxnSpPr>
              <a:cxnSpLocks/>
            </p:cNvCxnSpPr>
            <p:nvPr/>
          </p:nvCxnSpPr>
          <p:spPr>
            <a:xfrm>
              <a:off x="9496300" y="6134055"/>
              <a:ext cx="531594" cy="336215"/>
            </a:xfrm>
            <a:prstGeom prst="bentConnector3">
              <a:avLst>
                <a:gd name="adj1" fmla="val 626"/>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FBF415ED-8231-9E65-599C-879D5DDF20C4}"/>
                </a:ext>
              </a:extLst>
            </p:cNvPr>
            <p:cNvCxnSpPr>
              <a:cxnSpLocks/>
            </p:cNvCxnSpPr>
            <p:nvPr/>
          </p:nvCxnSpPr>
          <p:spPr>
            <a:xfrm flipV="1">
              <a:off x="9505523" y="5026779"/>
              <a:ext cx="835807" cy="142356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4" name="Straight Arrow Connector 53">
              <a:extLst>
                <a:ext uri="{FF2B5EF4-FFF2-40B4-BE49-F238E27FC236}">
                  <a16:creationId xmlns:a16="http://schemas.microsoft.com/office/drawing/2014/main" id="{DC1176B5-A3A4-09D7-ED31-D0104CBD2FB9}"/>
                </a:ext>
              </a:extLst>
            </p:cNvPr>
            <p:cNvCxnSpPr>
              <a:cxnSpLocks/>
              <a:endCxn id="24" idx="0"/>
            </p:cNvCxnSpPr>
            <p:nvPr/>
          </p:nvCxnSpPr>
          <p:spPr>
            <a:xfrm flipV="1">
              <a:off x="10347442" y="4689082"/>
              <a:ext cx="331032" cy="34231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7" name="Straight Arrow Connector 56">
              <a:extLst>
                <a:ext uri="{FF2B5EF4-FFF2-40B4-BE49-F238E27FC236}">
                  <a16:creationId xmlns:a16="http://schemas.microsoft.com/office/drawing/2014/main" id="{B9028A0C-148D-0294-E41D-E71A28F4B2AB}"/>
                </a:ext>
              </a:extLst>
            </p:cNvPr>
            <p:cNvCxnSpPr>
              <a:cxnSpLocks/>
            </p:cNvCxnSpPr>
            <p:nvPr/>
          </p:nvCxnSpPr>
          <p:spPr>
            <a:xfrm flipV="1">
              <a:off x="9517383" y="4743417"/>
              <a:ext cx="1170341" cy="1698446"/>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670C0AB-244A-7773-E2BD-E2906DDE2EF5}"/>
                    </a:ext>
                  </a:extLst>
                </p:cNvPr>
                <p:cNvSpPr txBox="1"/>
                <p:nvPr/>
              </p:nvSpPr>
              <p:spPr>
                <a:xfrm>
                  <a:off x="9607386" y="5574026"/>
                  <a:ext cx="207495"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en-US" sz="1000" i="1" dirty="0" smtClean="0">
                            <a:latin typeface="Cambria Math" panose="02040503050406030204" pitchFamily="18" charset="0"/>
                          </a:rPr>
                          <m:t>𝑟</m:t>
                        </m:r>
                      </m:oMath>
                    </m:oMathPara>
                  </a14:m>
                  <a:endParaRPr/>
                </a:p>
              </p:txBody>
            </p:sp>
          </mc:Choice>
          <mc:Fallback xmlns="">
            <p:sp>
              <p:nvSpPr>
                <p:cNvPr id="63" name="TextBox 62">
                  <a:extLst>
                    <a:ext uri="{FF2B5EF4-FFF2-40B4-BE49-F238E27FC236}">
                      <a16:creationId xmlns:a16="http://schemas.microsoft.com/office/drawing/2014/main" id="{4670C0AB-244A-7773-E2BD-E2906DDE2EF5}"/>
                    </a:ext>
                  </a:extLst>
                </p:cNvPr>
                <p:cNvSpPr txBox="1">
                  <a:spLocks noRot="1" noChangeAspect="1" noMove="1" noResize="1" noEditPoints="1" noAdjustHandles="1" noChangeArrowheads="1" noChangeShapeType="1" noTextEdit="1"/>
                </p:cNvSpPr>
                <p:nvPr/>
              </p:nvSpPr>
              <p:spPr>
                <a:xfrm>
                  <a:off x="9607386" y="5574026"/>
                  <a:ext cx="207495" cy="246221"/>
                </a:xfrm>
                <a:prstGeom prst="rect">
                  <a:avLst/>
                </a:prstGeom>
                <a:blipFill>
                  <a:blip r:embed="rId8"/>
                  <a:stretch>
                    <a:fillRect r="-22222" b="-9302"/>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77D2373E-103B-B45E-C38F-1C48EC0DC277}"/>
                    </a:ext>
                  </a:extLst>
                </p:cNvPr>
                <p:cNvSpPr txBox="1"/>
                <p:nvPr/>
              </p:nvSpPr>
              <p:spPr>
                <a:xfrm>
                  <a:off x="10114780" y="4574133"/>
                  <a:ext cx="381293"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ar-AE" sz="1000" i="1" dirty="0" smtClean="0">
                            <a:solidFill>
                              <a:schemeClr val="tx1"/>
                            </a:solidFill>
                            <a:latin typeface="Cambria Math" panose="02040503050406030204" pitchFamily="18" charset="0"/>
                          </a:rPr>
                          <m:t>𝑟</m:t>
                        </m:r>
                        <m:r>
                          <a:rPr lang="ar-AE" sz="1000" b="0" i="1" dirty="0" smtClean="0">
                            <a:solidFill>
                              <a:schemeClr val="tx1"/>
                            </a:solidFill>
                            <a:latin typeface="Cambria Math" panose="02040503050406030204" pitchFamily="18" charset="0"/>
                          </a:rPr>
                          <m:t>ℎ</m:t>
                        </m:r>
                        <m:sSub>
                          <m:sSubPr>
                            <m:ctrlPr>
                              <a:rPr lang="ar-AE" sz="1000" b="0" i="1" dirty="0" smtClean="0">
                                <a:solidFill>
                                  <a:schemeClr val="tx1"/>
                                </a:solidFill>
                                <a:latin typeface="Cambria Math" panose="02040503050406030204" pitchFamily="18" charset="0"/>
                              </a:rPr>
                            </m:ctrlPr>
                          </m:sSubPr>
                          <m:e>
                            <m:r>
                              <a:rPr lang="ar-AE" sz="1000" b="0" i="1" dirty="0" smtClean="0">
                                <a:solidFill>
                                  <a:schemeClr val="tx1"/>
                                </a:solidFill>
                                <a:latin typeface="Cambria Math" panose="02040503050406030204" pitchFamily="18" charset="0"/>
                              </a:rPr>
                              <m:t>𝑜</m:t>
                            </m:r>
                          </m:e>
                          <m:sub>
                            <m:r>
                              <a:rPr lang="ar-AE" sz="1000" b="0" i="1" dirty="0" smtClean="0">
                                <a:solidFill>
                                  <a:schemeClr val="tx1"/>
                                </a:solidFill>
                                <a:latin typeface="Cambria Math" panose="02040503050406030204" pitchFamily="18" charset="0"/>
                              </a:rPr>
                              <m:t>𝑖</m:t>
                            </m:r>
                          </m:sub>
                        </m:sSub>
                      </m:oMath>
                    </m:oMathPara>
                  </a14:m>
                  <a:endParaRPr lang="ar-AE" sz="1000" dirty="0">
                    <a:solidFill>
                      <a:schemeClr val="tx1"/>
                    </a:solidFill>
                  </a:endParaRPr>
                </a:p>
              </p:txBody>
            </p:sp>
          </mc:Choice>
          <mc:Fallback xmlns="">
            <p:sp>
              <p:nvSpPr>
                <p:cNvPr id="65" name="TextBox 64">
                  <a:extLst>
                    <a:ext uri="{FF2B5EF4-FFF2-40B4-BE49-F238E27FC236}">
                      <a16:creationId xmlns:a16="http://schemas.microsoft.com/office/drawing/2014/main" id="{77D2373E-103B-B45E-C38F-1C48EC0DC277}"/>
                    </a:ext>
                  </a:extLst>
                </p:cNvPr>
                <p:cNvSpPr txBox="1">
                  <a:spLocks noRot="1" noChangeAspect="1" noMove="1" noResize="1" noEditPoints="1" noAdjustHandles="1" noChangeArrowheads="1" noChangeShapeType="1" noTextEdit="1"/>
                </p:cNvSpPr>
                <p:nvPr/>
              </p:nvSpPr>
              <p:spPr>
                <a:xfrm>
                  <a:off x="10114780" y="4574133"/>
                  <a:ext cx="381293" cy="246221"/>
                </a:xfrm>
                <a:prstGeom prst="rect">
                  <a:avLst/>
                </a:prstGeom>
                <a:blipFill>
                  <a:blip r:embed="rId9"/>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B33EC3A-D1C3-3847-81B7-EB18083EA373}"/>
                    </a:ext>
                  </a:extLst>
                </p:cNvPr>
                <p:cNvSpPr txBox="1"/>
                <p:nvPr/>
              </p:nvSpPr>
              <p:spPr>
                <a:xfrm>
                  <a:off x="10169694" y="5659553"/>
                  <a:ext cx="269749"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𝑡</m:t>
                            </m:r>
                          </m:e>
                          <m:sub>
                            <m:r>
                              <a:rPr lang="en-US" sz="1000" b="0" i="1" smtClean="0">
                                <a:latin typeface="Cambria Math" panose="02040503050406030204" pitchFamily="18" charset="0"/>
                              </a:rPr>
                              <m:t>𝑖</m:t>
                            </m:r>
                          </m:sub>
                        </m:sSub>
                      </m:oMath>
                    </m:oMathPara>
                  </a14:m>
                  <a:endParaRPr sz="1000" dirty="0"/>
                </a:p>
              </p:txBody>
            </p:sp>
          </mc:Choice>
          <mc:Fallback xmlns="">
            <p:sp>
              <p:nvSpPr>
                <p:cNvPr id="69" name="TextBox 68">
                  <a:extLst>
                    <a:ext uri="{FF2B5EF4-FFF2-40B4-BE49-F238E27FC236}">
                      <a16:creationId xmlns:a16="http://schemas.microsoft.com/office/drawing/2014/main" id="{8B33EC3A-D1C3-3847-81B7-EB18083EA373}"/>
                    </a:ext>
                  </a:extLst>
                </p:cNvPr>
                <p:cNvSpPr txBox="1">
                  <a:spLocks noRot="1" noChangeAspect="1" noMove="1" noResize="1" noEditPoints="1" noAdjustHandles="1" noChangeArrowheads="1" noChangeShapeType="1" noTextEdit="1"/>
                </p:cNvSpPr>
                <p:nvPr/>
              </p:nvSpPr>
              <p:spPr>
                <a:xfrm>
                  <a:off x="10169694" y="5659553"/>
                  <a:ext cx="269749" cy="246221"/>
                </a:xfrm>
                <a:prstGeom prst="rect">
                  <a:avLst/>
                </a:prstGeom>
                <a:blipFill>
                  <a:blip r:embed="rId10"/>
                  <a:stretch>
                    <a:fillRect/>
                  </a:stretch>
                </a:blipFill>
                <a:ln>
                  <a:solidFill>
                    <a:schemeClr val="tx1"/>
                  </a:solidFill>
                </a:ln>
              </p:spPr>
              <p:txBody>
                <a:bodyPr/>
                <a:lstStyle/>
                <a:p>
                  <a:r>
                    <a:rPr lang="en-IN">
                      <a:noFill/>
                    </a:rPr>
                    <a:t> </a:t>
                  </a:r>
                </a:p>
              </p:txBody>
            </p:sp>
          </mc:Fallback>
        </mc:AlternateContent>
      </p:grpSp>
    </p:spTree>
    <p:extLst>
      <p:ext uri="{BB962C8B-B14F-4D97-AF65-F5344CB8AC3E}">
        <p14:creationId xmlns:p14="http://schemas.microsoft.com/office/powerpoint/2010/main" val="54724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9207C-BE26-7CDD-A069-AAD1FC5688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7DE0C2-5D35-A271-EA42-47FA7C213480}"/>
              </a:ext>
            </a:extLst>
          </p:cNvPr>
          <p:cNvSpPr txBox="1"/>
          <p:nvPr/>
        </p:nvSpPr>
        <p:spPr>
          <a:xfrm>
            <a:off x="833120" y="370435"/>
            <a:ext cx="6237413"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point moment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F83E57F3-F3B5-4065-33A7-0974FAC1E74B}"/>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9F45BC2-1875-2C0A-5AA4-DACFED86790A}"/>
                  </a:ext>
                </a:extLst>
              </p:cNvPr>
              <p:cNvSpPr txBox="1"/>
              <p:nvPr/>
            </p:nvSpPr>
            <p:spPr>
              <a:xfrm>
                <a:off x="5650150" y="1123786"/>
                <a:ext cx="3280257" cy="4362348"/>
              </a:xfrm>
              <a:prstGeom prst="rect">
                <a:avLst/>
              </a:prstGeom>
              <a:noFill/>
            </p:spPr>
            <p:txBody>
              <a:bodyPr wrap="none">
                <a:spAutoFit/>
              </a:bodyPr>
              <a:lstStyle/>
              <a:p>
                <a:pPr>
                  <a:defRPr sz="2000">
                    <a:solidFill>
                      <a:srgbClr val="142237"/>
                    </a:solidFill>
                  </a:defRPr>
                </a:pPr>
                <a:r>
                  <a:rPr lang="en-US" sz="16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60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𝑣</m:t>
                      </m:r>
                      <m:r>
                        <a:rPr lang="en-US" sz="1600" i="1" dirty="0" smtClean="0">
                          <a:latin typeface="Cambria Math" panose="02040503050406030204" pitchFamily="18" charset="0"/>
                          <a:ea typeface="Cambria Math" panose="02040503050406030204" pitchFamily="18" charset="0"/>
                        </a:rPr>
                        <m:t> =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en-US" sz="1600" b="0" i="1" dirty="0" smtClean="0">
                                  <a:latin typeface="Cambria Math" panose="02040503050406030204" pitchFamily="18" charset="0"/>
                                  <a:ea typeface="Cambria Math" panose="02040503050406030204" pitchFamily="18" charset="0"/>
                                </a:rPr>
                                <m:t>𝑠𝑒</m:t>
                              </m:r>
                            </m:sub>
                            <m:sup>
                              <m:r>
                                <a:rPr lang="en-US" sz="1600" b="0" i="1" dirty="0" smtClean="0">
                                  <a:latin typeface="Cambria Math" panose="02040503050406030204" pitchFamily="18" charset="0"/>
                                  <a:ea typeface="Cambria Math" panose="02040503050406030204" pitchFamily="18" charset="0"/>
                                </a:rPr>
                                <m:t>−1</m:t>
                              </m:r>
                            </m:sup>
                          </m:sSubSup>
                          <m:r>
                            <a:rPr lang="en-US" sz="1600" b="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b="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𝑛</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𝑣</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600" b="0" i="1" dirty="0" smtClean="0">
                          <a:latin typeface="Cambria Math" panose="02040503050406030204" pitchFamily="18" charset="0"/>
                          <a:ea typeface="Cambria Math" panose="02040503050406030204" pitchFamily="18" charset="0"/>
                        </a:rPr>
                        <m:t>𝑢</m:t>
                      </m:r>
                      <m:r>
                        <a:rPr lang="pt-BR" sz="1600" i="1" dirty="0" smtClean="0">
                          <a:latin typeface="Cambria Math" panose="02040503050406030204" pitchFamily="18" charset="0"/>
                          <a:ea typeface="Cambria Math" panose="02040503050406030204" pitchFamily="18" charset="0"/>
                        </a:rPr>
                        <m:t>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pt-BR" sz="1600" i="1" dirty="0" smtClean="0">
                                  <a:latin typeface="Cambria Math" panose="02040503050406030204" pitchFamily="18" charset="0"/>
                                  <a:ea typeface="Cambria Math" panose="02040503050406030204" pitchFamily="18" charset="0"/>
                                </a:rPr>
                                <m:t>𝑏</m:t>
                              </m:r>
                              <m:r>
                                <a:rPr lang="en-US" sz="1600" b="0" i="1" dirty="0" smtClean="0">
                                  <a:latin typeface="Cambria Math" panose="02040503050406030204" pitchFamily="18" charset="0"/>
                                  <a:ea typeface="Cambria Math" panose="02040503050406030204" pitchFamily="18" charset="0"/>
                                </a:rPr>
                                <m:t>𝑡</m:t>
                              </m:r>
                            </m:sub>
                            <m:sup>
                              <m:r>
                                <a:rPr lang="en-US" sz="1600" i="1" dirty="0" smtClean="0">
                                  <a:latin typeface="Cambria Math" panose="02040503050406030204" pitchFamily="18" charset="0"/>
                                  <a:ea typeface="Cambria Math" panose="02040503050406030204" pitchFamily="18" charset="0"/>
                                </a:rPr>
                                <m:t>−1</m:t>
                              </m:r>
                            </m:sup>
                          </m:sSubSup>
                          <m:r>
                            <a:rPr lang="en-US" sz="160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𝑚</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𝑠𝑒</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d>
                        <m:dPr>
                          <m:ctrlPr>
                            <a:rPr lang="en-IN" sz="1600" i="1" dirty="0" smtClean="0">
                              <a:latin typeface="Cambria Math" panose="02040503050406030204" pitchFamily="18" charset="0"/>
                              <a:ea typeface="Cambria Math" panose="02040503050406030204" pitchFamily="18" charset="0"/>
                            </a:rPr>
                          </m:ctrlPr>
                        </m:dPr>
                        <m:e>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𝑏𝑡</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r>
                        <a:rPr lang="en-IN" sz="160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𝐸𝐼</m:t>
                      </m:r>
                      <m:r>
                        <a:rPr lang="en-IN" sz="1600" i="1" dirty="0" smtClean="0">
                          <a:latin typeface="Cambria Math" panose="02040503050406030204" pitchFamily="18" charset="0"/>
                          <a:ea typeface="Cambria Math" panose="02040503050406030204" pitchFamily="18" charset="0"/>
                        </a:rPr>
                        <m:t>ₓₓ, </m:t>
                      </m:r>
                      <m:r>
                        <a:rPr lang="en-IN" sz="1600" i="1" dirty="0" smtClean="0">
                          <a:latin typeface="Cambria Math" panose="02040503050406030204" pitchFamily="18" charset="0"/>
                          <a:ea typeface="Cambria Math" panose="02040503050406030204" pitchFamily="18" charset="0"/>
                        </a:rPr>
                        <m:t>𝐸𝐼</m:t>
                      </m:r>
                      <m:r>
                        <a:rPr lang="el-GR" sz="1600" i="1" dirty="0" smtClean="0">
                          <a:latin typeface="Cambria Math" panose="02040503050406030204" pitchFamily="18" charset="0"/>
                          <a:ea typeface="Cambria Math" panose="02040503050406030204" pitchFamily="18" charset="0"/>
                        </a:rPr>
                        <m:t>ᵧᵧ, </m:t>
                      </m:r>
                      <m:r>
                        <a:rPr lang="el-GR" sz="1600" i="1" dirty="0" smtClean="0">
                          <a:latin typeface="Cambria Math" panose="02040503050406030204" pitchFamily="18" charset="0"/>
                          <a:ea typeface="Cambria Math" panose="02040503050406030204" pitchFamily="18" charset="0"/>
                        </a:rPr>
                        <m:t>𝐸</m:t>
                      </m:r>
                      <m:sSub>
                        <m:sSubPr>
                          <m:ctrlPr>
                            <a:rPr lang="el-GR" sz="1600" i="1" dirty="0" smtClean="0">
                              <a:latin typeface="Cambria Math" panose="02040503050406030204" pitchFamily="18" charset="0"/>
                              <a:ea typeface="Cambria Math" panose="02040503050406030204" pitchFamily="18" charset="0"/>
                            </a:rPr>
                          </m:ctrlPr>
                        </m:sSubPr>
                        <m:e>
                          <m:r>
                            <a:rPr lang="el-GR" sz="1600" i="1" dirty="0" smtClean="0">
                              <a:latin typeface="Cambria Math" panose="02040503050406030204" pitchFamily="18" charset="0"/>
                              <a:ea typeface="Cambria Math" panose="02040503050406030204" pitchFamily="18" charset="0"/>
                            </a:rPr>
                            <m:t>𝐼</m:t>
                          </m:r>
                        </m:e>
                        <m:sub>
                          <m:r>
                            <a:rPr lang="el-GR" sz="1600" i="1" dirty="0" smtClean="0">
                              <a:latin typeface="Cambria Math" panose="02040503050406030204" pitchFamily="18" charset="0"/>
                              <a:ea typeface="Cambria Math" panose="02040503050406030204" pitchFamily="18" charset="0"/>
                            </a:rPr>
                            <m:t>𝑧𝑧</m:t>
                          </m:r>
                        </m:sub>
                      </m:sSub>
                      <m:r>
                        <a:rPr lang="el-GR"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i="1" dirty="0">
                    <a:latin typeface="Cambria Math" panose="02040503050406030204" pitchFamily="18" charset="0"/>
                    <a:ea typeface="Cambria Math" panose="02040503050406030204" pitchFamily="18" charset="0"/>
                  </a:rPr>
                  <a:t>3) Governing equations</a:t>
                </a: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IN" sz="1600" i="1" dirty="0" smtClean="0">
                            <a:latin typeface="Cambria Math" panose="02040503050406030204" pitchFamily="18" charset="0"/>
                            <a:ea typeface="Cambria Math" panose="02040503050406030204" pitchFamily="18" charset="0"/>
                          </a:rPr>
                          <m:t>𝑡</m:t>
                        </m:r>
                      </m:sub>
                    </m:sSub>
                    <m:r>
                      <a:rPr lang="en-IN"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𝑅𝑞</m:t>
                    </m:r>
                  </m:oMath>
                </a14:m>
                <a:r>
                  <a:rPr lang="en-US" sz="1600"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𝑅</m:t>
                        </m:r>
                      </m:e>
                      <m:sub>
                        <m:r>
                          <a:rPr lang="en-IN"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𝑅</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𝑊𝑥</m:t>
                        </m:r>
                      </m:e>
                    </m:d>
                  </m:oMath>
                </a14:m>
                <a:r>
                  <a:rPr lang="en-US" sz="1600" i="1" dirty="0">
                    <a:latin typeface="Cambria Math" panose="02040503050406030204" pitchFamily="18" charset="0"/>
                    <a:ea typeface="Cambria Math" panose="02040503050406030204" pitchFamily="18" charset="0"/>
                  </a:rPr>
                  <a:t>,</a:t>
                </a:r>
              </a:p>
              <a:p>
                <a:pPr algn="ctr">
                  <a:defRPr sz="2000">
                    <a:solidFill>
                      <a:srgbClr val="142237"/>
                    </a:solidFill>
                  </a:defRPr>
                </a:pPr>
                <a14:m>
                  <m:oMathPara xmlns:m="http://schemas.openxmlformats.org/officeDocument/2006/math">
                    <m:oMath>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𝑟</m:t>
                          </m:r>
                        </m:e>
                        <m:sub>
                          <m:r>
                            <a:rPr lang="en-US" sz="1600" i="1" dirty="0" smtClean="0">
                              <a:solidFill>
                                <a:schemeClr val="tx1"/>
                              </a:solidFill>
                              <a:latin typeface="Cambria Math" panose="02040503050406030204" pitchFamily="18" charset="0"/>
                              <a:ea typeface="Cambria Math" panose="02040503050406030204" pitchFamily="18" charset="0"/>
                            </a:rPr>
                            <m:t>𝑡𝑡</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m:t>
                      </m:r>
                      <m:d>
                        <m:dPr>
                          <m:ctrlPr>
                            <a:rPr lang="en-US" sz="1600" i="1" dirty="0" smtClean="0">
                              <a:latin typeface="Cambria Math" panose="02040503050406030204" pitchFamily="18" charset="0"/>
                              <a:ea typeface="Cambria Math" panose="02040503050406030204" pitchFamily="18" charset="0"/>
                            </a:rPr>
                          </m:ctrlPr>
                        </m:dPr>
                        <m:e>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𝑞</m:t>
                              </m:r>
                            </m:e>
                            <m:sub>
                              <m:r>
                                <a:rPr lang="en-US" sz="1600" i="1" dirty="0" smtClean="0">
                                  <a:latin typeface="Cambria Math" panose="02040503050406030204" pitchFamily="18" charset="0"/>
                                  <a:ea typeface="Cambria Math" panose="02040503050406030204" pitchFamily="18" charset="0"/>
                                </a:rPr>
                                <m:t>𝑡</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𝑤</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𝑞</m:t>
                          </m:r>
                        </m:e>
                      </m:d>
                      <m:r>
                        <a:rPr lang="en-US" sz="1600" b="0" i="1" dirty="0" smtClean="0">
                          <a:latin typeface="Cambria Math" panose="02040503050406030204" pitchFamily="18" charset="0"/>
                          <a:ea typeface="Cambria Math" panose="02040503050406030204" pitchFamily="18" charset="0"/>
                        </a:rPr>
                        <m:t>,</m:t>
                      </m:r>
                    </m:oMath>
                  </m:oMathPara>
                </a14:m>
                <a:endParaRPr lang="en-US" sz="1600" b="0" i="1" dirty="0">
                  <a:latin typeface="Cambria Math" panose="02040503050406030204" pitchFamily="18" charset="0"/>
                  <a:ea typeface="Cambria Math" panose="02040503050406030204" pitchFamily="18" charset="0"/>
                </a:endParaRPr>
              </a:p>
              <a:p>
                <a:pPr algn="ctr">
                  <a:defRPr sz="2000">
                    <a:solidFill>
                      <a:srgbClr val="142237"/>
                    </a:solidFill>
                  </a:defRPr>
                </a:pPr>
                <a:endParaRPr lang="en-IN" dirty="0"/>
              </a:p>
              <a:p>
                <a:pPr algn="ct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𝑅𝑣</m:t>
                      </m:r>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𝑅</m:t>
                          </m:r>
                        </m:e>
                        <m:sub>
                          <m:r>
                            <a:rPr lang="en-US" sz="1600" i="1" dirty="0" smtClean="0">
                              <a:latin typeface="Cambria Math" panose="02040503050406030204" pitchFamily="18" charset="0"/>
                              <a:ea typeface="Cambria Math" panose="02040503050406030204" pitchFamily="18" charset="0"/>
                            </a:rPr>
                            <m:t>𝑠</m:t>
                          </m:r>
                        </m:sub>
                      </m:sSub>
                      <m:r>
                        <a:rPr lang="en-IN" sz="160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𝑅</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b="0" i="1" dirty="0" smtClean="0">
                          <a:latin typeface="Cambria Math" panose="02040503050406030204" pitchFamily="18" charset="0"/>
                          <a:ea typeface="Cambria Math" panose="02040503050406030204" pitchFamily="18" charset="0"/>
                        </a:rPr>
                        <m:t>,</m:t>
                      </m:r>
                    </m:oMath>
                  </m:oMathPara>
                </a14:m>
                <a:endParaRPr lang="en-US" sz="1600" b="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𝑟</m:t>
                        </m:r>
                      </m:e>
                      <m: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𝑡𝑡</m:t>
                        </m:r>
                      </m:sub>
                    </m:sSub>
                  </m:oMath>
                </a14:m>
                <a:r>
                  <a:rPr lang="en-IN" sz="1600" i="1" dirty="0">
                    <a:latin typeface="Cambria Math" panose="02040503050406030204" pitchFamily="18" charset="0"/>
                    <a:ea typeface="Cambria Math" panose="02040503050406030204" pitchFamily="18" charset="0"/>
                  </a:rPr>
                  <a:t>,</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𝑇</m:t>
                      </m:r>
                      <m:sSub>
                        <m:sSub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𝑤</m:t>
                          </m:r>
                        </m:e>
                        <m: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𝑡</m:t>
                          </m:r>
                        </m:sub>
                      </m:s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𝑤</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𝑥</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 </m:t>
                      </m:r>
                      <m:d>
                        <m:d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d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𝐽𝑤</m:t>
                          </m:r>
                        </m:e>
                      </m:d>
                    </m:oMath>
                  </m:oMathPara>
                </a14:m>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𝑤</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𝑢</m:t>
                          </m:r>
                        </m:e>
                        <m:sub>
                          <m:r>
                            <a:rPr lang="en-US"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 –</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𝑤</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𝑞</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𝑣</m:t>
                          </m:r>
                        </m:e>
                        <m:sub>
                          <m:r>
                            <a:rPr lang="en-US"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𝑞</m:t>
                      </m:r>
                      <m:r>
                        <a:rPr lang="en-US" sz="1600" i="1" dirty="0" smtClean="0">
                          <a:latin typeface="Cambria Math" panose="02040503050406030204" pitchFamily="18" charset="0"/>
                          <a:ea typeface="Cambria Math" panose="02040503050406030204" pitchFamily="18" charset="0"/>
                        </a:rPr>
                        <m:t>+</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𝑊𝑥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𝑣</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9F45BC2-1875-2C0A-5AA4-DACFED86790A}"/>
                  </a:ext>
                </a:extLst>
              </p:cNvPr>
              <p:cNvSpPr txBox="1">
                <a:spLocks noRot="1" noChangeAspect="1" noMove="1" noResize="1" noEditPoints="1" noAdjustHandles="1" noChangeArrowheads="1" noChangeShapeType="1" noTextEdit="1"/>
              </p:cNvSpPr>
              <p:nvPr/>
            </p:nvSpPr>
            <p:spPr>
              <a:xfrm>
                <a:off x="5650150" y="1123786"/>
                <a:ext cx="3280257" cy="4362348"/>
              </a:xfrm>
              <a:prstGeom prst="rect">
                <a:avLst/>
              </a:prstGeom>
              <a:blipFill>
                <a:blip r:embed="rId2"/>
                <a:stretch>
                  <a:fillRect l="-1115" t="-5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743DCB-6D69-32E4-6BBD-799CE2275BBE}"/>
                  </a:ext>
                </a:extLst>
              </p:cNvPr>
              <p:cNvSpPr txBox="1"/>
              <p:nvPr/>
            </p:nvSpPr>
            <p:spPr>
              <a:xfrm>
                <a:off x="5246144" y="6131340"/>
                <a:ext cx="6096000" cy="280590"/>
              </a:xfrm>
              <a:prstGeom prst="rect">
                <a:avLst/>
              </a:prstGeom>
              <a:noFill/>
            </p:spPr>
            <p:txBody>
              <a:bodyPr wrap="square">
                <a:spAutoFit/>
              </a:bodyPr>
              <a:lstStyle/>
              <a:p>
                <a:r>
                  <a:rPr lang="en-IN" sz="1200" dirty="0">
                    <a:latin typeface="Cambria Math" panose="02040503050406030204" pitchFamily="18" charset="0"/>
                    <a:ea typeface="Cambria Math" panose="02040503050406030204" pitchFamily="18" charset="0"/>
                  </a:rPr>
                  <a:t>For a straight undeformed rod: </a:t>
                </a:r>
                <a14:m>
                  <m:oMath xmlns:m="http://schemas.openxmlformats.org/officeDocument/2006/math">
                    <m:sSup>
                      <m:sSupPr>
                        <m:ctrlPr>
                          <a:rPr lang="en-US" sz="1200" b="0" i="0" dirty="0" smtClean="0">
                            <a:latin typeface="Cambria Math" panose="02040503050406030204" pitchFamily="18" charset="0"/>
                            <a:ea typeface="Cambria Math" panose="02040503050406030204" pitchFamily="18" charset="0"/>
                          </a:rPr>
                        </m:ctrlPr>
                      </m:sSupPr>
                      <m:e>
                        <m:r>
                          <m:rPr>
                            <m:sty m:val="p"/>
                          </m:rPr>
                          <a:rPr lang="en-US" sz="1200" b="0" i="0" dirty="0" smtClean="0">
                            <a:latin typeface="Cambria Math" panose="02040503050406030204" pitchFamily="18" charset="0"/>
                            <a:ea typeface="Cambria Math" panose="02040503050406030204" pitchFamily="18" charset="0"/>
                          </a:rPr>
                          <m:t>u</m:t>
                        </m:r>
                      </m:e>
                      <m:sup>
                        <m:r>
                          <a:rPr lang="en-US" sz="1200" b="0" i="0" dirty="0" smtClean="0">
                            <a:latin typeface="Cambria Math" panose="02040503050406030204" pitchFamily="18" charset="0"/>
                            <a:ea typeface="Cambria Math" panose="02040503050406030204" pitchFamily="18" charset="0"/>
                          </a:rPr>
                          <m:t>∗</m:t>
                        </m:r>
                      </m:sup>
                    </m:sSup>
                    <m:r>
                      <a:rPr lang="el-GR" sz="1200" i="0" dirty="0" smtClean="0">
                        <a:latin typeface="Cambria Math" panose="02040503050406030204" pitchFamily="18" charset="0"/>
                        <a:ea typeface="Cambria Math" panose="02040503050406030204" pitchFamily="18" charset="0"/>
                      </a:rPr>
                      <m:t> </m:t>
                    </m:r>
                    <m:r>
                      <a:rPr lang="el-GR" sz="1200" i="0" dirty="0">
                        <a:latin typeface="Cambria Math" panose="02040503050406030204" pitchFamily="18" charset="0"/>
                        <a:ea typeface="Cambria Math" panose="02040503050406030204" pitchFamily="18" charset="0"/>
                      </a:rPr>
                      <m:t>= </m:t>
                    </m:r>
                    <m:sSup>
                      <m:sSupPr>
                        <m:ctrlPr>
                          <a:rPr lang="el-GR" sz="1200" i="1" dirty="0" smtClean="0">
                            <a:latin typeface="Cambria Math" panose="02040503050406030204" pitchFamily="18" charset="0"/>
                            <a:ea typeface="Cambria Math" panose="02040503050406030204" pitchFamily="18" charset="0"/>
                          </a:rPr>
                        </m:ctrlPr>
                      </m:sSupPr>
                      <m:e>
                        <m:d>
                          <m:dPr>
                            <m:begChr m:val="["/>
                            <m:endChr m:val="]"/>
                            <m:ctrlPr>
                              <a:rPr lang="el-GR" sz="1200" i="0" dirty="0" smtClean="0">
                                <a:latin typeface="Cambria Math" panose="02040503050406030204" pitchFamily="18" charset="0"/>
                                <a:ea typeface="Cambria Math" panose="02040503050406030204" pitchFamily="18" charset="0"/>
                              </a:rPr>
                            </m:ctrlPr>
                          </m:dPr>
                          <m:e>
                            <m:r>
                              <a:rPr lang="el-GR" sz="1200" i="0" dirty="0" smtClean="0">
                                <a:latin typeface="Cambria Math" panose="02040503050406030204" pitchFamily="18" charset="0"/>
                                <a:ea typeface="Cambria Math" panose="02040503050406030204" pitchFamily="18" charset="0"/>
                              </a:rPr>
                              <m:t>0,0,0</m:t>
                            </m:r>
                          </m:e>
                        </m:d>
                      </m:e>
                      <m:sup>
                        <m:r>
                          <m:rPr>
                            <m:sty m:val="p"/>
                          </m:rPr>
                          <a:rPr lang="en-US" sz="1200" i="0" dirty="0" smtClean="0">
                            <a:latin typeface="Cambria Math" panose="02040503050406030204" pitchFamily="18" charset="0"/>
                            <a:ea typeface="Cambria Math" panose="02040503050406030204" pitchFamily="18" charset="0"/>
                          </a:rPr>
                          <m:t>T</m:t>
                        </m:r>
                      </m:sup>
                    </m:sSup>
                    <m:r>
                      <a:rPr lang="en-US" sz="1200" b="0" i="0" dirty="0" smtClean="0">
                        <a:latin typeface="Cambria Math" panose="02040503050406030204" pitchFamily="18" charset="0"/>
                        <a:ea typeface="Cambria Math" panose="02040503050406030204" pitchFamily="18" charset="0"/>
                      </a:rPr>
                      <m:t>,</m:t>
                    </m:r>
                    <m:r>
                      <a:rPr lang="en-US" sz="1200" i="0" dirty="0" smtClean="0">
                        <a:latin typeface="Cambria Math" panose="02040503050406030204" pitchFamily="18" charset="0"/>
                        <a:ea typeface="Cambria Math" panose="02040503050406030204" pitchFamily="18" charset="0"/>
                      </a:rPr>
                      <m:t> </m:t>
                    </m:r>
                    <m:sSup>
                      <m:sSupPr>
                        <m:ctrlPr>
                          <a:rPr lang="en-US" sz="1200" i="0" dirty="0" smtClean="0">
                            <a:latin typeface="Cambria Math" panose="02040503050406030204" pitchFamily="18" charset="0"/>
                            <a:ea typeface="Cambria Math" panose="02040503050406030204" pitchFamily="18" charset="0"/>
                          </a:rPr>
                        </m:ctrlPr>
                      </m:sSupPr>
                      <m:e>
                        <m:r>
                          <m:rPr>
                            <m:sty m:val="p"/>
                          </m:rPr>
                          <a:rPr lang="en-US" sz="1200" i="0" dirty="0" smtClean="0">
                            <a:latin typeface="Cambria Math" panose="02040503050406030204" pitchFamily="18" charset="0"/>
                            <a:ea typeface="Cambria Math" panose="02040503050406030204" pitchFamily="18" charset="0"/>
                          </a:rPr>
                          <m:t>v</m:t>
                        </m:r>
                      </m:e>
                      <m:sup>
                        <m:r>
                          <a:rPr lang="en-US" sz="1200" i="0" dirty="0" smtClean="0">
                            <a:latin typeface="Cambria Math" panose="02040503050406030204" pitchFamily="18" charset="0"/>
                            <a:ea typeface="Cambria Math" panose="02040503050406030204" pitchFamily="18" charset="0"/>
                          </a:rPr>
                          <m:t>∗</m:t>
                        </m:r>
                      </m:sup>
                    </m:sSup>
                    <m:r>
                      <a:rPr lang="en-US" sz="1200" i="0" dirty="0" smtClean="0">
                        <a:latin typeface="Cambria Math" panose="02040503050406030204" pitchFamily="18" charset="0"/>
                        <a:ea typeface="Cambria Math" panose="02040503050406030204" pitchFamily="18" charset="0"/>
                      </a:rPr>
                      <m:t>=[</m:t>
                    </m:r>
                    <m:r>
                      <a:rPr lang="el-GR" sz="1200" i="0" dirty="0" smtClean="0">
                        <a:latin typeface="Cambria Math" panose="02040503050406030204" pitchFamily="18" charset="0"/>
                        <a:ea typeface="Cambria Math" panose="02040503050406030204" pitchFamily="18" charset="0"/>
                      </a:rPr>
                      <m:t>0,0,1</m:t>
                    </m:r>
                    <m:r>
                      <a:rPr lang="el-GR" sz="1200" i="0" dirty="0">
                        <a:latin typeface="Cambria Math" panose="02040503050406030204" pitchFamily="18" charset="0"/>
                        <a:ea typeface="Cambria Math" panose="02040503050406030204" pitchFamily="18" charset="0"/>
                      </a:rPr>
                      <m:t>]</m:t>
                    </m:r>
                    <m:r>
                      <a:rPr lang="en-IN" sz="1200" i="0" dirty="0">
                        <a:latin typeface="Cambria Math" panose="02040503050406030204" pitchFamily="18" charset="0"/>
                        <a:ea typeface="Cambria Math" panose="02040503050406030204" pitchFamily="18" charset="0"/>
                      </a:rPr>
                      <m:t>ᵀ</m:t>
                    </m:r>
                  </m:oMath>
                </a14:m>
                <a:endParaRPr lang="en-IN" sz="1200"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43743DCB-6D69-32E4-6BBD-799CE2275BBE}"/>
                  </a:ext>
                </a:extLst>
              </p:cNvPr>
              <p:cNvSpPr txBox="1">
                <a:spLocks noRot="1" noChangeAspect="1" noMove="1" noResize="1" noEditPoints="1" noAdjustHandles="1" noChangeArrowheads="1" noChangeShapeType="1" noTextEdit="1"/>
              </p:cNvSpPr>
              <p:nvPr/>
            </p:nvSpPr>
            <p:spPr>
              <a:xfrm>
                <a:off x="5246144" y="6131340"/>
                <a:ext cx="6096000" cy="280590"/>
              </a:xfrm>
              <a:prstGeom prst="rect">
                <a:avLst/>
              </a:prstGeom>
              <a:blipFill>
                <a:blip r:embed="rId3"/>
                <a:stretch>
                  <a:fillRect l="-100" b="-17391"/>
                </a:stretch>
              </a:blipFill>
            </p:spPr>
            <p:txBody>
              <a:bodyPr/>
              <a:lstStyle/>
              <a:p>
                <a:r>
                  <a:rPr lang="en-IN">
                    <a:noFill/>
                  </a:rPr>
                  <a:t> </a:t>
                </a:r>
              </a:p>
            </p:txBody>
          </p:sp>
        </mc:Fallback>
      </mc:AlternateContent>
      <p:grpSp>
        <p:nvGrpSpPr>
          <p:cNvPr id="76" name="Group 75">
            <a:extLst>
              <a:ext uri="{FF2B5EF4-FFF2-40B4-BE49-F238E27FC236}">
                <a16:creationId xmlns:a16="http://schemas.microsoft.com/office/drawing/2014/main" id="{0CB66D0D-0150-C144-0E6F-AE9A8E0F1168}"/>
              </a:ext>
            </a:extLst>
          </p:cNvPr>
          <p:cNvGrpSpPr/>
          <p:nvPr/>
        </p:nvGrpSpPr>
        <p:grpSpPr>
          <a:xfrm>
            <a:off x="611805" y="1189740"/>
            <a:ext cx="4714870" cy="5222190"/>
            <a:chOff x="4136574" y="958557"/>
            <a:chExt cx="4714870" cy="5222190"/>
          </a:xfrm>
        </p:grpSpPr>
        <p:sp>
          <p:nvSpPr>
            <p:cNvPr id="51" name="TextBox 50">
              <a:extLst>
                <a:ext uri="{FF2B5EF4-FFF2-40B4-BE49-F238E27FC236}">
                  <a16:creationId xmlns:a16="http://schemas.microsoft.com/office/drawing/2014/main" id="{7D875EA1-EBF4-17E7-A4B1-E1010BADA2FA}"/>
                </a:ext>
              </a:extLst>
            </p:cNvPr>
            <p:cNvSpPr txBox="1"/>
            <p:nvPr/>
          </p:nvSpPr>
          <p:spPr>
            <a:xfrm>
              <a:off x="7312312" y="1606583"/>
              <a:ext cx="402674"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y0</a:t>
              </a:r>
              <a:endParaRPr lang="en-IN" sz="1600" dirty="0">
                <a:latin typeface="Cambria Math" panose="02040503050406030204" pitchFamily="18" charset="0"/>
                <a:ea typeface="Cambria Math" panose="02040503050406030204" pitchFamily="18" charset="0"/>
              </a:endParaRPr>
            </a:p>
          </p:txBody>
        </p:sp>
        <p:grpSp>
          <p:nvGrpSpPr>
            <p:cNvPr id="75" name="Group 74">
              <a:extLst>
                <a:ext uri="{FF2B5EF4-FFF2-40B4-BE49-F238E27FC236}">
                  <a16:creationId xmlns:a16="http://schemas.microsoft.com/office/drawing/2014/main" id="{62D6211A-6297-FF4F-E4CE-DDC93C9FAE50}"/>
                </a:ext>
              </a:extLst>
            </p:cNvPr>
            <p:cNvGrpSpPr/>
            <p:nvPr/>
          </p:nvGrpSpPr>
          <p:grpSpPr>
            <a:xfrm>
              <a:off x="4136574" y="958557"/>
              <a:ext cx="4714870" cy="5222190"/>
              <a:chOff x="4136574" y="958557"/>
              <a:chExt cx="4714870" cy="5222190"/>
            </a:xfrm>
          </p:grpSpPr>
          <p:sp>
            <p:nvSpPr>
              <p:cNvPr id="23" name="Rectangle 22">
                <a:extLst>
                  <a:ext uri="{FF2B5EF4-FFF2-40B4-BE49-F238E27FC236}">
                    <a16:creationId xmlns:a16="http://schemas.microsoft.com/office/drawing/2014/main" id="{422008F4-D918-037E-2CF7-E2501035B684}"/>
                  </a:ext>
                </a:extLst>
              </p:cNvPr>
              <p:cNvSpPr/>
              <p:nvPr/>
            </p:nvSpPr>
            <p:spPr>
              <a:xfrm>
                <a:off x="4682066" y="1603044"/>
                <a:ext cx="2092916" cy="7337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BVP</a:t>
                </a:r>
              </a:p>
              <a:p>
                <a:pPr algn="ctr"/>
                <a:r>
                  <a:rPr lang="en-US" sz="1600" dirty="0">
                    <a:latin typeface="Cambria Math" panose="02040503050406030204" pitchFamily="18" charset="0"/>
                    <a:ea typeface="Cambria Math" panose="02040503050406030204" pitchFamily="18" charset="0"/>
                  </a:rPr>
                  <a:t>Shooting method</a:t>
                </a:r>
              </a:p>
              <a:p>
                <a:pPr algn="ctr"/>
                <a:r>
                  <a:rPr lang="en-US" sz="1600" dirty="0">
                    <a:latin typeface="Cambria Math" panose="02040503050406030204" pitchFamily="18" charset="0"/>
                    <a:ea typeface="Cambria Math" panose="02040503050406030204" pitchFamily="18" charset="0"/>
                  </a:rPr>
                  <a:t>[ 1) guess n0, m0]</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90C6C9C-3ACC-C78A-220F-0990896CABB6}"/>
                      </a:ext>
                    </a:extLst>
                  </p:cNvPr>
                  <p:cNvSpPr/>
                  <p:nvPr/>
                </p:nvSpPr>
                <p:spPr>
                  <a:xfrm>
                    <a:off x="6345289" y="2504322"/>
                    <a:ext cx="1886420" cy="5085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ODE of </a:t>
                    </a:r>
                  </a:p>
                  <a:p>
                    <a:pPr algn="ct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𝑅</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𝑛</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𝑚</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𝑞</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𝑤</m:t>
                              </m:r>
                            </m:e>
                            <m:sub>
                              <m:r>
                                <a:rPr lang="en-US" sz="1600" i="1" dirty="0" err="1">
                                  <a:latin typeface="Cambria Math" panose="02040503050406030204" pitchFamily="18" charset="0"/>
                                  <a:ea typeface="Cambria Math" panose="02040503050406030204" pitchFamily="18" charset="0"/>
                                </a:rPr>
                                <m:t>𝑠</m:t>
                              </m:r>
                            </m:sub>
                          </m:sSub>
                        </m:oMath>
                      </m:oMathPara>
                    </a14:m>
                    <a:endParaRPr lang="en-IN" sz="1600" dirty="0">
                      <a:latin typeface="Cambria Math" panose="02040503050406030204" pitchFamily="18" charset="0"/>
                      <a:ea typeface="Cambria Math" panose="02040503050406030204" pitchFamily="18" charset="0"/>
                    </a:endParaRPr>
                  </a:p>
                </p:txBody>
              </p:sp>
            </mc:Choice>
            <mc:Fallback xmlns="">
              <p:sp>
                <p:nvSpPr>
                  <p:cNvPr id="25" name="Rectangle 24">
                    <a:extLst>
                      <a:ext uri="{FF2B5EF4-FFF2-40B4-BE49-F238E27FC236}">
                        <a16:creationId xmlns:a16="http://schemas.microsoft.com/office/drawing/2014/main" id="{E90C6C9C-3ACC-C78A-220F-0990896CABB6}"/>
                      </a:ext>
                    </a:extLst>
                  </p:cNvPr>
                  <p:cNvSpPr>
                    <a:spLocks noRot="1" noChangeAspect="1" noMove="1" noResize="1" noEditPoints="1" noAdjustHandles="1" noChangeArrowheads="1" noChangeShapeType="1" noTextEdit="1"/>
                  </p:cNvSpPr>
                  <p:nvPr/>
                </p:nvSpPr>
                <p:spPr>
                  <a:xfrm>
                    <a:off x="6345289" y="2504322"/>
                    <a:ext cx="1886420" cy="508526"/>
                  </a:xfrm>
                  <a:prstGeom prst="rect">
                    <a:avLst/>
                  </a:prstGeom>
                  <a:blipFill>
                    <a:blip r:embed="rId4"/>
                    <a:stretch>
                      <a:fillRect t="-9195" b="-8046"/>
                    </a:stretch>
                  </a:blipFill>
                </p:spPr>
                <p:txBody>
                  <a:bodyPr/>
                  <a:lstStyle/>
                  <a:p>
                    <a:r>
                      <a:rPr lang="en-IN">
                        <a:noFill/>
                      </a:rPr>
                      <a:t> </a:t>
                    </a:r>
                  </a:p>
                </p:txBody>
              </p:sp>
            </mc:Fallback>
          </mc:AlternateContent>
          <p:cxnSp>
            <p:nvCxnSpPr>
              <p:cNvPr id="30" name="Straight Arrow Connector 29">
                <a:extLst>
                  <a:ext uri="{FF2B5EF4-FFF2-40B4-BE49-F238E27FC236}">
                    <a16:creationId xmlns:a16="http://schemas.microsoft.com/office/drawing/2014/main" id="{C72A28F2-5D6A-C750-15C3-6D69480CA2EA}"/>
                  </a:ext>
                </a:extLst>
              </p:cNvPr>
              <p:cNvCxnSpPr>
                <a:cxnSpLocks/>
                <a:stCxn id="25" idx="2"/>
              </p:cNvCxnSpPr>
              <p:nvPr/>
            </p:nvCxnSpPr>
            <p:spPr>
              <a:xfrm>
                <a:off x="7288499" y="3012848"/>
                <a:ext cx="5256" cy="373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A4A2B7B8-7708-A843-8EF0-386A193D050A}"/>
                  </a:ext>
                </a:extLst>
              </p:cNvPr>
              <p:cNvSpPr/>
              <p:nvPr/>
            </p:nvSpPr>
            <p:spPr>
              <a:xfrm>
                <a:off x="6377262" y="3414888"/>
                <a:ext cx="1886420" cy="5353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atin typeface="Cambria Math" panose="02040503050406030204" pitchFamily="18" charset="0"/>
                  <a:ea typeface="Cambria Math" panose="02040503050406030204" pitchFamily="18" charset="0"/>
                </a:endParaRPr>
              </a:p>
              <a:p>
                <a:pPr algn="ctr"/>
                <a:r>
                  <a:rPr lang="en-US" sz="1600" dirty="0">
                    <a:latin typeface="Cambria Math" panose="02040503050406030204" pitchFamily="18" charset="0"/>
                    <a:ea typeface="Cambria Math" panose="02040503050406030204" pitchFamily="18" charset="0"/>
                  </a:rPr>
                  <a:t>4) IVP – RK45,RK4 etc.</a:t>
                </a:r>
                <a:endParaRPr lang="en-IN" sz="1600" dirty="0">
                  <a:latin typeface="Cambria Math" panose="02040503050406030204" pitchFamily="18" charset="0"/>
                  <a:ea typeface="Cambria Math" panose="02040503050406030204" pitchFamily="18" charset="0"/>
                </a:endParaRPr>
              </a:p>
              <a:p>
                <a:pPr algn="ctr"/>
                <a:endParaRPr lang="en-US" sz="1600" dirty="0">
                  <a:latin typeface="Cambria Math" panose="02040503050406030204" pitchFamily="18" charset="0"/>
                  <a:ea typeface="Cambria Math" panose="02040503050406030204" pitchFamily="18" charset="0"/>
                </a:endParaRPr>
              </a:p>
            </p:txBody>
          </p:sp>
          <p:cxnSp>
            <p:nvCxnSpPr>
              <p:cNvPr id="37" name="Connector: Elbow 36">
                <a:extLst>
                  <a:ext uri="{FF2B5EF4-FFF2-40B4-BE49-F238E27FC236}">
                    <a16:creationId xmlns:a16="http://schemas.microsoft.com/office/drawing/2014/main" id="{6460EDA7-8769-D122-9FCF-DEF9ECB23E87}"/>
                  </a:ext>
                </a:extLst>
              </p:cNvPr>
              <p:cNvCxnSpPr>
                <a:cxnSpLocks/>
                <a:stCxn id="23" idx="3"/>
                <a:endCxn id="25" idx="0"/>
              </p:cNvCxnSpPr>
              <p:nvPr/>
            </p:nvCxnSpPr>
            <p:spPr>
              <a:xfrm>
                <a:off x="6774982" y="1969922"/>
                <a:ext cx="513517" cy="5344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9691356F-62EA-AA77-7776-B1C6C604FAD2}"/>
                  </a:ext>
                </a:extLst>
              </p:cNvPr>
              <p:cNvSpPr txBox="1"/>
              <p:nvPr/>
            </p:nvSpPr>
            <p:spPr>
              <a:xfrm>
                <a:off x="4682066" y="1224761"/>
                <a:ext cx="1879041" cy="338554"/>
              </a:xfrm>
              <a:prstGeom prst="rect">
                <a:avLst/>
              </a:prstGeom>
              <a:no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 = [r, R, q, w, n ,m]</a:t>
                </a:r>
                <a:endParaRPr lang="en-IN" sz="1600" dirty="0">
                  <a:latin typeface="Cambria Math" panose="02040503050406030204" pitchFamily="18" charset="0"/>
                  <a:ea typeface="Cambria Math" panose="02040503050406030204" pitchFamily="18" charset="0"/>
                </a:endParaRPr>
              </a:p>
            </p:txBody>
          </p:sp>
          <p:sp>
            <p:nvSpPr>
              <p:cNvPr id="53" name="TextBox 52">
                <a:extLst>
                  <a:ext uri="{FF2B5EF4-FFF2-40B4-BE49-F238E27FC236}">
                    <a16:creationId xmlns:a16="http://schemas.microsoft.com/office/drawing/2014/main" id="{14AB8EB9-0347-FC2E-EF57-4CB98FD61D27}"/>
                  </a:ext>
                </a:extLst>
              </p:cNvPr>
              <p:cNvSpPr txBox="1"/>
              <p:nvPr/>
            </p:nvSpPr>
            <p:spPr>
              <a:xfrm>
                <a:off x="6027915" y="4285455"/>
                <a:ext cx="569387"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y(L)</a:t>
                </a:r>
                <a:endParaRPr lang="en-IN" sz="1600" dirty="0">
                  <a:latin typeface="Cambria Math" panose="02040503050406030204" pitchFamily="18" charset="0"/>
                  <a:ea typeface="Cambria Math" panose="02040503050406030204" pitchFamily="18" charset="0"/>
                </a:endParaRPr>
              </a:p>
            </p:txBody>
          </p:sp>
          <p:cxnSp>
            <p:nvCxnSpPr>
              <p:cNvPr id="56" name="Connector: Elbow 55">
                <a:extLst>
                  <a:ext uri="{FF2B5EF4-FFF2-40B4-BE49-F238E27FC236}">
                    <a16:creationId xmlns:a16="http://schemas.microsoft.com/office/drawing/2014/main" id="{1A5BB3C7-9963-83A3-FD56-B4C2447EF207}"/>
                  </a:ext>
                </a:extLst>
              </p:cNvPr>
              <p:cNvCxnSpPr>
                <a:cxnSpLocks/>
                <a:stCxn id="35" idx="2"/>
                <a:endCxn id="67" idx="3"/>
              </p:cNvCxnSpPr>
              <p:nvPr/>
            </p:nvCxnSpPr>
            <p:spPr>
              <a:xfrm rot="5400000">
                <a:off x="6211396" y="3675809"/>
                <a:ext cx="834615" cy="13835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471A4920-C95C-6B29-D8C8-5BDF91EA686A}"/>
                  </a:ext>
                </a:extLst>
              </p:cNvPr>
              <p:cNvSpPr txBox="1"/>
              <p:nvPr/>
            </p:nvSpPr>
            <p:spPr>
              <a:xfrm>
                <a:off x="7320472" y="4626319"/>
                <a:ext cx="546945"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y(s)</a:t>
                </a:r>
                <a:endParaRPr lang="en-IN" sz="1600" dirty="0">
                  <a:latin typeface="Cambria Math" panose="02040503050406030204" pitchFamily="18" charset="0"/>
                  <a:ea typeface="Cambria Math" panose="02040503050406030204" pitchFamily="18" charset="0"/>
                </a:endParaRPr>
              </a:p>
            </p:txBody>
          </p:sp>
          <p:cxnSp>
            <p:nvCxnSpPr>
              <p:cNvPr id="62" name="Straight Arrow Connector 61">
                <a:extLst>
                  <a:ext uri="{FF2B5EF4-FFF2-40B4-BE49-F238E27FC236}">
                    <a16:creationId xmlns:a16="http://schemas.microsoft.com/office/drawing/2014/main" id="{5BDC60D7-C14D-CDA3-5534-A180C207F77B}"/>
                  </a:ext>
                </a:extLst>
              </p:cNvPr>
              <p:cNvCxnSpPr>
                <a:cxnSpLocks/>
                <a:stCxn id="23" idx="2"/>
              </p:cNvCxnSpPr>
              <p:nvPr/>
            </p:nvCxnSpPr>
            <p:spPr>
              <a:xfrm>
                <a:off x="5728524" y="2336800"/>
                <a:ext cx="10511" cy="3491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7" name="Diamond 66">
                <a:extLst>
                  <a:ext uri="{FF2B5EF4-FFF2-40B4-BE49-F238E27FC236}">
                    <a16:creationId xmlns:a16="http://schemas.microsoft.com/office/drawing/2014/main" id="{CEED74C5-EDAE-ED9F-1256-BFD7E3F9330B}"/>
                  </a:ext>
                </a:extLst>
              </p:cNvPr>
              <p:cNvSpPr/>
              <p:nvPr/>
            </p:nvSpPr>
            <p:spPr>
              <a:xfrm>
                <a:off x="5520113" y="4542251"/>
                <a:ext cx="416821" cy="485269"/>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600">
                  <a:latin typeface="Cambria Math" panose="02040503050406030204" pitchFamily="18" charset="0"/>
                  <a:ea typeface="Cambria Math" panose="02040503050406030204" pitchFamily="18" charset="0"/>
                </a:endParaRPr>
              </a:p>
            </p:txBody>
          </p:sp>
          <p:sp>
            <p:nvSpPr>
              <p:cNvPr id="68" name="TextBox 67">
                <a:extLst>
                  <a:ext uri="{FF2B5EF4-FFF2-40B4-BE49-F238E27FC236}">
                    <a16:creationId xmlns:a16="http://schemas.microsoft.com/office/drawing/2014/main" id="{2286DE06-BEE4-8052-A646-52DA912F066C}"/>
                  </a:ext>
                </a:extLst>
              </p:cNvPr>
              <p:cNvSpPr txBox="1"/>
              <p:nvPr/>
            </p:nvSpPr>
            <p:spPr>
              <a:xfrm>
                <a:off x="4136574" y="3721815"/>
                <a:ext cx="1435027" cy="830997"/>
              </a:xfrm>
              <a:prstGeom prst="rect">
                <a:avLst/>
              </a:prstGeom>
              <a:solidFill>
                <a:schemeClr val="bg1"/>
              </a:solidFill>
              <a:ln>
                <a:solidFill>
                  <a:schemeClr val="tx1"/>
                </a:solidFill>
              </a:ln>
            </p:spPr>
            <p:txBody>
              <a:bodyPr wrap="square" rtlCol="0">
                <a:spAutoFit/>
              </a:bodyPr>
              <a:lstStyle/>
              <a:p>
                <a:r>
                  <a:rPr lang="en-US" sz="1600" dirty="0">
                    <a:latin typeface="Cambria Math" panose="02040503050406030204" pitchFamily="18" charset="0"/>
                    <a:ea typeface="Cambria Math" panose="02040503050406030204" pitchFamily="18" charset="0"/>
                  </a:rPr>
                  <a:t>Check error with knowns</a:t>
                </a:r>
              </a:p>
              <a:p>
                <a:r>
                  <a:rPr lang="en-US" sz="1600" dirty="0">
                    <a:latin typeface="Cambria Math" panose="02040503050406030204" pitchFamily="18" charset="0"/>
                    <a:ea typeface="Cambria Math" panose="02040503050406030204" pitchFamily="18" charset="0"/>
                  </a:rPr>
                  <a:t>n(L), m(L)</a:t>
                </a:r>
              </a:p>
            </p:txBody>
          </p:sp>
          <p:sp>
            <p:nvSpPr>
              <p:cNvPr id="70" name="TextBox 69">
                <a:extLst>
                  <a:ext uri="{FF2B5EF4-FFF2-40B4-BE49-F238E27FC236}">
                    <a16:creationId xmlns:a16="http://schemas.microsoft.com/office/drawing/2014/main" id="{7DE237CA-A2E2-3CC4-79DE-0E651832D349}"/>
                  </a:ext>
                </a:extLst>
              </p:cNvPr>
              <p:cNvSpPr txBox="1"/>
              <p:nvPr/>
            </p:nvSpPr>
            <p:spPr>
              <a:xfrm>
                <a:off x="5249958" y="5842193"/>
                <a:ext cx="1045479"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r(L), R(L)</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1808FAE-E9CD-F345-5C04-74C41FDF40B2}"/>
                      </a:ext>
                    </a:extLst>
                  </p:cNvPr>
                  <p:cNvSpPr txBox="1"/>
                  <p:nvPr/>
                </p:nvSpPr>
                <p:spPr>
                  <a:xfrm>
                    <a:off x="7313900" y="958557"/>
                    <a:ext cx="1537544" cy="600164"/>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𝑟</m:t>
                          </m:r>
                          <m:d>
                            <m:dPr>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m:t>
                              </m:r>
                            </m:e>
                          </m:d>
                          <m:r>
                            <a:rPr lang="en-US" sz="1100" b="0" i="1" dirty="0" smtClean="0">
                              <a:latin typeface="Cambria Math" panose="02040503050406030204" pitchFamily="18" charset="0"/>
                              <a:ea typeface="Cambria Math" panose="02040503050406030204" pitchFamily="18" charset="0"/>
                            </a:rPr>
                            <m:t>=</m:t>
                          </m:r>
                          <m:r>
                            <a:rPr lang="en-US" sz="1100" b="0" i="1" dirty="0" smtClean="0">
                              <a:latin typeface="Cambria Math" panose="02040503050406030204" pitchFamily="18" charset="0"/>
                              <a:ea typeface="Cambria Math" panose="02040503050406030204" pitchFamily="18" charset="0"/>
                            </a:rPr>
                            <m:t>𝑞</m:t>
                          </m:r>
                          <m:d>
                            <m:dPr>
                              <m:ctrlPr>
                                <a:rPr lang="en-US" sz="1100" b="0" i="1" dirty="0" smtClean="0">
                                  <a:latin typeface="Cambria Math" panose="02040503050406030204" pitchFamily="18" charset="0"/>
                                  <a:ea typeface="Cambria Math" panose="02040503050406030204" pitchFamily="18" charset="0"/>
                                </a:rPr>
                              </m:ctrlPr>
                            </m:dPr>
                            <m:e>
                              <m:r>
                                <a:rPr lang="en-US" sz="1100" b="0" i="1" dirty="0" smtClean="0">
                                  <a:latin typeface="Cambria Math" panose="02040503050406030204" pitchFamily="18" charset="0"/>
                                  <a:ea typeface="Cambria Math" panose="02040503050406030204" pitchFamily="18" charset="0"/>
                                </a:rPr>
                                <m:t>0</m:t>
                              </m:r>
                            </m:e>
                          </m:d>
                        </m:oMath>
                      </m:oMathPara>
                    </a14:m>
                    <a:endParaRPr lang="en-US" sz="11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b="0" i="1" dirty="0" smtClean="0">
                              <a:latin typeface="Cambria Math" panose="02040503050406030204" pitchFamily="18" charset="0"/>
                              <a:ea typeface="Cambria Math" panose="02040503050406030204" pitchFamily="18" charset="0"/>
                            </a:rPr>
                            <m:t>=</m:t>
                          </m:r>
                          <m:r>
                            <a:rPr lang="en-US" sz="1100" b="0" i="1" dirty="0" smtClean="0">
                              <a:latin typeface="Cambria Math" panose="02040503050406030204" pitchFamily="18" charset="0"/>
                              <a:ea typeface="Cambria Math" panose="02040503050406030204" pitchFamily="18" charset="0"/>
                            </a:rPr>
                            <m:t>𝑤</m:t>
                          </m:r>
                          <m:r>
                            <a:rPr lang="en-US" sz="1100" b="0" i="1" dirty="0" smtClean="0">
                              <a:latin typeface="Cambria Math" panose="02040503050406030204" pitchFamily="18" charset="0"/>
                              <a:ea typeface="Cambria Math" panose="02040503050406030204" pitchFamily="18" charset="0"/>
                            </a:rPr>
                            <m:t>(0)= </m:t>
                          </m:r>
                          <m:sSup>
                            <m:sSupPr>
                              <m:ctrlPr>
                                <a:rPr lang="en-US" sz="1100" i="1" dirty="0" smtClean="0">
                                  <a:latin typeface="Cambria Math" panose="02040503050406030204" pitchFamily="18" charset="0"/>
                                  <a:ea typeface="Cambria Math" panose="02040503050406030204" pitchFamily="18" charset="0"/>
                                </a:rPr>
                              </m:ctrlPr>
                            </m:sSupPr>
                            <m:e>
                              <m:d>
                                <m:dPr>
                                  <m:begChr m:val="["/>
                                  <m:endChr m:val="]"/>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0 0 0</m:t>
                                  </m:r>
                                </m:e>
                              </m:d>
                            </m:e>
                            <m:sup>
                              <m:r>
                                <a:rPr lang="en-US" sz="1100" i="1" dirty="0" smtClean="0">
                                  <a:latin typeface="Cambria Math" panose="02040503050406030204" pitchFamily="18" charset="0"/>
                                  <a:ea typeface="Cambria Math" panose="02040503050406030204" pitchFamily="18" charset="0"/>
                                </a:rPr>
                                <m:t>𝑇</m:t>
                              </m:r>
                            </m:sup>
                          </m:sSup>
                          <m:r>
                            <a:rPr lang="en-US" sz="1100" i="1" dirty="0" smtClean="0">
                              <a:latin typeface="Cambria Math" panose="02040503050406030204" pitchFamily="18" charset="0"/>
                              <a:ea typeface="Cambria Math" panose="02040503050406030204" pitchFamily="18" charset="0"/>
                            </a:rPr>
                            <m:t> ; </m:t>
                          </m:r>
                        </m:oMath>
                      </m:oMathPara>
                    </a14:m>
                    <a:endParaRPr lang="en-US" sz="11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𝑅</m:t>
                          </m:r>
                          <m:r>
                            <a:rPr lang="en-US" sz="1100" i="1" dirty="0" smtClean="0">
                              <a:latin typeface="Cambria Math" panose="02040503050406030204" pitchFamily="18" charset="0"/>
                              <a:ea typeface="Cambria Math" panose="02040503050406030204" pitchFamily="18" charset="0"/>
                            </a:rPr>
                            <m:t>(0) = </m:t>
                          </m:r>
                          <m:r>
                            <a:rPr lang="en-US" sz="1100" i="1" dirty="0" smtClean="0">
                              <a:latin typeface="Cambria Math" panose="02040503050406030204" pitchFamily="18" charset="0"/>
                              <a:ea typeface="Cambria Math" panose="02040503050406030204" pitchFamily="18" charset="0"/>
                            </a:rPr>
                            <m:t>𝐼</m:t>
                          </m:r>
                        </m:oMath>
                      </m:oMathPara>
                    </a14:m>
                    <a:endParaRPr lang="en-US" sz="1100" i="1" dirty="0">
                      <a:latin typeface="Cambria Math" panose="02040503050406030204" pitchFamily="18" charset="0"/>
                      <a:ea typeface="Cambria Math" panose="02040503050406030204" pitchFamily="18" charset="0"/>
                    </a:endParaRPr>
                  </a:p>
                </p:txBody>
              </p:sp>
            </mc:Choice>
            <mc:Fallback xmlns="">
              <p:sp>
                <p:nvSpPr>
                  <p:cNvPr id="72" name="TextBox 71">
                    <a:extLst>
                      <a:ext uri="{FF2B5EF4-FFF2-40B4-BE49-F238E27FC236}">
                        <a16:creationId xmlns:a16="http://schemas.microsoft.com/office/drawing/2014/main" id="{81808FAE-E9CD-F345-5C04-74C41FDF40B2}"/>
                      </a:ext>
                    </a:extLst>
                  </p:cNvPr>
                  <p:cNvSpPr txBox="1">
                    <a:spLocks noRot="1" noChangeAspect="1" noMove="1" noResize="1" noEditPoints="1" noAdjustHandles="1" noChangeArrowheads="1" noChangeShapeType="1" noTextEdit="1"/>
                  </p:cNvSpPr>
                  <p:nvPr/>
                </p:nvSpPr>
                <p:spPr>
                  <a:xfrm>
                    <a:off x="7313900" y="958557"/>
                    <a:ext cx="1537544" cy="600164"/>
                  </a:xfrm>
                  <a:prstGeom prst="rect">
                    <a:avLst/>
                  </a:prstGeom>
                  <a:blipFill>
                    <a:blip r:embed="rId5"/>
                    <a:stretch>
                      <a:fillRect b="-990"/>
                    </a:stretch>
                  </a:blipFill>
                  <a:ln>
                    <a:solidFill>
                      <a:schemeClr val="tx1"/>
                    </a:solidFill>
                  </a:ln>
                </p:spPr>
                <p:txBody>
                  <a:bodyPr/>
                  <a:lstStyle/>
                  <a:p>
                    <a:r>
                      <a:rPr lang="en-IN">
                        <a:noFill/>
                      </a:rPr>
                      <a:t> </a:t>
                    </a:r>
                  </a:p>
                </p:txBody>
              </p:sp>
            </mc:Fallback>
          </mc:AlternateContent>
        </p:grpSp>
      </p:grpSp>
      <p:pic>
        <p:nvPicPr>
          <p:cNvPr id="78" name="Picture 77"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F23A2C8D-3005-B000-0D21-91F3A51ECBB4}"/>
              </a:ext>
            </a:extLst>
          </p:cNvPr>
          <p:cNvPicPr>
            <a:picLocks noChangeAspect="1"/>
          </p:cNvPicPr>
          <p:nvPr/>
        </p:nvPicPr>
        <p:blipFill>
          <a:blip r:embed="rId6"/>
          <a:srcRect l="53850"/>
          <a:stretch>
            <a:fillRect/>
          </a:stretch>
        </p:blipFill>
        <p:spPr>
          <a:xfrm>
            <a:off x="9283362" y="370435"/>
            <a:ext cx="2271718" cy="1953778"/>
          </a:xfrm>
          <a:prstGeom prst="rect">
            <a:avLst/>
          </a:prstGeom>
          <a:ln>
            <a:solidFill>
              <a:schemeClr val="tx1"/>
            </a:solidFill>
          </a:ln>
        </p:spPr>
      </p:pic>
      <p:sp>
        <p:nvSpPr>
          <p:cNvPr id="6" name="TextBox 5">
            <a:extLst>
              <a:ext uri="{FF2B5EF4-FFF2-40B4-BE49-F238E27FC236}">
                <a16:creationId xmlns:a16="http://schemas.microsoft.com/office/drawing/2014/main" id="{E3CFE99A-4A51-27BA-0DBA-2C33FD89C8DF}"/>
              </a:ext>
            </a:extLst>
          </p:cNvPr>
          <p:cNvSpPr txBox="1"/>
          <p:nvPr/>
        </p:nvSpPr>
        <p:spPr>
          <a:xfrm>
            <a:off x="876314" y="753206"/>
            <a:ext cx="6096000" cy="584775"/>
          </a:xfrm>
          <a:prstGeom prst="rect">
            <a:avLst/>
          </a:prstGeom>
          <a:noFill/>
        </p:spPr>
        <p:txBody>
          <a:bodyPr wrap="squar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Dynamic Equilibrium:</a:t>
            </a:r>
          </a:p>
          <a:p>
            <a:pPr>
              <a:defRPr sz="2000">
                <a:solidFill>
                  <a:srgbClr val="142237"/>
                </a:solidFill>
              </a:defRPr>
            </a:pPr>
            <a:r>
              <a:rPr lang="en-US" sz="1600" dirty="0">
                <a:latin typeface="Cambria Math" panose="02040503050406030204" pitchFamily="18" charset="0"/>
                <a:ea typeface="Cambria Math" panose="02040503050406030204" pitchFamily="18" charset="0"/>
              </a:rPr>
              <a:t>(t &gt; 0)</a:t>
            </a:r>
          </a:p>
        </p:txBody>
      </p:sp>
      <p:sp>
        <p:nvSpPr>
          <p:cNvPr id="11" name="TextBox 10">
            <a:extLst>
              <a:ext uri="{FF2B5EF4-FFF2-40B4-BE49-F238E27FC236}">
                <a16:creationId xmlns:a16="http://schemas.microsoft.com/office/drawing/2014/main" id="{E7A7332F-F8F6-18E9-8A68-205546293783}"/>
              </a:ext>
            </a:extLst>
          </p:cNvPr>
          <p:cNvSpPr txBox="1"/>
          <p:nvPr/>
        </p:nvSpPr>
        <p:spPr>
          <a:xfrm>
            <a:off x="9201712" y="2443117"/>
            <a:ext cx="2441502"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No external loading</a:t>
            </a:r>
          </a:p>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No distributed loading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E6BDFE6-689F-0B70-358E-8E74D8FE42B0}"/>
                  </a:ext>
                </a:extLst>
              </p:cNvPr>
              <p:cNvSpPr txBox="1"/>
              <p:nvPr/>
            </p:nvSpPr>
            <p:spPr>
              <a:xfrm>
                <a:off x="428270" y="3235469"/>
                <a:ext cx="1649491" cy="737189"/>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𝑛</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0 0 0</m:t>
                              </m:r>
                            </m:e>
                          </m:d>
                        </m:e>
                        <m:sup>
                          <m:r>
                            <a:rPr lang="en-US" sz="1400" b="0" i="1" smtClean="0">
                              <a:latin typeface="Cambria Math" panose="02040503050406030204" pitchFamily="18" charset="0"/>
                            </a:rPr>
                            <m:t>𝑇</m:t>
                          </m:r>
                        </m:sup>
                      </m:sSup>
                    </m:oMath>
                  </m:oMathPara>
                </a14:m>
                <a:endParaRPr lang="en-US" sz="1400" b="0" dirty="0"/>
              </a:p>
              <a:p>
                <a:pPr/>
                <a14:m>
                  <m:oMathPara xmlns:m="http://schemas.openxmlformats.org/officeDocument/2006/math">
                    <m:oMath>
                      <m:r>
                        <a:rPr lang="en-IN" sz="1400" i="1" dirty="0" smtClean="0">
                          <a:latin typeface="Cambria Math" panose="02040503050406030204" pitchFamily="18" charset="0"/>
                        </a:rPr>
                        <m:t>𝑚</m:t>
                      </m:r>
                      <m:r>
                        <a:rPr lang="en-IN" sz="1400" i="1" dirty="0" smtClean="0">
                          <a:latin typeface="Cambria Math" panose="02040503050406030204" pitchFamily="18" charset="0"/>
                        </a:rPr>
                        <m:t>(</m:t>
                      </m:r>
                      <m:r>
                        <a:rPr lang="en-IN" sz="1400" i="1" dirty="0" smtClean="0">
                          <a:latin typeface="Cambria Math" panose="02040503050406030204" pitchFamily="18" charset="0"/>
                        </a:rPr>
                        <m:t>𝐿</m:t>
                      </m:r>
                      <m:r>
                        <a:rPr lang="en-IN" sz="1400" i="1" dirty="0" smtClean="0">
                          <a:latin typeface="Cambria Math" panose="02040503050406030204" pitchFamily="18" charset="0"/>
                        </a:rPr>
                        <m:t>) =</m:t>
                      </m:r>
                      <m:nary>
                        <m:naryPr>
                          <m:chr m:val="∑"/>
                          <m:subHide m:val="on"/>
                          <m:supHide m:val="on"/>
                          <m:ctrlPr>
                            <a:rPr lang="en-IN" sz="1400" i="1" dirty="0" smtClean="0">
                              <a:latin typeface="Cambria Math" panose="02040503050406030204" pitchFamily="18" charset="0"/>
                            </a:rPr>
                          </m:ctrlPr>
                        </m:naryPr>
                        <m:sub/>
                        <m:sup/>
                        <m:e>
                          <m:r>
                            <a:rPr lang="en-US" sz="1400" b="0" i="1" dirty="0" smtClean="0">
                              <a:latin typeface="Cambria Math" panose="02040503050406030204" pitchFamily="18" charset="0"/>
                            </a:rPr>
                            <m:t>𝑟ℎ</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𝑜</m:t>
                              </m:r>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rPr>
                            <m:t>𝑥</m:t>
                          </m:r>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𝑖</m:t>
                              </m:r>
                            </m:sub>
                          </m:sSub>
                        </m:e>
                      </m:nary>
                    </m:oMath>
                  </m:oMathPara>
                </a14:m>
                <a:endParaRPr lang="en-IN" sz="1400" dirty="0"/>
              </a:p>
            </p:txBody>
          </p:sp>
        </mc:Choice>
        <mc:Fallback xmlns="">
          <p:sp>
            <p:nvSpPr>
              <p:cNvPr id="4" name="TextBox 3">
                <a:extLst>
                  <a:ext uri="{FF2B5EF4-FFF2-40B4-BE49-F238E27FC236}">
                    <a16:creationId xmlns:a16="http://schemas.microsoft.com/office/drawing/2014/main" id="{2E6BDFE6-689F-0B70-358E-8E74D8FE42B0}"/>
                  </a:ext>
                </a:extLst>
              </p:cNvPr>
              <p:cNvSpPr txBox="1">
                <a:spLocks noRot="1" noChangeAspect="1" noMove="1" noResize="1" noEditPoints="1" noAdjustHandles="1" noChangeArrowheads="1" noChangeShapeType="1" noTextEdit="1"/>
              </p:cNvSpPr>
              <p:nvPr/>
            </p:nvSpPr>
            <p:spPr>
              <a:xfrm>
                <a:off x="428270" y="3235469"/>
                <a:ext cx="1649491" cy="737189"/>
              </a:xfrm>
              <a:prstGeom prst="rect">
                <a:avLst/>
              </a:prstGeom>
              <a:blipFill>
                <a:blip r:embed="rId7"/>
                <a:stretch>
                  <a:fillRect l="-738" t="-74380" r="-36162" b="-144628"/>
                </a:stretch>
              </a:blipFill>
            </p:spPr>
            <p:txBody>
              <a:bodyPr/>
              <a:lstStyle/>
              <a:p>
                <a:r>
                  <a:rPr lang="en-IN">
                    <a:noFill/>
                  </a:rPr>
                  <a:t> </a:t>
                </a:r>
              </a:p>
            </p:txBody>
          </p:sp>
        </mc:Fallback>
      </mc:AlternateContent>
      <p:grpSp>
        <p:nvGrpSpPr>
          <p:cNvPr id="7" name="Group 6">
            <a:extLst>
              <a:ext uri="{FF2B5EF4-FFF2-40B4-BE49-F238E27FC236}">
                <a16:creationId xmlns:a16="http://schemas.microsoft.com/office/drawing/2014/main" id="{CA7D0EF3-4830-8926-EF4C-76642B0FF0E4}"/>
              </a:ext>
            </a:extLst>
          </p:cNvPr>
          <p:cNvGrpSpPr/>
          <p:nvPr/>
        </p:nvGrpSpPr>
        <p:grpSpPr>
          <a:xfrm>
            <a:off x="9634662" y="3517926"/>
            <a:ext cx="2353817" cy="2742829"/>
            <a:chOff x="9278673" y="3727441"/>
            <a:chExt cx="2353817" cy="2742829"/>
          </a:xfrm>
        </p:grpSpPr>
        <p:sp>
          <p:nvSpPr>
            <p:cNvPr id="9" name="Oval 8">
              <a:extLst>
                <a:ext uri="{FF2B5EF4-FFF2-40B4-BE49-F238E27FC236}">
                  <a16:creationId xmlns:a16="http://schemas.microsoft.com/office/drawing/2014/main" id="{BCAE57B6-5A3D-855E-7F9F-1C20F0F20178}"/>
                </a:ext>
              </a:extLst>
            </p:cNvPr>
            <p:cNvSpPr/>
            <p:nvPr/>
          </p:nvSpPr>
          <p:spPr>
            <a:xfrm rot="19251957">
              <a:off x="9657291" y="4652686"/>
              <a:ext cx="1523860" cy="74818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12" name="Connector: Curved 11">
              <a:extLst>
                <a:ext uri="{FF2B5EF4-FFF2-40B4-BE49-F238E27FC236}">
                  <a16:creationId xmlns:a16="http://schemas.microsoft.com/office/drawing/2014/main" id="{7F340599-D11C-87DC-0389-53F063557243}"/>
                </a:ext>
              </a:extLst>
            </p:cNvPr>
            <p:cNvCxnSpPr>
              <a:cxnSpLocks/>
            </p:cNvCxnSpPr>
            <p:nvPr/>
          </p:nvCxnSpPr>
          <p:spPr>
            <a:xfrm rot="16200000" flipH="1">
              <a:off x="9514041" y="4193177"/>
              <a:ext cx="1989000" cy="1667205"/>
            </a:xfrm>
            <a:prstGeom prst="curvedConnector3">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 name="Connector: Curved 12">
              <a:extLst>
                <a:ext uri="{FF2B5EF4-FFF2-40B4-BE49-F238E27FC236}">
                  <a16:creationId xmlns:a16="http://schemas.microsoft.com/office/drawing/2014/main" id="{11232FF1-F57A-0F61-E2B1-8CA8E8D6F9CC}"/>
                </a:ext>
              </a:extLst>
            </p:cNvPr>
            <p:cNvCxnSpPr>
              <a:cxnSpLocks/>
            </p:cNvCxnSpPr>
            <p:nvPr/>
          </p:nvCxnSpPr>
          <p:spPr>
            <a:xfrm rot="16200000" flipH="1">
              <a:off x="9117776" y="4529394"/>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Connector: Curved 13">
              <a:extLst>
                <a:ext uri="{FF2B5EF4-FFF2-40B4-BE49-F238E27FC236}">
                  <a16:creationId xmlns:a16="http://schemas.microsoft.com/office/drawing/2014/main" id="{BDE81EF7-75E9-4DDF-4CDA-FF74961E4F58}"/>
                </a:ext>
              </a:extLst>
            </p:cNvPr>
            <p:cNvCxnSpPr>
              <a:cxnSpLocks/>
            </p:cNvCxnSpPr>
            <p:nvPr/>
          </p:nvCxnSpPr>
          <p:spPr>
            <a:xfrm rot="16200000" flipH="1">
              <a:off x="9804388" y="3888338"/>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0C0402CE-0904-9701-B52A-63195832621A}"/>
                </a:ext>
              </a:extLst>
            </p:cNvPr>
            <p:cNvSpPr/>
            <p:nvPr/>
          </p:nvSpPr>
          <p:spPr>
            <a:xfrm rot="19251957">
              <a:off x="10490860" y="510038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22D40464-3D73-C7CE-FF0E-F075289A1875}"/>
                </a:ext>
              </a:extLst>
            </p:cNvPr>
            <p:cNvSpPr/>
            <p:nvPr/>
          </p:nvSpPr>
          <p:spPr>
            <a:xfrm rot="19251957">
              <a:off x="10630895" y="467957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0D18C51F-D935-2DD8-A6A2-865AD35D2E4C}"/>
                </a:ext>
              </a:extLst>
            </p:cNvPr>
            <p:cNvSpPr/>
            <p:nvPr/>
          </p:nvSpPr>
          <p:spPr>
            <a:xfrm rot="19251957">
              <a:off x="10037961" y="4892592"/>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8888F661-6294-DFC3-4CCB-00DD4410B263}"/>
                </a:ext>
              </a:extLst>
            </p:cNvPr>
            <p:cNvSpPr/>
            <p:nvPr/>
          </p:nvSpPr>
          <p:spPr>
            <a:xfrm rot="19251957">
              <a:off x="9970227" y="5296104"/>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9" name="Connector: Elbow 18">
              <a:extLst>
                <a:ext uri="{FF2B5EF4-FFF2-40B4-BE49-F238E27FC236}">
                  <a16:creationId xmlns:a16="http://schemas.microsoft.com/office/drawing/2014/main" id="{4C77306F-34F5-77C6-8A1B-1EF102F4FD6C}"/>
                </a:ext>
              </a:extLst>
            </p:cNvPr>
            <p:cNvCxnSpPr>
              <a:cxnSpLocks/>
            </p:cNvCxnSpPr>
            <p:nvPr/>
          </p:nvCxnSpPr>
          <p:spPr>
            <a:xfrm>
              <a:off x="9496300" y="6134055"/>
              <a:ext cx="531594" cy="336215"/>
            </a:xfrm>
            <a:prstGeom prst="bentConnector3">
              <a:avLst>
                <a:gd name="adj1" fmla="val 626"/>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84CC0572-3EDA-C072-905D-EFA8EC0042B2}"/>
                </a:ext>
              </a:extLst>
            </p:cNvPr>
            <p:cNvCxnSpPr>
              <a:cxnSpLocks/>
            </p:cNvCxnSpPr>
            <p:nvPr/>
          </p:nvCxnSpPr>
          <p:spPr>
            <a:xfrm flipV="1">
              <a:off x="9505523" y="5026779"/>
              <a:ext cx="835807" cy="142356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A9CCB8E-61AC-D7C4-3A99-8E8F5A2A6B32}"/>
                    </a:ext>
                  </a:extLst>
                </p:cNvPr>
                <p:cNvSpPr txBox="1"/>
                <p:nvPr/>
              </p:nvSpPr>
              <p:spPr>
                <a:xfrm>
                  <a:off x="9516126" y="5586775"/>
                  <a:ext cx="317623"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en-US" sz="1000" i="1" dirty="0" smtClean="0">
                            <a:latin typeface="Cambria Math" panose="02040503050406030204" pitchFamily="18" charset="0"/>
                          </a:rPr>
                          <m:t>𝑟</m:t>
                        </m:r>
                        <m:r>
                          <a:rPr lang="en-US" sz="1000" b="0" i="1" dirty="0" smtClean="0">
                            <a:latin typeface="Cambria Math" panose="02040503050406030204" pitchFamily="18" charset="0"/>
                          </a:rPr>
                          <m:t>, </m:t>
                        </m:r>
                        <m:r>
                          <a:rPr lang="en-US" sz="1000" b="0" i="1" dirty="0" smtClean="0">
                            <a:latin typeface="Cambria Math" panose="02040503050406030204" pitchFamily="18" charset="0"/>
                          </a:rPr>
                          <m:t>𝑅</m:t>
                        </m:r>
                      </m:oMath>
                    </m:oMathPara>
                  </a14:m>
                  <a:endParaRPr/>
                </a:p>
              </p:txBody>
            </p:sp>
          </mc:Choice>
          <mc:Fallback xmlns="">
            <p:sp>
              <p:nvSpPr>
                <p:cNvPr id="24" name="TextBox 23">
                  <a:extLst>
                    <a:ext uri="{FF2B5EF4-FFF2-40B4-BE49-F238E27FC236}">
                      <a16:creationId xmlns:a16="http://schemas.microsoft.com/office/drawing/2014/main" id="{4A9CCB8E-61AC-D7C4-3A99-8E8F5A2A6B32}"/>
                    </a:ext>
                  </a:extLst>
                </p:cNvPr>
                <p:cNvSpPr txBox="1">
                  <a:spLocks noRot="1" noChangeAspect="1" noMove="1" noResize="1" noEditPoints="1" noAdjustHandles="1" noChangeArrowheads="1" noChangeShapeType="1" noTextEdit="1"/>
                </p:cNvSpPr>
                <p:nvPr/>
              </p:nvSpPr>
              <p:spPr>
                <a:xfrm>
                  <a:off x="9516126" y="5586775"/>
                  <a:ext cx="317623" cy="246221"/>
                </a:xfrm>
                <a:prstGeom prst="rect">
                  <a:avLst/>
                </a:prstGeom>
                <a:blipFill>
                  <a:blip r:embed="rId8"/>
                  <a:stretch>
                    <a:fillRect r="-20000" b="-11905"/>
                  </a:stretch>
                </a:blipFill>
                <a:ln>
                  <a:solidFill>
                    <a:schemeClr val="tx1"/>
                  </a:solidFill>
                </a:ln>
              </p:spPr>
              <p:txBody>
                <a:bodyPr/>
                <a:lstStyle/>
                <a:p>
                  <a:r>
                    <a:rPr lang="en-IN">
                      <a:noFill/>
                    </a:rPr>
                    <a:t> </a:t>
                  </a:r>
                </a:p>
              </p:txBody>
            </p:sp>
          </mc:Fallback>
        </mc:AlternateContent>
      </p:grpSp>
    </p:spTree>
    <p:extLst>
      <p:ext uri="{BB962C8B-B14F-4D97-AF65-F5344CB8AC3E}">
        <p14:creationId xmlns:p14="http://schemas.microsoft.com/office/powerpoint/2010/main" val="2227393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8A55-0027-512A-98FD-BD01A2FEFB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8C058C-B8C3-4BA8-E66A-B2D726112B64}"/>
              </a:ext>
            </a:extLst>
          </p:cNvPr>
          <p:cNvSpPr txBox="1"/>
          <p:nvPr/>
        </p:nvSpPr>
        <p:spPr>
          <a:xfrm>
            <a:off x="833120" y="370435"/>
            <a:ext cx="6237413"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point moment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28A38688-8CE7-8481-01FC-22E967B75E13}"/>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3C192F-EE95-4F0A-7F2E-477D33E1637A}"/>
                  </a:ext>
                </a:extLst>
              </p:cNvPr>
              <p:cNvSpPr txBox="1"/>
              <p:nvPr/>
            </p:nvSpPr>
            <p:spPr>
              <a:xfrm>
                <a:off x="8071776" y="1686746"/>
                <a:ext cx="2971198" cy="3990003"/>
              </a:xfrm>
              <a:prstGeom prst="rect">
                <a:avLst/>
              </a:prstGeom>
              <a:noFill/>
            </p:spPr>
            <p:txBody>
              <a:bodyPr wrap="none">
                <a:spAutoFit/>
              </a:bodyPr>
              <a:lstStyle/>
              <a:p>
                <a:pPr>
                  <a:defRPr sz="2000">
                    <a:solidFill>
                      <a:srgbClr val="142237"/>
                    </a:solidFill>
                  </a:defRPr>
                </a:pPr>
                <a:r>
                  <a:rPr lang="en-US" sz="14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400" i="1" dirty="0" smtClean="0">
                          <a:latin typeface="Cambria Math" panose="02040503050406030204" pitchFamily="18" charset="0"/>
                          <a:ea typeface="Cambria Math" panose="02040503050406030204" pitchFamily="18" charset="0"/>
                        </a:rPr>
                        <m:t> </m:t>
                      </m:r>
                      <m:r>
                        <a:rPr lang="en-US" sz="1400" b="0" i="1" dirty="0" smtClean="0">
                          <a:latin typeface="Cambria Math" panose="02040503050406030204" pitchFamily="18" charset="0"/>
                          <a:ea typeface="Cambria Math" panose="02040503050406030204" pitchFamily="18" charset="0"/>
                        </a:rPr>
                        <m:t>𝑣</m:t>
                      </m:r>
                      <m:r>
                        <a:rPr lang="en-US" sz="1400" i="1" dirty="0" smtClean="0">
                          <a:latin typeface="Cambria Math" panose="02040503050406030204" pitchFamily="18" charset="0"/>
                          <a:ea typeface="Cambria Math" panose="02040503050406030204" pitchFamily="18" charset="0"/>
                        </a:rPr>
                        <m:t> = </m:t>
                      </m:r>
                      <m:sSup>
                        <m:sSupPr>
                          <m:ctrlPr>
                            <a:rPr lang="pt-BR" sz="1400" i="1" dirty="0" smtClean="0">
                              <a:latin typeface="Cambria Math" panose="02040503050406030204" pitchFamily="18" charset="0"/>
                              <a:ea typeface="Cambria Math" panose="02040503050406030204" pitchFamily="18" charset="0"/>
                            </a:rPr>
                          </m:ctrlPr>
                        </m:sSupPr>
                        <m:e>
                          <m:sSubSup>
                            <m:sSubSupPr>
                              <m:ctrlPr>
                                <a:rPr lang="pt-BR" sz="1400" i="1" dirty="0" smtClean="0">
                                  <a:latin typeface="Cambria Math" panose="02040503050406030204" pitchFamily="18" charset="0"/>
                                  <a:ea typeface="Cambria Math" panose="02040503050406030204" pitchFamily="18" charset="0"/>
                                </a:rPr>
                              </m:ctrlPr>
                            </m:sSubSupPr>
                            <m:e>
                              <m:r>
                                <a:rPr lang="pt-BR" sz="1400" i="1" dirty="0" smtClean="0">
                                  <a:latin typeface="Cambria Math" panose="02040503050406030204" pitchFamily="18" charset="0"/>
                                  <a:ea typeface="Cambria Math" panose="02040503050406030204" pitchFamily="18" charset="0"/>
                                </a:rPr>
                                <m:t>𝐾</m:t>
                              </m:r>
                            </m:e>
                            <m:sub>
                              <m:r>
                                <a:rPr lang="en-US" sz="1400" b="0" i="1" dirty="0" smtClean="0">
                                  <a:latin typeface="Cambria Math" panose="02040503050406030204" pitchFamily="18" charset="0"/>
                                  <a:ea typeface="Cambria Math" panose="02040503050406030204" pitchFamily="18" charset="0"/>
                                </a:rPr>
                                <m:t>𝑠𝑒</m:t>
                              </m:r>
                            </m:sub>
                            <m:sup>
                              <m:r>
                                <a:rPr lang="en-US" sz="1400" b="0" i="1" dirty="0" smtClean="0">
                                  <a:latin typeface="Cambria Math" panose="02040503050406030204" pitchFamily="18" charset="0"/>
                                  <a:ea typeface="Cambria Math" panose="02040503050406030204" pitchFamily="18" charset="0"/>
                                </a:rPr>
                                <m:t>−1</m:t>
                              </m:r>
                            </m:sup>
                          </m:sSubSup>
                          <m:r>
                            <a:rPr lang="en-US" sz="1400" b="0" i="1" dirty="0" smtClean="0">
                              <a:latin typeface="Cambria Math" panose="02040503050406030204" pitchFamily="18" charset="0"/>
                              <a:ea typeface="Cambria Math" panose="02040503050406030204" pitchFamily="18" charset="0"/>
                            </a:rPr>
                            <m:t> </m:t>
                          </m:r>
                          <m:r>
                            <a:rPr lang="pt-BR" sz="1400" i="1" dirty="0" smtClean="0">
                              <a:latin typeface="Cambria Math" panose="02040503050406030204" pitchFamily="18" charset="0"/>
                              <a:ea typeface="Cambria Math" panose="02040503050406030204" pitchFamily="18" charset="0"/>
                            </a:rPr>
                            <m:t>𝑅</m:t>
                          </m:r>
                        </m:e>
                        <m:sup>
                          <m:r>
                            <a:rPr lang="en-US" sz="1400" b="0" i="1" dirty="0" smtClean="0">
                              <a:latin typeface="Cambria Math" panose="02040503050406030204" pitchFamily="18" charset="0"/>
                              <a:ea typeface="Cambria Math" panose="02040503050406030204" pitchFamily="18" charset="0"/>
                            </a:rPr>
                            <m:t>𝑇</m:t>
                          </m:r>
                        </m:sup>
                      </m:sSup>
                      <m:r>
                        <a:rPr lang="en-US" sz="1400" b="0" i="1" dirty="0" smtClean="0">
                          <a:latin typeface="Cambria Math" panose="02040503050406030204" pitchFamily="18" charset="0"/>
                          <a:ea typeface="Cambria Math" panose="02040503050406030204" pitchFamily="18" charset="0"/>
                        </a:rPr>
                        <m:t>𝑛</m:t>
                      </m:r>
                      <m:r>
                        <a:rPr lang="en-US" sz="1400" b="0" i="1" dirty="0" smtClean="0">
                          <a:latin typeface="Cambria Math" panose="02040503050406030204" pitchFamily="18" charset="0"/>
                          <a:ea typeface="Cambria Math" panose="02040503050406030204" pitchFamily="18" charset="0"/>
                        </a:rPr>
                        <m:t>+</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𝑣</m:t>
                          </m:r>
                        </m:e>
                        <m:sup>
                          <m:r>
                            <a:rPr lang="en-US" sz="1400" b="0" i="1" dirty="0" smtClean="0">
                              <a:latin typeface="Cambria Math" panose="02040503050406030204" pitchFamily="18" charset="0"/>
                              <a:ea typeface="Cambria Math" panose="02040503050406030204" pitchFamily="18" charset="0"/>
                            </a:rPr>
                            <m:t>∗</m:t>
                          </m:r>
                        </m:sup>
                      </m:sSup>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400" b="0" i="1" dirty="0" smtClean="0">
                          <a:latin typeface="Cambria Math" panose="02040503050406030204" pitchFamily="18" charset="0"/>
                          <a:ea typeface="Cambria Math" panose="02040503050406030204" pitchFamily="18" charset="0"/>
                        </a:rPr>
                        <m:t>𝑢</m:t>
                      </m:r>
                      <m:r>
                        <a:rPr lang="pt-BR" sz="1400" i="1" dirty="0" smtClean="0">
                          <a:latin typeface="Cambria Math" panose="02040503050406030204" pitchFamily="18" charset="0"/>
                          <a:ea typeface="Cambria Math" panose="02040503050406030204" pitchFamily="18" charset="0"/>
                        </a:rPr>
                        <m:t> =</m:t>
                      </m:r>
                      <m:sSup>
                        <m:sSupPr>
                          <m:ctrlPr>
                            <a:rPr lang="pt-BR" sz="1400" i="1" dirty="0" smtClean="0">
                              <a:latin typeface="Cambria Math" panose="02040503050406030204" pitchFamily="18" charset="0"/>
                              <a:ea typeface="Cambria Math" panose="02040503050406030204" pitchFamily="18" charset="0"/>
                            </a:rPr>
                          </m:ctrlPr>
                        </m:sSupPr>
                        <m:e>
                          <m:sSubSup>
                            <m:sSubSupPr>
                              <m:ctrlPr>
                                <a:rPr lang="pt-BR" sz="1400" i="1" dirty="0" smtClean="0">
                                  <a:latin typeface="Cambria Math" panose="02040503050406030204" pitchFamily="18" charset="0"/>
                                  <a:ea typeface="Cambria Math" panose="02040503050406030204" pitchFamily="18" charset="0"/>
                                </a:rPr>
                              </m:ctrlPr>
                            </m:sSubSupPr>
                            <m:e>
                              <m:r>
                                <a:rPr lang="pt-BR" sz="1400" i="1" dirty="0" smtClean="0">
                                  <a:latin typeface="Cambria Math" panose="02040503050406030204" pitchFamily="18" charset="0"/>
                                  <a:ea typeface="Cambria Math" panose="02040503050406030204" pitchFamily="18" charset="0"/>
                                </a:rPr>
                                <m:t>𝐾</m:t>
                              </m:r>
                            </m:e>
                            <m:sub>
                              <m:r>
                                <a:rPr lang="pt-BR" sz="1400" i="1" dirty="0" smtClean="0">
                                  <a:latin typeface="Cambria Math" panose="02040503050406030204" pitchFamily="18" charset="0"/>
                                  <a:ea typeface="Cambria Math" panose="02040503050406030204" pitchFamily="18" charset="0"/>
                                </a:rPr>
                                <m:t>𝑏</m:t>
                              </m:r>
                              <m:r>
                                <a:rPr lang="en-US" sz="1400" b="0" i="1" dirty="0" smtClean="0">
                                  <a:latin typeface="Cambria Math" panose="02040503050406030204" pitchFamily="18" charset="0"/>
                                  <a:ea typeface="Cambria Math" panose="02040503050406030204" pitchFamily="18" charset="0"/>
                                </a:rPr>
                                <m:t>𝑡</m:t>
                              </m:r>
                            </m:sub>
                            <m:sup>
                              <m:r>
                                <a:rPr lang="en-US" sz="1400" i="1" dirty="0" smtClean="0">
                                  <a:latin typeface="Cambria Math" panose="02040503050406030204" pitchFamily="18" charset="0"/>
                                  <a:ea typeface="Cambria Math" panose="02040503050406030204" pitchFamily="18" charset="0"/>
                                </a:rPr>
                                <m:t>−1</m:t>
                              </m:r>
                            </m:sup>
                          </m:sSubSup>
                          <m:r>
                            <a:rPr lang="en-US" sz="1400" i="1" dirty="0" smtClean="0">
                              <a:latin typeface="Cambria Math" panose="02040503050406030204" pitchFamily="18" charset="0"/>
                              <a:ea typeface="Cambria Math" panose="02040503050406030204" pitchFamily="18" charset="0"/>
                            </a:rPr>
                            <m:t> </m:t>
                          </m:r>
                          <m:r>
                            <a:rPr lang="pt-BR" sz="1400" i="1" dirty="0" smtClean="0">
                              <a:latin typeface="Cambria Math" panose="02040503050406030204" pitchFamily="18" charset="0"/>
                              <a:ea typeface="Cambria Math" panose="02040503050406030204" pitchFamily="18" charset="0"/>
                            </a:rPr>
                            <m:t>𝑅</m:t>
                          </m:r>
                        </m:e>
                        <m:sup>
                          <m:r>
                            <a:rPr lang="en-US" sz="1400" i="1" dirty="0" smtClean="0">
                              <a:latin typeface="Cambria Math" panose="02040503050406030204" pitchFamily="18" charset="0"/>
                              <a:ea typeface="Cambria Math" panose="02040503050406030204" pitchFamily="18" charset="0"/>
                            </a:rPr>
                            <m:t>𝑇</m:t>
                          </m:r>
                        </m:sup>
                      </m:sSup>
                      <m:r>
                        <a:rPr lang="en-US" sz="1400" b="0" i="1" dirty="0" smtClean="0">
                          <a:latin typeface="Cambria Math" panose="02040503050406030204" pitchFamily="18" charset="0"/>
                          <a:ea typeface="Cambria Math" panose="02040503050406030204" pitchFamily="18" charset="0"/>
                        </a:rPr>
                        <m:t>𝑚</m:t>
                      </m:r>
                      <m:r>
                        <a:rPr lang="en-US" sz="1400" b="0" i="1" dirty="0" smtClean="0">
                          <a:latin typeface="Cambria Math" panose="02040503050406030204" pitchFamily="18" charset="0"/>
                          <a:ea typeface="Cambria Math" panose="02040503050406030204" pitchFamily="18" charset="0"/>
                        </a:rPr>
                        <m:t>+</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𝑢</m:t>
                          </m:r>
                        </m:e>
                        <m:sup>
                          <m:r>
                            <a:rPr lang="en-US" sz="1400" b="0" i="1" dirty="0" smtClean="0">
                              <a:latin typeface="Cambria Math" panose="02040503050406030204" pitchFamily="18" charset="0"/>
                              <a:ea typeface="Cambria Math" panose="02040503050406030204" pitchFamily="18" charset="0"/>
                            </a:rPr>
                            <m:t>∗</m:t>
                          </m:r>
                        </m:sup>
                      </m:sSup>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400" i="1" dirty="0" smtClean="0">
                              <a:latin typeface="Cambria Math" panose="02040503050406030204" pitchFamily="18" charset="0"/>
                              <a:ea typeface="Cambria Math" panose="02040503050406030204" pitchFamily="18" charset="0"/>
                            </a:rPr>
                          </m:ctrlPr>
                        </m:sSubPr>
                        <m:e>
                          <m:r>
                            <a:rPr lang="en-IN" sz="1400" i="1" dirty="0" smtClean="0">
                              <a:latin typeface="Cambria Math" panose="02040503050406030204" pitchFamily="18" charset="0"/>
                              <a:ea typeface="Cambria Math" panose="02040503050406030204" pitchFamily="18" charset="0"/>
                            </a:rPr>
                            <m:t>𝐾</m:t>
                          </m:r>
                        </m:e>
                        <m:sub>
                          <m:r>
                            <a:rPr lang="en-IN" sz="1400" i="1" dirty="0" smtClean="0">
                              <a:latin typeface="Cambria Math" panose="02040503050406030204" pitchFamily="18" charset="0"/>
                              <a:ea typeface="Cambria Math" panose="02040503050406030204" pitchFamily="18" charset="0"/>
                            </a:rPr>
                            <m:t>𝑠𝑒</m:t>
                          </m:r>
                        </m:sub>
                      </m:sSub>
                      <m:r>
                        <a:rPr lang="en-IN" sz="1400" i="1" dirty="0" smtClean="0">
                          <a:latin typeface="Cambria Math" panose="02040503050406030204" pitchFamily="18" charset="0"/>
                          <a:ea typeface="Cambria Math" panose="02040503050406030204" pitchFamily="18" charset="0"/>
                        </a:rPr>
                        <m:t> = </m:t>
                      </m:r>
                      <m:r>
                        <a:rPr lang="en-IN" sz="1400" i="1" dirty="0" smtClean="0">
                          <a:latin typeface="Cambria Math" panose="02040503050406030204" pitchFamily="18" charset="0"/>
                          <a:ea typeface="Cambria Math" panose="02040503050406030204" pitchFamily="18" charset="0"/>
                        </a:rPr>
                        <m:t>𝑑𝑖𝑎𝑔</m:t>
                      </m:r>
                      <m:d>
                        <m:dPr>
                          <m:ctrlPr>
                            <a:rPr lang="en-IN" sz="1400" i="1" dirty="0" smtClean="0">
                              <a:latin typeface="Cambria Math" panose="02040503050406030204" pitchFamily="18" charset="0"/>
                              <a:ea typeface="Cambria Math" panose="02040503050406030204" pitchFamily="18" charset="0"/>
                            </a:rPr>
                          </m:ctrlPr>
                        </m:dPr>
                        <m:e>
                          <m:r>
                            <a:rPr lang="en-IN" sz="1400" i="1" dirty="0" smtClean="0">
                              <a:latin typeface="Cambria Math" panose="02040503050406030204" pitchFamily="18" charset="0"/>
                              <a:ea typeface="Cambria Math" panose="02040503050406030204" pitchFamily="18" charset="0"/>
                            </a:rPr>
                            <m:t>𝐺𝐴</m:t>
                          </m:r>
                          <m:r>
                            <a:rPr lang="en-IN" sz="140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𝐺𝐴</m:t>
                          </m:r>
                          <m:r>
                            <a:rPr lang="en-IN" sz="140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𝐸𝐴</m:t>
                          </m:r>
                        </m:e>
                      </m:d>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400" i="1" dirty="0" smtClean="0">
                              <a:latin typeface="Cambria Math" panose="02040503050406030204" pitchFamily="18" charset="0"/>
                              <a:ea typeface="Cambria Math" panose="02040503050406030204" pitchFamily="18" charset="0"/>
                            </a:rPr>
                          </m:ctrlPr>
                        </m:sSubPr>
                        <m:e>
                          <m:r>
                            <a:rPr lang="en-IN" sz="1400" i="1" dirty="0" smtClean="0">
                              <a:latin typeface="Cambria Math" panose="02040503050406030204" pitchFamily="18" charset="0"/>
                              <a:ea typeface="Cambria Math" panose="02040503050406030204" pitchFamily="18" charset="0"/>
                            </a:rPr>
                            <m:t>𝐾</m:t>
                          </m:r>
                        </m:e>
                        <m:sub>
                          <m:r>
                            <a:rPr lang="en-IN" sz="1400" i="1" dirty="0" smtClean="0">
                              <a:latin typeface="Cambria Math" panose="02040503050406030204" pitchFamily="18" charset="0"/>
                              <a:ea typeface="Cambria Math" panose="02040503050406030204" pitchFamily="18" charset="0"/>
                            </a:rPr>
                            <m:t>𝑏𝑡</m:t>
                          </m:r>
                        </m:sub>
                      </m:sSub>
                      <m:r>
                        <a:rPr lang="en-IN" sz="1400" i="1" dirty="0" smtClean="0">
                          <a:latin typeface="Cambria Math" panose="02040503050406030204" pitchFamily="18" charset="0"/>
                          <a:ea typeface="Cambria Math" panose="02040503050406030204" pitchFamily="18" charset="0"/>
                        </a:rPr>
                        <m:t> = </m:t>
                      </m:r>
                      <m:r>
                        <a:rPr lang="en-IN" sz="1400" i="1" dirty="0" smtClean="0">
                          <a:latin typeface="Cambria Math" panose="02040503050406030204" pitchFamily="18" charset="0"/>
                          <a:ea typeface="Cambria Math" panose="02040503050406030204" pitchFamily="18" charset="0"/>
                        </a:rPr>
                        <m:t>𝑑𝑖𝑎𝑔</m:t>
                      </m:r>
                      <m:r>
                        <a:rPr lang="en-IN" sz="1400" i="1" dirty="0" smtClean="0">
                          <a:latin typeface="Cambria Math" panose="02040503050406030204" pitchFamily="18" charset="0"/>
                          <a:ea typeface="Cambria Math" panose="02040503050406030204" pitchFamily="18" charset="0"/>
                        </a:rPr>
                        <m:t>(</m:t>
                      </m:r>
                      <m:r>
                        <a:rPr lang="en-IN" sz="1400" i="1" dirty="0" smtClean="0">
                          <a:latin typeface="Cambria Math" panose="02040503050406030204" pitchFamily="18" charset="0"/>
                          <a:ea typeface="Cambria Math" panose="02040503050406030204" pitchFamily="18" charset="0"/>
                        </a:rPr>
                        <m:t>𝐸𝐼</m:t>
                      </m:r>
                      <m:r>
                        <a:rPr lang="en-IN" sz="1400" i="1" dirty="0" smtClean="0">
                          <a:latin typeface="Cambria Math" panose="02040503050406030204" pitchFamily="18" charset="0"/>
                          <a:ea typeface="Cambria Math" panose="02040503050406030204" pitchFamily="18" charset="0"/>
                        </a:rPr>
                        <m:t>ₓₓ, </m:t>
                      </m:r>
                      <m:r>
                        <a:rPr lang="en-IN" sz="1400" i="1" dirty="0" smtClean="0">
                          <a:latin typeface="Cambria Math" panose="02040503050406030204" pitchFamily="18" charset="0"/>
                          <a:ea typeface="Cambria Math" panose="02040503050406030204" pitchFamily="18" charset="0"/>
                        </a:rPr>
                        <m:t>𝐸𝐼</m:t>
                      </m:r>
                      <m:r>
                        <a:rPr lang="el-GR" sz="1400" i="1" dirty="0" smtClean="0">
                          <a:latin typeface="Cambria Math" panose="02040503050406030204" pitchFamily="18" charset="0"/>
                          <a:ea typeface="Cambria Math" panose="02040503050406030204" pitchFamily="18" charset="0"/>
                        </a:rPr>
                        <m:t>ᵧᵧ, </m:t>
                      </m:r>
                      <m:r>
                        <a:rPr lang="el-GR" sz="1400" i="1" dirty="0" smtClean="0">
                          <a:latin typeface="Cambria Math" panose="02040503050406030204" pitchFamily="18" charset="0"/>
                          <a:ea typeface="Cambria Math" panose="02040503050406030204" pitchFamily="18" charset="0"/>
                        </a:rPr>
                        <m:t>𝐸</m:t>
                      </m:r>
                      <m:sSub>
                        <m:sSubPr>
                          <m:ctrlPr>
                            <a:rPr lang="el-GR" sz="1400" i="1" dirty="0" smtClean="0">
                              <a:latin typeface="Cambria Math" panose="02040503050406030204" pitchFamily="18" charset="0"/>
                              <a:ea typeface="Cambria Math" panose="02040503050406030204" pitchFamily="18" charset="0"/>
                            </a:rPr>
                          </m:ctrlPr>
                        </m:sSubPr>
                        <m:e>
                          <m:r>
                            <a:rPr lang="el-GR" sz="1400" i="1" dirty="0" smtClean="0">
                              <a:latin typeface="Cambria Math" panose="02040503050406030204" pitchFamily="18" charset="0"/>
                              <a:ea typeface="Cambria Math" panose="02040503050406030204" pitchFamily="18" charset="0"/>
                            </a:rPr>
                            <m:t>𝐼</m:t>
                          </m:r>
                        </m:e>
                        <m:sub>
                          <m:r>
                            <a:rPr lang="el-GR" sz="1400" i="1" dirty="0" smtClean="0">
                              <a:latin typeface="Cambria Math" panose="02040503050406030204" pitchFamily="18" charset="0"/>
                              <a:ea typeface="Cambria Math" panose="02040503050406030204" pitchFamily="18" charset="0"/>
                            </a:rPr>
                            <m:t>𝑧𝑧</m:t>
                          </m:r>
                        </m:sub>
                      </m:sSub>
                      <m:r>
                        <a:rPr lang="el-GR" sz="1400" i="1" dirty="0" smtClean="0">
                          <a:latin typeface="Cambria Math" panose="02040503050406030204" pitchFamily="18" charset="0"/>
                          <a:ea typeface="Cambria Math" panose="02040503050406030204" pitchFamily="18" charset="0"/>
                        </a:rPr>
                        <m:t>)</m:t>
                      </m:r>
                    </m:oMath>
                  </m:oMathPara>
                </a14:m>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r>
                  <a:rPr lang="en-US" sz="1400" i="1" dirty="0">
                    <a:latin typeface="Cambria Math" panose="02040503050406030204" pitchFamily="18" charset="0"/>
                    <a:ea typeface="Cambria Math" panose="02040503050406030204" pitchFamily="18" charset="0"/>
                  </a:rPr>
                  <a:t>3) Governing equations(</a:t>
                </a:r>
                <a:r>
                  <a:rPr lang="en-US" sz="1400" i="1" dirty="0">
                    <a:solidFill>
                      <a:schemeClr val="accent2">
                        <a:lumMod val="75000"/>
                      </a:schemeClr>
                    </a:solidFill>
                    <a:latin typeface="Cambria Math" panose="02040503050406030204" pitchFamily="18" charset="0"/>
                    <a:ea typeface="Cambria Math" panose="02040503050406030204" pitchFamily="18" charset="0"/>
                  </a:rPr>
                  <a:t>ODE</a:t>
                </a:r>
                <a:r>
                  <a:rPr lang="en-US" sz="1400" i="1" dirty="0">
                    <a:latin typeface="Cambria Math" panose="02040503050406030204" pitchFamily="18" charset="0"/>
                    <a:ea typeface="Cambria Math" panose="02040503050406030204" pitchFamily="18" charset="0"/>
                  </a:rPr>
                  <a:t>)</a:t>
                </a:r>
              </a:p>
              <a:p>
                <a:pPr>
                  <a:defRPr sz="2000">
                    <a:solidFill>
                      <a:srgbClr val="142237"/>
                    </a:solidFill>
                  </a:defRPr>
                </a:pPr>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𝑟</m:t>
                        </m:r>
                      </m:e>
                      <m:sub>
                        <m:r>
                          <a:rPr lang="en-IN" sz="1400" i="1" dirty="0" smtClean="0">
                            <a:latin typeface="Cambria Math" panose="02040503050406030204" pitchFamily="18" charset="0"/>
                            <a:ea typeface="Cambria Math" panose="02040503050406030204" pitchFamily="18" charset="0"/>
                          </a:rPr>
                          <m:t>𝑡</m:t>
                        </m:r>
                      </m:sub>
                    </m:sSub>
                    <m:r>
                      <a:rPr lang="en-IN"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𝑅𝑞</m:t>
                    </m:r>
                  </m:oMath>
                </a14:m>
                <a:r>
                  <a:rPr lang="en-US" sz="1400"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IN" sz="1400" i="1" dirty="0" smtClean="0">
                            <a:latin typeface="Cambria Math" panose="02040503050406030204" pitchFamily="18" charset="0"/>
                            <a:ea typeface="Cambria Math" panose="02040503050406030204" pitchFamily="18" charset="0"/>
                          </a:rPr>
                        </m:ctrlPr>
                      </m:sSubPr>
                      <m:e>
                        <m:r>
                          <a:rPr lang="en-IN" sz="1400" i="1" dirty="0" smtClean="0">
                            <a:latin typeface="Cambria Math" panose="02040503050406030204" pitchFamily="18" charset="0"/>
                            <a:ea typeface="Cambria Math" panose="02040503050406030204" pitchFamily="18" charset="0"/>
                          </a:rPr>
                          <m:t>𝑅</m:t>
                        </m:r>
                      </m:e>
                      <m:sub>
                        <m:r>
                          <a:rPr lang="en-IN" sz="1400" i="1" dirty="0" smtClean="0">
                            <a:latin typeface="Cambria Math" panose="02040503050406030204" pitchFamily="18" charset="0"/>
                            <a:ea typeface="Cambria Math" panose="02040503050406030204" pitchFamily="18" charset="0"/>
                          </a:rPr>
                          <m:t>𝑡</m:t>
                        </m:r>
                      </m:sub>
                    </m:sSub>
                    <m:r>
                      <a:rPr lang="en-US" sz="1400" i="1" dirty="0" smtClean="0">
                        <a:latin typeface="Cambria Math" panose="02040503050406030204" pitchFamily="18" charset="0"/>
                        <a:ea typeface="Cambria Math" panose="02040503050406030204" pitchFamily="18" charset="0"/>
                      </a:rPr>
                      <m:t>=</m:t>
                    </m:r>
                    <m:r>
                      <a:rPr lang="en-US" sz="1400" i="1" dirty="0" smtClean="0">
                        <a:latin typeface="Cambria Math" panose="02040503050406030204" pitchFamily="18" charset="0"/>
                        <a:ea typeface="Cambria Math" panose="02040503050406030204" pitchFamily="18" charset="0"/>
                      </a:rPr>
                      <m:t>𝑅</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𝑊𝑥</m:t>
                        </m:r>
                      </m:e>
                    </m:d>
                  </m:oMath>
                </a14:m>
                <a:r>
                  <a:rPr lang="en-US" sz="1400" i="1" dirty="0">
                    <a:latin typeface="Cambria Math" panose="02040503050406030204" pitchFamily="18" charset="0"/>
                    <a:ea typeface="Cambria Math" panose="02040503050406030204" pitchFamily="18" charset="0"/>
                  </a:rPr>
                  <a:t>,</a:t>
                </a:r>
              </a:p>
              <a:p>
                <a:pPr algn="ct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𝑟</m:t>
                          </m:r>
                        </m:e>
                        <m:sub>
                          <m:r>
                            <a:rPr lang="en-US" sz="1400" i="1" dirty="0" smtClean="0">
                              <a:latin typeface="Cambria Math" panose="02040503050406030204" pitchFamily="18" charset="0"/>
                              <a:ea typeface="Cambria Math" panose="02040503050406030204" pitchFamily="18" charset="0"/>
                            </a:rPr>
                            <m:t>𝑡𝑡</m:t>
                          </m:r>
                        </m:sub>
                      </m:sSub>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𝑅</m:t>
                      </m:r>
                      <m:d>
                        <m:dPr>
                          <m:ctrlPr>
                            <a:rPr lang="en-US" sz="1400" i="1" dirty="0" smtClean="0">
                              <a:solidFill>
                                <a:schemeClr val="accent5"/>
                              </a:solidFill>
                              <a:latin typeface="Cambria Math" panose="02040503050406030204" pitchFamily="18" charset="0"/>
                              <a:ea typeface="Cambria Math" panose="02040503050406030204" pitchFamily="18" charset="0"/>
                            </a:rPr>
                          </m:ctrlPr>
                        </m:dPr>
                        <m:e>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𝑞</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solidFill>
                                <a:schemeClr val="accent5"/>
                              </a:solidFill>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 + </m:t>
                          </m:r>
                          <m:r>
                            <a:rPr lang="en-US" sz="1400" i="1" dirty="0" smtClean="0">
                              <a:latin typeface="Cambria Math" panose="02040503050406030204" pitchFamily="18" charset="0"/>
                              <a:ea typeface="Cambria Math" panose="02040503050406030204" pitchFamily="18" charset="0"/>
                            </a:rPr>
                            <m:t>𝑤</m:t>
                          </m:r>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𝑥</m:t>
                          </m:r>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𝑞</m:t>
                          </m:r>
                        </m:e>
                      </m:d>
                      <m:r>
                        <a:rPr lang="en-US" sz="1400" i="1" dirty="0" smtClean="0">
                          <a:latin typeface="Cambria Math" panose="02040503050406030204" pitchFamily="18" charset="0"/>
                          <a:ea typeface="Cambria Math" panose="02040503050406030204" pitchFamily="18" charset="0"/>
                        </a:rPr>
                        <m:t>,</m:t>
                      </m:r>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endParaRPr lang="en-IN" sz="1400" i="1" dirty="0"/>
              </a:p>
              <a:p>
                <a:pPr algn="ct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𝑟</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𝑅𝑣</m:t>
                      </m:r>
                      <m:r>
                        <a:rPr lang="en-US" sz="1400" i="1" dirty="0" smtClean="0">
                          <a:latin typeface="Cambria Math" panose="02040503050406030204" pitchFamily="18" charset="0"/>
                          <a:ea typeface="Cambria Math" panose="02040503050406030204" pitchFamily="18" charset="0"/>
                        </a:rPr>
                        <m:t>, </m:t>
                      </m:r>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𝑅</m:t>
                          </m:r>
                        </m:e>
                        <m:sub>
                          <m:r>
                            <a:rPr lang="en-US" sz="1400" i="1" dirty="0" smtClean="0">
                              <a:latin typeface="Cambria Math" panose="02040503050406030204" pitchFamily="18" charset="0"/>
                              <a:ea typeface="Cambria Math" panose="02040503050406030204" pitchFamily="18" charset="0"/>
                            </a:rPr>
                            <m:t>𝑠</m:t>
                          </m:r>
                        </m:sub>
                      </m:sSub>
                      <m:r>
                        <a:rPr lang="en-IN" sz="1400" i="1" dirty="0" smtClean="0">
                          <a:latin typeface="Cambria Math" panose="02040503050406030204" pitchFamily="18" charset="0"/>
                          <a:ea typeface="Cambria Math" panose="02040503050406030204" pitchFamily="18" charset="0"/>
                        </a:rPr>
                        <m:t>=</m:t>
                      </m:r>
                      <m:r>
                        <a:rPr lang="en-US" sz="1400" i="1" dirty="0" smtClean="0">
                          <a:latin typeface="Cambria Math" panose="02040503050406030204" pitchFamily="18" charset="0"/>
                          <a:ea typeface="Cambria Math" panose="02040503050406030204" pitchFamily="18" charset="0"/>
                        </a:rPr>
                        <m:t>𝑅</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𝑈𝑥</m:t>
                          </m:r>
                        </m:e>
                      </m:d>
                      <m:r>
                        <a:rPr lang="en-US" sz="1400" i="1" dirty="0" smtClean="0">
                          <a:latin typeface="Cambria Math" panose="02040503050406030204" pitchFamily="18" charset="0"/>
                          <a:ea typeface="Cambria Math" panose="02040503050406030204" pitchFamily="18" charset="0"/>
                        </a:rPr>
                        <m:t>,</m:t>
                      </m:r>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𝑛</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𝑟</m:t>
                        </m:r>
                      </m:e>
                      <m:sub>
                        <m:r>
                          <a:rPr lang="en-US" sz="1400" i="1" dirty="0" smtClean="0">
                            <a:solidFill>
                              <a:schemeClr val="accent5"/>
                            </a:solidFill>
                            <a:latin typeface="Cambria Math" panose="02040503050406030204" pitchFamily="18" charset="0"/>
                            <a:ea typeface="Cambria Math" panose="02040503050406030204" pitchFamily="18" charset="0"/>
                          </a:rPr>
                          <m:t>𝑡𝑡</m:t>
                        </m:r>
                      </m:sub>
                    </m:sSub>
                  </m:oMath>
                </a14:m>
                <a:r>
                  <a:rPr lang="en-IN" sz="1400" i="1" dirty="0">
                    <a:latin typeface="Cambria Math" panose="02040503050406030204" pitchFamily="18" charset="0"/>
                    <a:ea typeface="Cambria Math" panose="02040503050406030204" pitchFamily="18" charset="0"/>
                  </a:rPr>
                  <a:t>,</a:t>
                </a:r>
              </a:p>
              <a:p>
                <a:pPr>
                  <a:defRPr sz="2000">
                    <a:solidFill>
                      <a:srgbClr val="142237"/>
                    </a:solidFill>
                  </a:defRPr>
                </a:pPr>
                <a14:m>
                  <m:oMath xmlns:m="http://schemas.openxmlformats.org/officeDocument/2006/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𝑚</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𝑟</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𝑥</m:t>
                    </m:r>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𝑛</m:t>
                    </m:r>
                    <m:r>
                      <a:rPr lang="en-US" sz="1400" i="1" dirty="0" smtClean="0">
                        <a:latin typeface="Cambria Math" panose="02040503050406030204" pitchFamily="18" charset="0"/>
                        <a:ea typeface="Cambria Math" panose="02040503050406030204" pitchFamily="18" charset="0"/>
                      </a:rPr>
                      <m:t>=</m:t>
                    </m:r>
                    <m:r>
                      <a:rPr lang="en-US" sz="1400" b="0" i="1" dirty="0" smtClean="0">
                        <a:latin typeface="Cambria Math" panose="02040503050406030204" pitchFamily="18" charset="0"/>
                        <a:ea typeface="Cambria Math" panose="02040503050406030204" pitchFamily="18" charset="0"/>
                      </a:rPr>
                      <m:t>𝑅</m:t>
                    </m:r>
                    <m:r>
                      <a:rPr lang="en-US" sz="1400" b="0" i="1" dirty="0" smtClean="0">
                        <a:latin typeface="Cambria Math" panose="02040503050406030204" pitchFamily="18" charset="0"/>
                        <a:ea typeface="Cambria Math" panose="02040503050406030204" pitchFamily="18" charset="0"/>
                      </a:rPr>
                      <m:t>(</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400" b="0" i="1" dirty="0" smtClean="0">
                        <a:solidFill>
                          <a:schemeClr val="accent2">
                            <a:lumMod val="75000"/>
                          </a:schemeClr>
                        </a:solidFill>
                        <a:latin typeface="Cambria Math" panose="02040503050406030204" pitchFamily="18" charset="0"/>
                        <a:ea typeface="Cambria Math" panose="02040503050406030204" pitchFamily="18" charset="0"/>
                      </a:rPr>
                      <m:t>𝐽</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𝑤</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solidFill>
                          <a:schemeClr val="accent2">
                            <a:lumMod val="75000"/>
                          </a:schemeClr>
                        </a:solidFill>
                        <a:latin typeface="Cambria Math" panose="02040503050406030204" pitchFamily="18" charset="0"/>
                        <a:ea typeface="Cambria Math" panose="02040503050406030204" pitchFamily="18" charset="0"/>
                      </a:rPr>
                      <m:t>+</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𝑤</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𝑥</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 </m:t>
                    </m:r>
                    <m:d>
                      <m:dPr>
                        <m:ctrlPr>
                          <a:rPr lang="en-US" sz="1400" i="1" dirty="0" smtClean="0">
                            <a:solidFill>
                              <a:schemeClr val="accent2">
                                <a:lumMod val="75000"/>
                              </a:schemeClr>
                            </a:solidFill>
                            <a:latin typeface="Cambria Math" panose="02040503050406030204" pitchFamily="18" charset="0"/>
                            <a:ea typeface="Cambria Math" panose="02040503050406030204" pitchFamily="18" charset="0"/>
                          </a:rPr>
                        </m:ctrlPr>
                      </m:dPr>
                      <m:e>
                        <m:r>
                          <a:rPr lang="en-US" sz="14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𝐽𝑤</m:t>
                        </m:r>
                      </m:e>
                    </m:d>
                  </m:oMath>
                </a14:m>
                <a:r>
                  <a:rPr lang="en-US" sz="1400" i="1" dirty="0">
                    <a:latin typeface="Cambria Math" panose="02040503050406030204" pitchFamily="18" charset="0"/>
                    <a:ea typeface="Cambria Math" panose="02040503050406030204" pitchFamily="18" charset="0"/>
                  </a:rPr>
                  <a:t>)</a:t>
                </a:r>
              </a:p>
              <a:p>
                <a:pP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𝑤</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 </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𝑢</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solidFill>
                            <a:schemeClr val="accent5"/>
                          </a:solidFill>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𝑈𝑥</m:t>
                          </m:r>
                        </m:e>
                      </m:d>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𝑤</m:t>
                      </m:r>
                    </m:oMath>
                  </m:oMathPara>
                </a14:m>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𝑞</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𝑣</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latin typeface="Cambria Math" panose="02040503050406030204" pitchFamily="18" charset="0"/>
                          <a:ea typeface="Cambria Math" panose="02040503050406030204" pitchFamily="18" charset="0"/>
                        </a:rPr>
                        <m:t>−</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𝑈𝑥</m:t>
                          </m:r>
                        </m:e>
                      </m:d>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𝑞</m:t>
                      </m:r>
                      <m:r>
                        <a:rPr lang="en-US" sz="1400" i="1" dirty="0" smtClean="0">
                          <a:latin typeface="Cambria Math" panose="02040503050406030204" pitchFamily="18" charset="0"/>
                          <a:ea typeface="Cambria Math" panose="02040503050406030204" pitchFamily="18" charset="0"/>
                        </a:rPr>
                        <m:t>+</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𝑊𝑥</m:t>
                          </m:r>
                        </m:e>
                      </m:d>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𝑣</m:t>
                      </m:r>
                    </m:oMath>
                  </m:oMathPara>
                </a14:m>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4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903C192F-EE95-4F0A-7F2E-477D33E1637A}"/>
                  </a:ext>
                </a:extLst>
              </p:cNvPr>
              <p:cNvSpPr txBox="1">
                <a:spLocks noRot="1" noChangeAspect="1" noMove="1" noResize="1" noEditPoints="1" noAdjustHandles="1" noChangeArrowheads="1" noChangeShapeType="1" noTextEdit="1"/>
              </p:cNvSpPr>
              <p:nvPr/>
            </p:nvSpPr>
            <p:spPr>
              <a:xfrm>
                <a:off x="8071776" y="1686746"/>
                <a:ext cx="2971198" cy="3990003"/>
              </a:xfrm>
              <a:prstGeom prst="rect">
                <a:avLst/>
              </a:prstGeom>
              <a:blipFill>
                <a:blip r:embed="rId2"/>
                <a:stretch>
                  <a:fillRect l="-615" t="-4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48027CA-36BF-9B9C-D1B5-A337BC5C9395}"/>
                  </a:ext>
                </a:extLst>
              </p:cNvPr>
              <p:cNvSpPr txBox="1"/>
              <p:nvPr/>
            </p:nvSpPr>
            <p:spPr>
              <a:xfrm>
                <a:off x="5872680" y="6139687"/>
                <a:ext cx="6096000" cy="465256"/>
              </a:xfrm>
              <a:prstGeom prst="rect">
                <a:avLst/>
              </a:prstGeom>
              <a:noFill/>
            </p:spPr>
            <p:txBody>
              <a:bodyPr wrap="square">
                <a:spAutoFit/>
              </a:bodyPr>
              <a:lstStyle/>
              <a:p>
                <a:r>
                  <a:rPr lang="en-IN" sz="1200" dirty="0">
                    <a:latin typeface="Cambria Math" panose="02040503050406030204" pitchFamily="18" charset="0"/>
                    <a:ea typeface="Cambria Math" panose="02040503050406030204" pitchFamily="18" charset="0"/>
                  </a:rPr>
                  <a:t>For a straight undeformed rod: </a:t>
                </a:r>
                <a14:m>
                  <m:oMath xmlns:m="http://schemas.openxmlformats.org/officeDocument/2006/math">
                    <m:sSup>
                      <m:sSupPr>
                        <m:ctrlPr>
                          <a:rPr lang="en-US" sz="1200" b="0" i="0" dirty="0" smtClean="0">
                            <a:latin typeface="Cambria Math" panose="02040503050406030204" pitchFamily="18" charset="0"/>
                            <a:ea typeface="Cambria Math" panose="02040503050406030204" pitchFamily="18" charset="0"/>
                          </a:rPr>
                        </m:ctrlPr>
                      </m:sSupPr>
                      <m:e>
                        <m:r>
                          <m:rPr>
                            <m:sty m:val="p"/>
                          </m:rPr>
                          <a:rPr lang="en-US" sz="1200" b="0" i="0" dirty="0" smtClean="0">
                            <a:latin typeface="Cambria Math" panose="02040503050406030204" pitchFamily="18" charset="0"/>
                            <a:ea typeface="Cambria Math" panose="02040503050406030204" pitchFamily="18" charset="0"/>
                          </a:rPr>
                          <m:t>u</m:t>
                        </m:r>
                      </m:e>
                      <m:sup>
                        <m:r>
                          <a:rPr lang="en-US" sz="1200" b="0" i="0" dirty="0" smtClean="0">
                            <a:latin typeface="Cambria Math" panose="02040503050406030204" pitchFamily="18" charset="0"/>
                            <a:ea typeface="Cambria Math" panose="02040503050406030204" pitchFamily="18" charset="0"/>
                          </a:rPr>
                          <m:t>∗</m:t>
                        </m:r>
                      </m:sup>
                    </m:sSup>
                    <m:r>
                      <a:rPr lang="el-GR" sz="1200" i="0" dirty="0" smtClean="0">
                        <a:latin typeface="Cambria Math" panose="02040503050406030204" pitchFamily="18" charset="0"/>
                        <a:ea typeface="Cambria Math" panose="02040503050406030204" pitchFamily="18" charset="0"/>
                      </a:rPr>
                      <m:t> </m:t>
                    </m:r>
                    <m:r>
                      <a:rPr lang="el-GR" sz="1200" i="0" dirty="0">
                        <a:latin typeface="Cambria Math" panose="02040503050406030204" pitchFamily="18" charset="0"/>
                        <a:ea typeface="Cambria Math" panose="02040503050406030204" pitchFamily="18" charset="0"/>
                      </a:rPr>
                      <m:t>= </m:t>
                    </m:r>
                    <m:sSup>
                      <m:sSupPr>
                        <m:ctrlPr>
                          <a:rPr lang="el-GR" sz="1200" i="1" dirty="0" smtClean="0">
                            <a:latin typeface="Cambria Math" panose="02040503050406030204" pitchFamily="18" charset="0"/>
                            <a:ea typeface="Cambria Math" panose="02040503050406030204" pitchFamily="18" charset="0"/>
                          </a:rPr>
                        </m:ctrlPr>
                      </m:sSupPr>
                      <m:e>
                        <m:d>
                          <m:dPr>
                            <m:begChr m:val="["/>
                            <m:endChr m:val="]"/>
                            <m:ctrlPr>
                              <a:rPr lang="el-GR" sz="1200" i="0" dirty="0" smtClean="0">
                                <a:latin typeface="Cambria Math" panose="02040503050406030204" pitchFamily="18" charset="0"/>
                                <a:ea typeface="Cambria Math" panose="02040503050406030204" pitchFamily="18" charset="0"/>
                              </a:rPr>
                            </m:ctrlPr>
                          </m:dPr>
                          <m:e>
                            <m:r>
                              <a:rPr lang="el-GR" sz="1200" i="0" dirty="0" smtClean="0">
                                <a:latin typeface="Cambria Math" panose="02040503050406030204" pitchFamily="18" charset="0"/>
                                <a:ea typeface="Cambria Math" panose="02040503050406030204" pitchFamily="18" charset="0"/>
                              </a:rPr>
                              <m:t>0,0,0</m:t>
                            </m:r>
                          </m:e>
                        </m:d>
                      </m:e>
                      <m:sup>
                        <m:r>
                          <m:rPr>
                            <m:sty m:val="p"/>
                          </m:rPr>
                          <a:rPr lang="en-US" sz="1200" i="0" dirty="0" smtClean="0">
                            <a:latin typeface="Cambria Math" panose="02040503050406030204" pitchFamily="18" charset="0"/>
                            <a:ea typeface="Cambria Math" panose="02040503050406030204" pitchFamily="18" charset="0"/>
                          </a:rPr>
                          <m:t>T</m:t>
                        </m:r>
                      </m:sup>
                    </m:sSup>
                    <m:r>
                      <a:rPr lang="en-US" sz="1200" b="0" i="0" dirty="0" smtClean="0">
                        <a:latin typeface="Cambria Math" panose="02040503050406030204" pitchFamily="18" charset="0"/>
                        <a:ea typeface="Cambria Math" panose="02040503050406030204" pitchFamily="18" charset="0"/>
                      </a:rPr>
                      <m:t>,</m:t>
                    </m:r>
                    <m:r>
                      <a:rPr lang="en-US" sz="1200" i="0" dirty="0" smtClean="0">
                        <a:latin typeface="Cambria Math" panose="02040503050406030204" pitchFamily="18" charset="0"/>
                        <a:ea typeface="Cambria Math" panose="02040503050406030204" pitchFamily="18" charset="0"/>
                      </a:rPr>
                      <m:t> </m:t>
                    </m:r>
                    <m:sSup>
                      <m:sSupPr>
                        <m:ctrlPr>
                          <a:rPr lang="en-US" sz="1200" i="0" dirty="0" smtClean="0">
                            <a:latin typeface="Cambria Math" panose="02040503050406030204" pitchFamily="18" charset="0"/>
                            <a:ea typeface="Cambria Math" panose="02040503050406030204" pitchFamily="18" charset="0"/>
                          </a:rPr>
                        </m:ctrlPr>
                      </m:sSupPr>
                      <m:e>
                        <m:r>
                          <m:rPr>
                            <m:sty m:val="p"/>
                          </m:rPr>
                          <a:rPr lang="en-US" sz="1200" i="0" dirty="0" smtClean="0">
                            <a:latin typeface="Cambria Math" panose="02040503050406030204" pitchFamily="18" charset="0"/>
                            <a:ea typeface="Cambria Math" panose="02040503050406030204" pitchFamily="18" charset="0"/>
                          </a:rPr>
                          <m:t>v</m:t>
                        </m:r>
                      </m:e>
                      <m:sup>
                        <m:r>
                          <a:rPr lang="en-US" sz="1200" i="0" dirty="0" smtClean="0">
                            <a:latin typeface="Cambria Math" panose="02040503050406030204" pitchFamily="18" charset="0"/>
                            <a:ea typeface="Cambria Math" panose="02040503050406030204" pitchFamily="18" charset="0"/>
                          </a:rPr>
                          <m:t>∗</m:t>
                        </m:r>
                      </m:sup>
                    </m:sSup>
                    <m:r>
                      <a:rPr lang="en-US" sz="1200" i="0" dirty="0" smtClean="0">
                        <a:latin typeface="Cambria Math" panose="02040503050406030204" pitchFamily="18" charset="0"/>
                        <a:ea typeface="Cambria Math" panose="02040503050406030204" pitchFamily="18" charset="0"/>
                      </a:rPr>
                      <m:t>=[</m:t>
                    </m:r>
                    <m:r>
                      <a:rPr lang="el-GR" sz="1200" i="0" dirty="0" smtClean="0">
                        <a:latin typeface="Cambria Math" panose="02040503050406030204" pitchFamily="18" charset="0"/>
                        <a:ea typeface="Cambria Math" panose="02040503050406030204" pitchFamily="18" charset="0"/>
                      </a:rPr>
                      <m:t>0,0,1</m:t>
                    </m:r>
                    <m:r>
                      <a:rPr lang="el-GR" sz="1200" i="0" dirty="0">
                        <a:latin typeface="Cambria Math" panose="02040503050406030204" pitchFamily="18" charset="0"/>
                        <a:ea typeface="Cambria Math" panose="02040503050406030204" pitchFamily="18" charset="0"/>
                      </a:rPr>
                      <m:t>]</m:t>
                    </m:r>
                    <m:r>
                      <a:rPr lang="en-IN" sz="1200" i="0" dirty="0">
                        <a:latin typeface="Cambria Math" panose="02040503050406030204" pitchFamily="18" charset="0"/>
                        <a:ea typeface="Cambria Math" panose="02040503050406030204" pitchFamily="18" charset="0"/>
                      </a:rPr>
                      <m:t>ᵀ</m:t>
                    </m:r>
                  </m:oMath>
                </a14:m>
                <a:endParaRPr lang="en-IN" sz="1200" dirty="0">
                  <a:latin typeface="Cambria Math" panose="02040503050406030204" pitchFamily="18" charset="0"/>
                  <a:ea typeface="Cambria Math" panose="02040503050406030204" pitchFamily="18" charset="0"/>
                </a:endParaRPr>
              </a:p>
              <a:p>
                <a:r>
                  <a:rPr lang="en-IN" sz="1200" dirty="0">
                    <a:latin typeface="Cambria Math" panose="02040503050406030204" pitchFamily="18" charset="0"/>
                    <a:ea typeface="Cambria Math" panose="02040503050406030204" pitchFamily="18" charset="0"/>
                  </a:rPr>
                  <a:t>BDF, Backward differentiation formula</a:t>
                </a:r>
              </a:p>
            </p:txBody>
          </p:sp>
        </mc:Choice>
        <mc:Fallback xmlns="">
          <p:sp>
            <p:nvSpPr>
              <p:cNvPr id="8" name="TextBox 7">
                <a:extLst>
                  <a:ext uri="{FF2B5EF4-FFF2-40B4-BE49-F238E27FC236}">
                    <a16:creationId xmlns:a16="http://schemas.microsoft.com/office/drawing/2014/main" id="{A48027CA-36BF-9B9C-D1B5-A337BC5C9395}"/>
                  </a:ext>
                </a:extLst>
              </p:cNvPr>
              <p:cNvSpPr txBox="1">
                <a:spLocks noRot="1" noChangeAspect="1" noMove="1" noResize="1" noEditPoints="1" noAdjustHandles="1" noChangeArrowheads="1" noChangeShapeType="1" noTextEdit="1"/>
              </p:cNvSpPr>
              <p:nvPr/>
            </p:nvSpPr>
            <p:spPr>
              <a:xfrm>
                <a:off x="5872680" y="6139687"/>
                <a:ext cx="6096000" cy="465256"/>
              </a:xfrm>
              <a:prstGeom prst="rect">
                <a:avLst/>
              </a:prstGeom>
              <a:blipFill>
                <a:blip r:embed="rId3"/>
                <a:stretch>
                  <a:fillRect b="-10526"/>
                </a:stretch>
              </a:blipFill>
            </p:spPr>
            <p:txBody>
              <a:bodyPr/>
              <a:lstStyle/>
              <a:p>
                <a:r>
                  <a:rPr lang="en-IN">
                    <a:noFill/>
                  </a:rPr>
                  <a:t> </a:t>
                </a:r>
              </a:p>
            </p:txBody>
          </p:sp>
        </mc:Fallback>
      </mc:AlternateContent>
      <p:pic>
        <p:nvPicPr>
          <p:cNvPr id="78" name="Picture 77"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23C0220B-80D0-04DD-8286-D55CAB2E7C4D}"/>
              </a:ext>
            </a:extLst>
          </p:cNvPr>
          <p:cNvPicPr>
            <a:picLocks noChangeAspect="1"/>
          </p:cNvPicPr>
          <p:nvPr/>
        </p:nvPicPr>
        <p:blipFill>
          <a:blip r:embed="rId4"/>
          <a:srcRect l="53850"/>
          <a:stretch>
            <a:fillRect/>
          </a:stretch>
        </p:blipFill>
        <p:spPr>
          <a:xfrm>
            <a:off x="10088561" y="137983"/>
            <a:ext cx="1691413" cy="1454690"/>
          </a:xfrm>
          <a:prstGeom prst="rect">
            <a:avLst/>
          </a:prstGeom>
          <a:ln>
            <a:solidFill>
              <a:schemeClr val="tx1"/>
            </a:solidFill>
          </a:ln>
        </p:spPr>
      </p:pic>
      <p:sp>
        <p:nvSpPr>
          <p:cNvPr id="6" name="TextBox 5">
            <a:extLst>
              <a:ext uri="{FF2B5EF4-FFF2-40B4-BE49-F238E27FC236}">
                <a16:creationId xmlns:a16="http://schemas.microsoft.com/office/drawing/2014/main" id="{4D6F1185-D3D6-182C-56A9-B758630E6D31}"/>
              </a:ext>
            </a:extLst>
          </p:cNvPr>
          <p:cNvSpPr txBox="1"/>
          <p:nvPr/>
        </p:nvSpPr>
        <p:spPr>
          <a:xfrm>
            <a:off x="876314" y="848502"/>
            <a:ext cx="6096000" cy="584775"/>
          </a:xfrm>
          <a:prstGeom prst="rect">
            <a:avLst/>
          </a:prstGeom>
          <a:noFill/>
        </p:spPr>
        <p:txBody>
          <a:bodyPr wrap="squar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Dynamic Equilibrium:</a:t>
            </a:r>
          </a:p>
          <a:p>
            <a:pPr>
              <a:defRPr sz="2000">
                <a:solidFill>
                  <a:srgbClr val="142237"/>
                </a:solidFill>
              </a:defRPr>
            </a:pPr>
            <a:r>
              <a:rPr lang="en-US" sz="1600" dirty="0">
                <a:latin typeface="Cambria Math" panose="02040503050406030204" pitchFamily="18" charset="0"/>
                <a:ea typeface="Cambria Math" panose="02040503050406030204" pitchFamily="18" charset="0"/>
              </a:rPr>
              <a:t>(t &gt; 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6C5099-5A40-4020-08FD-F53DD70C687C}"/>
                  </a:ext>
                </a:extLst>
              </p:cNvPr>
              <p:cNvSpPr txBox="1"/>
              <p:nvPr/>
            </p:nvSpPr>
            <p:spPr>
              <a:xfrm>
                <a:off x="4823012" y="2265585"/>
                <a:ext cx="2666214" cy="3005438"/>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
                      <m:r>
                        <a:rPr lang="en-US" sz="1400" i="1" smtClean="0">
                          <a:latin typeface="Cambria Math" panose="02040503050406030204" pitchFamily="18" charset="0"/>
                          <a:ea typeface="Cambria Math" panose="02040503050406030204" pitchFamily="18" charset="0"/>
                        </a:rPr>
                        <m:t>𝑈𝑠𝑖𝑛𝑔</m:t>
                      </m:r>
                      <m:r>
                        <a:rPr lang="en-US" sz="1400" i="1"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𝐵𝐷𝐹</m:t>
                      </m:r>
                      <m:r>
                        <a:rPr lang="en-US" sz="1400" i="1"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𝑓𝑜𝑟</m:t>
                      </m:r>
                      <m:r>
                        <a:rPr lang="en-US" sz="1400" i="1" smtClean="0">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𝑢</m:t>
                          </m:r>
                        </m:e>
                        <m:sub>
                          <m:r>
                            <a:rPr lang="en-US" sz="1400" i="1">
                              <a:solidFill>
                                <a:schemeClr val="accent5"/>
                              </a:solidFill>
                              <a:latin typeface="Cambria Math" panose="02040503050406030204" pitchFamily="18" charset="0"/>
                              <a:ea typeface="Cambria Math" panose="02040503050406030204" pitchFamily="18" charset="0"/>
                            </a:rPr>
                            <m:t>𝑡</m:t>
                          </m:r>
                        </m:sub>
                      </m:sSub>
                      <m:r>
                        <a:rPr lang="en-US" sz="1400" i="1">
                          <a:solidFill>
                            <a:schemeClr val="accent5"/>
                          </a:solidFill>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𝑣</m:t>
                          </m:r>
                        </m:e>
                        <m:sub>
                          <m:r>
                            <a:rPr lang="en-US" sz="1400" i="1">
                              <a:solidFill>
                                <a:schemeClr val="accent5"/>
                              </a:solidFill>
                              <a:latin typeface="Cambria Math" panose="02040503050406030204" pitchFamily="18" charset="0"/>
                              <a:ea typeface="Cambria Math" panose="02040503050406030204" pitchFamily="18" charset="0"/>
                            </a:rPr>
                            <m:t>𝑡</m:t>
                          </m:r>
                        </m:sub>
                      </m:sSub>
                      <m:r>
                        <a:rPr lang="en-US" sz="1400" i="1">
                          <a:solidFill>
                            <a:schemeClr val="accent5"/>
                          </a:solidFill>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𝑞</m:t>
                          </m:r>
                        </m:e>
                        <m:sub>
                          <m:r>
                            <a:rPr lang="en-US" sz="1400" i="1">
                              <a:solidFill>
                                <a:schemeClr val="accent5"/>
                              </a:solidFill>
                              <a:latin typeface="Cambria Math" panose="02040503050406030204" pitchFamily="18" charset="0"/>
                              <a:ea typeface="Cambria Math" panose="02040503050406030204" pitchFamily="18" charset="0"/>
                            </a:rPr>
                            <m:t>𝑡</m:t>
                          </m:r>
                        </m:sub>
                      </m:sSub>
                      <m:r>
                        <a:rPr lang="en-US" sz="1400" i="1">
                          <a:solidFill>
                            <a:schemeClr val="accent5"/>
                          </a:solidFill>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𝑤</m:t>
                          </m:r>
                        </m:e>
                        <m:sub>
                          <m:r>
                            <a:rPr lang="en-US" sz="1400" i="1">
                              <a:solidFill>
                                <a:schemeClr val="accent5"/>
                              </a:solidFill>
                              <a:latin typeface="Cambria Math" panose="02040503050406030204" pitchFamily="18" charset="0"/>
                              <a:ea typeface="Cambria Math" panose="02040503050406030204" pitchFamily="18" charset="0"/>
                            </a:rPr>
                            <m:t>𝑡</m:t>
                          </m:r>
                        </m:sub>
                      </m:sSub>
                    </m:oMath>
                  </m:oMathPara>
                </a14:m>
                <a:endParaRPr lang="en-US" sz="1400" i="1" dirty="0">
                  <a:latin typeface="Cambria Math" panose="02040503050406030204" pitchFamily="18" charset="0"/>
                  <a:ea typeface="Cambria Math" panose="02040503050406030204" pitchFamily="18" charset="0"/>
                </a:endParaRPr>
              </a:p>
              <a:p>
                <a:endParaRPr lang="en-US" sz="1400" i="1" dirty="0">
                  <a:latin typeface="Cambria Math" panose="02040503050406030204" pitchFamily="18" charset="0"/>
                  <a:ea typeface="Cambria Math" panose="02040503050406030204" pitchFamily="18" charset="0"/>
                </a:endParaRPr>
              </a:p>
              <a:p>
                <a:r>
                  <a:rPr lang="en-US" sz="1400" i="1" dirty="0">
                    <a:latin typeface="Cambria Math" panose="02040503050406030204" pitchFamily="18" charset="0"/>
                    <a:ea typeface="Cambria Math" panose="02040503050406030204" pitchFamily="18" charset="0"/>
                  </a:rPr>
                  <a:t>At t=1,</a:t>
                </a:r>
                <a:endParaRPr lang="en-US" sz="14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400" b="0" i="1" smtClean="0">
                          <a:latin typeface="Cambria Math" panose="02040503050406030204" pitchFamily="18" charset="0"/>
                          <a:ea typeface="Cambria Math" panose="02040503050406030204" pitchFamily="18" charset="0"/>
                        </a:rPr>
                        <m:t>𝐵𝐷𝐹</m:t>
                      </m:r>
                      <m:r>
                        <a:rPr lang="en-US" sz="1400" b="0" i="1" smtClean="0">
                          <a:latin typeface="Cambria Math" panose="02040503050406030204" pitchFamily="18" charset="0"/>
                          <a:ea typeface="Cambria Math" panose="02040503050406030204" pitchFamily="18" charset="0"/>
                        </a:rPr>
                        <m:t> 1 </m:t>
                      </m:r>
                      <m:r>
                        <a:rPr lang="en-US" sz="1400" b="0" i="1" dirty="0" smtClean="0">
                          <a:latin typeface="Cambria Math" panose="02040503050406030204" pitchFamily="18" charset="0"/>
                          <a:ea typeface="Cambria Math" panose="02040503050406030204" pitchFamily="18" charset="0"/>
                        </a:rPr>
                        <m:t>𝑜𝑟</m:t>
                      </m:r>
                      <m:r>
                        <a:rPr lang="en-US" sz="1400" b="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𝐵𝑎𝑐𝑘𝑤𝑎𝑟𝑑</m:t>
                      </m:r>
                      <m:r>
                        <a:rPr lang="en-IN" sz="140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𝐸𝑢𝑙𝑒𝑟</m:t>
                      </m:r>
                    </m:oMath>
                  </m:oMathPara>
                </a14:m>
                <a:endParaRPr lang="en-US" sz="1400" b="0" i="1" dirty="0">
                  <a:latin typeface="Cambria Math" panose="02040503050406030204" pitchFamily="18" charset="0"/>
                  <a:ea typeface="Cambria Math" panose="02040503050406030204" pitchFamily="18" charset="0"/>
                </a:endParaRPr>
              </a:p>
              <a:p>
                <a:endParaRPr lang="en-US" sz="1400" b="0" dirty="0">
                  <a:latin typeface="Cambria Math" panose="02040503050406030204" pitchFamily="18" charset="0"/>
                  <a:ea typeface="Cambria Math" panose="02040503050406030204" pitchFamily="18" charset="0"/>
                </a:endParaRPr>
              </a:p>
              <a:p>
                <a:pPr/>
                <a14:m>
                  <m:oMathPara xmlns:m="http://schemas.openxmlformats.org/officeDocument/2006/math">
                    <m:oMath>
                      <m:f>
                        <m:fPr>
                          <m:ctrlPr>
                            <a:rPr lang="en-IN" sz="1400" i="1" dirty="0">
                              <a:latin typeface="Cambria Math" panose="02040503050406030204" pitchFamily="18" charset="0"/>
                              <a:ea typeface="Cambria Math" panose="02040503050406030204" pitchFamily="18" charset="0"/>
                            </a:rPr>
                          </m:ctrlPr>
                        </m:fPr>
                        <m:num>
                          <m:r>
                            <a:rPr lang="en-IN" sz="1400" i="1" dirty="0">
                              <a:latin typeface="Cambria Math" panose="02040503050406030204" pitchFamily="18" charset="0"/>
                              <a:ea typeface="Cambria Math" panose="02040503050406030204" pitchFamily="18" charset="0"/>
                            </a:rPr>
                            <m:t>𝑑𝑓</m:t>
                          </m:r>
                        </m:num>
                        <m:den>
                          <m:r>
                            <a:rPr lang="en-IN" sz="1400" i="1" dirty="0">
                              <a:latin typeface="Cambria Math" panose="02040503050406030204" pitchFamily="18" charset="0"/>
                              <a:ea typeface="Cambria Math" panose="02040503050406030204" pitchFamily="18" charset="0"/>
                            </a:rPr>
                            <m:t>𝑑</m:t>
                          </m:r>
                          <m:sSub>
                            <m:sSubPr>
                              <m:ctrlPr>
                                <a:rPr lang="en-IN" sz="1400" i="1" dirty="0">
                                  <a:latin typeface="Cambria Math" panose="02040503050406030204" pitchFamily="18" charset="0"/>
                                  <a:ea typeface="Cambria Math" panose="02040503050406030204" pitchFamily="18" charset="0"/>
                                </a:rPr>
                              </m:ctrlPr>
                            </m:sSubPr>
                            <m:e>
                              <m:r>
                                <a:rPr lang="en-IN" sz="1400" i="1" dirty="0">
                                  <a:latin typeface="Cambria Math" panose="02040503050406030204" pitchFamily="18" charset="0"/>
                                  <a:ea typeface="Cambria Math" panose="02040503050406030204" pitchFamily="18" charset="0"/>
                                </a:rPr>
                                <m:t>𝑡</m:t>
                              </m:r>
                            </m:e>
                            <m:sub>
                              <m:r>
                                <a:rPr lang="en-US" sz="1400" i="1" dirty="0">
                                  <a:latin typeface="Cambria Math" panose="02040503050406030204" pitchFamily="18" charset="0"/>
                                  <a:ea typeface="Cambria Math" panose="02040503050406030204" pitchFamily="18" charset="0"/>
                                </a:rPr>
                                <m:t>𝑘</m:t>
                              </m:r>
                              <m:r>
                                <a:rPr lang="en-US" sz="1400" i="1" dirty="0">
                                  <a:latin typeface="Cambria Math" panose="02040503050406030204" pitchFamily="18" charset="0"/>
                                  <a:ea typeface="Cambria Math" panose="02040503050406030204" pitchFamily="18" charset="0"/>
                                </a:rPr>
                                <m:t>+1</m:t>
                              </m:r>
                            </m:sub>
                          </m:sSub>
                        </m:den>
                      </m:f>
                      <m:r>
                        <a:rPr lang="en-IN" sz="1400" i="1" dirty="0">
                          <a:latin typeface="Cambria Math" panose="02040503050406030204" pitchFamily="18" charset="0"/>
                          <a:ea typeface="Cambria Math" panose="02040503050406030204" pitchFamily="18" charset="0"/>
                        </a:rPr>
                        <m:t> =</m:t>
                      </m:r>
                      <m:f>
                        <m:fPr>
                          <m:ctrlPr>
                            <a:rPr lang="en-US" sz="1400" i="1" dirty="0">
                              <a:latin typeface="Cambria Math" panose="02040503050406030204" pitchFamily="18" charset="0"/>
                              <a:ea typeface="Cambria Math" panose="02040503050406030204" pitchFamily="18" charset="0"/>
                            </a:rPr>
                          </m:ctrlPr>
                        </m:fPr>
                        <m:num>
                          <m:d>
                            <m:dPr>
                              <m:ctrlPr>
                                <a:rPr lang="en-US" sz="1400" i="1" dirty="0">
                                  <a:latin typeface="Cambria Math" panose="02040503050406030204" pitchFamily="18" charset="0"/>
                                  <a:ea typeface="Cambria Math" panose="02040503050406030204" pitchFamily="18" charset="0"/>
                                </a:rPr>
                              </m:ctrlPr>
                            </m:dPr>
                            <m:e>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IN" sz="1400" dirty="0">
                                      <a:latin typeface="Cambria Math" panose="02040503050406030204" pitchFamily="18" charset="0"/>
                                      <a:ea typeface="Cambria Math" panose="02040503050406030204" pitchFamily="18" charset="0"/>
                                    </a:rPr>
                                    <m:t>k</m:t>
                                  </m:r>
                                  <m:r>
                                    <a:rPr lang="en-IN" sz="1400" dirty="0">
                                      <a:latin typeface="Cambria Math" panose="02040503050406030204" pitchFamily="18" charset="0"/>
                                      <a:ea typeface="Cambria Math" panose="02040503050406030204" pitchFamily="18" charset="0"/>
                                    </a:rPr>
                                    <m:t>+1</m:t>
                                  </m:r>
                                </m:sub>
                              </m:sSub>
                              <m:r>
                                <a:rPr lang="en-IN" sz="1400" dirty="0">
                                  <a:latin typeface="Cambria Math" panose="02040503050406030204" pitchFamily="18" charset="0"/>
                                  <a:ea typeface="Cambria Math" panose="02040503050406030204" pitchFamily="18" charset="0"/>
                                </a:rPr>
                                <m:t> − </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US" sz="1400" dirty="0">
                                      <a:latin typeface="Cambria Math" panose="02040503050406030204" pitchFamily="18" charset="0"/>
                                      <a:ea typeface="Cambria Math" panose="02040503050406030204" pitchFamily="18" charset="0"/>
                                    </a:rPr>
                                    <m:t>k</m:t>
                                  </m:r>
                                </m:sub>
                              </m:sSub>
                            </m:e>
                          </m:d>
                        </m:num>
                        <m:den>
                          <m:r>
                            <m:rPr>
                              <m:sty m:val="p"/>
                            </m:rPr>
                            <a:rPr lang="el-GR" sz="1400" dirty="0">
                              <a:latin typeface="Cambria Math" panose="02040503050406030204" pitchFamily="18" charset="0"/>
                              <a:ea typeface="Cambria Math" panose="02040503050406030204" pitchFamily="18" charset="0"/>
                            </a:rPr>
                            <m:t>Δ</m:t>
                          </m:r>
                          <m:r>
                            <m:rPr>
                              <m:sty m:val="p"/>
                            </m:rPr>
                            <a:rPr lang="en-IN" sz="1400" dirty="0">
                              <a:latin typeface="Cambria Math" panose="02040503050406030204" pitchFamily="18" charset="0"/>
                              <a:ea typeface="Cambria Math" panose="02040503050406030204" pitchFamily="18" charset="0"/>
                            </a:rPr>
                            <m:t>t</m:t>
                          </m:r>
                        </m:den>
                      </m:f>
                    </m:oMath>
                  </m:oMathPara>
                </a14:m>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At t&gt;1</a:t>
                </a:r>
              </a:p>
              <a:p>
                <a:endParaRPr lang="en-US" sz="1400" dirty="0">
                  <a:latin typeface="Cambria Math" panose="02040503050406030204" pitchFamily="18" charset="0"/>
                  <a:ea typeface="Cambria Math" panose="02040503050406030204" pitchFamily="18" charset="0"/>
                </a:endParaRPr>
              </a:p>
              <a:p>
                <a:pPr/>
                <a14:m>
                  <m:oMathPara xmlns:m="http://schemas.openxmlformats.org/officeDocument/2006/math">
                    <m:oMath>
                      <m:f>
                        <m:fPr>
                          <m:ctrlPr>
                            <a:rPr lang="en-IN" sz="1400" i="1" dirty="0">
                              <a:latin typeface="Cambria Math" panose="02040503050406030204" pitchFamily="18" charset="0"/>
                              <a:ea typeface="Cambria Math" panose="02040503050406030204" pitchFamily="18" charset="0"/>
                            </a:rPr>
                          </m:ctrlPr>
                        </m:fPr>
                        <m:num>
                          <m:r>
                            <a:rPr lang="en-IN" sz="1400" i="1" dirty="0">
                              <a:latin typeface="Cambria Math" panose="02040503050406030204" pitchFamily="18" charset="0"/>
                              <a:ea typeface="Cambria Math" panose="02040503050406030204" pitchFamily="18" charset="0"/>
                            </a:rPr>
                            <m:t>𝑑𝑓</m:t>
                          </m:r>
                        </m:num>
                        <m:den>
                          <m:r>
                            <a:rPr lang="en-IN" sz="1400" i="1" dirty="0">
                              <a:latin typeface="Cambria Math" panose="02040503050406030204" pitchFamily="18" charset="0"/>
                              <a:ea typeface="Cambria Math" panose="02040503050406030204" pitchFamily="18" charset="0"/>
                            </a:rPr>
                            <m:t>𝑑</m:t>
                          </m:r>
                          <m:sSub>
                            <m:sSubPr>
                              <m:ctrlPr>
                                <a:rPr lang="en-IN" sz="1400" i="1" dirty="0">
                                  <a:latin typeface="Cambria Math" panose="02040503050406030204" pitchFamily="18" charset="0"/>
                                  <a:ea typeface="Cambria Math" panose="02040503050406030204" pitchFamily="18" charset="0"/>
                                </a:rPr>
                              </m:ctrlPr>
                            </m:sSubPr>
                            <m:e>
                              <m:r>
                                <a:rPr lang="en-IN" sz="1400" i="1" dirty="0">
                                  <a:latin typeface="Cambria Math" panose="02040503050406030204" pitchFamily="18" charset="0"/>
                                  <a:ea typeface="Cambria Math" panose="02040503050406030204" pitchFamily="18" charset="0"/>
                                </a:rPr>
                                <m:t>𝑡</m:t>
                              </m:r>
                            </m:e>
                            <m:sub>
                              <m:r>
                                <a:rPr lang="en-US" sz="1400" i="1" dirty="0">
                                  <a:latin typeface="Cambria Math" panose="02040503050406030204" pitchFamily="18" charset="0"/>
                                  <a:ea typeface="Cambria Math" panose="02040503050406030204" pitchFamily="18" charset="0"/>
                                </a:rPr>
                                <m:t>𝑘</m:t>
                              </m:r>
                              <m:r>
                                <a:rPr lang="en-US" sz="1400" i="1" dirty="0">
                                  <a:latin typeface="Cambria Math" panose="02040503050406030204" pitchFamily="18" charset="0"/>
                                  <a:ea typeface="Cambria Math" panose="02040503050406030204" pitchFamily="18" charset="0"/>
                                </a:rPr>
                                <m:t>+1</m:t>
                              </m:r>
                            </m:sub>
                          </m:sSub>
                        </m:den>
                      </m:f>
                      <m:r>
                        <a:rPr lang="en-IN" sz="1400" i="1" dirty="0">
                          <a:latin typeface="Cambria Math" panose="02040503050406030204" pitchFamily="18" charset="0"/>
                          <a:ea typeface="Cambria Math" panose="02040503050406030204" pitchFamily="18" charset="0"/>
                        </a:rPr>
                        <m:t> =</m:t>
                      </m:r>
                      <m:f>
                        <m:fPr>
                          <m:ctrlPr>
                            <a:rPr lang="en-IN" sz="1400" i="1" dirty="0">
                              <a:latin typeface="Cambria Math" panose="02040503050406030204" pitchFamily="18" charset="0"/>
                              <a:ea typeface="Cambria Math" panose="02040503050406030204" pitchFamily="18" charset="0"/>
                            </a:rPr>
                          </m:ctrlPr>
                        </m:fPr>
                        <m:num>
                          <m:d>
                            <m:dPr>
                              <m:ctrlPr>
                                <a:rPr lang="en-IN" sz="1400" i="1" dirty="0">
                                  <a:latin typeface="Cambria Math" panose="02040503050406030204" pitchFamily="18" charset="0"/>
                                  <a:ea typeface="Cambria Math" panose="02040503050406030204" pitchFamily="18" charset="0"/>
                                </a:rPr>
                              </m:ctrlPr>
                            </m:dPr>
                            <m:e>
                              <m:r>
                                <a:rPr lang="en-IN" sz="1400" i="1" dirty="0">
                                  <a:latin typeface="Cambria Math" panose="02040503050406030204" pitchFamily="18" charset="0"/>
                                  <a:ea typeface="Cambria Math" panose="02040503050406030204" pitchFamily="18" charset="0"/>
                                </a:rPr>
                                <m:t>3</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IN" sz="1400" dirty="0">
                                      <a:latin typeface="Cambria Math" panose="02040503050406030204" pitchFamily="18" charset="0"/>
                                      <a:ea typeface="Cambria Math" panose="02040503050406030204" pitchFamily="18" charset="0"/>
                                    </a:rPr>
                                    <m:t>k</m:t>
                                  </m:r>
                                  <m:r>
                                    <a:rPr lang="en-IN" sz="1400" dirty="0">
                                      <a:latin typeface="Cambria Math" panose="02040503050406030204" pitchFamily="18" charset="0"/>
                                      <a:ea typeface="Cambria Math" panose="02040503050406030204" pitchFamily="18" charset="0"/>
                                    </a:rPr>
                                    <m:t>+1</m:t>
                                  </m:r>
                                </m:sub>
                              </m:sSub>
                              <m:r>
                                <a:rPr lang="en-IN" sz="1400" dirty="0">
                                  <a:latin typeface="Cambria Math" panose="02040503050406030204" pitchFamily="18" charset="0"/>
                                  <a:ea typeface="Cambria Math" panose="02040503050406030204" pitchFamily="18" charset="0"/>
                                </a:rPr>
                                <m:t> − 4</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US" sz="1400" dirty="0">
                                      <a:latin typeface="Cambria Math" panose="02040503050406030204" pitchFamily="18" charset="0"/>
                                      <a:ea typeface="Cambria Math" panose="02040503050406030204" pitchFamily="18" charset="0"/>
                                    </a:rPr>
                                    <m:t>k</m:t>
                                  </m:r>
                                </m:sub>
                              </m:sSub>
                              <m:r>
                                <a:rPr lang="en-IN" sz="1400" dirty="0">
                                  <a:latin typeface="Cambria Math" panose="02040503050406030204" pitchFamily="18" charset="0"/>
                                  <a:ea typeface="Cambria Math" panose="02040503050406030204" pitchFamily="18" charset="0"/>
                                </a:rPr>
                                <m:t> +</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US" sz="1400" dirty="0">
                                      <a:latin typeface="Cambria Math" panose="02040503050406030204" pitchFamily="18" charset="0"/>
                                      <a:ea typeface="Cambria Math" panose="02040503050406030204" pitchFamily="18" charset="0"/>
                                    </a:rPr>
                                    <m:t>k</m:t>
                                  </m:r>
                                  <m:r>
                                    <a:rPr lang="en-US" sz="1400" dirty="0">
                                      <a:latin typeface="Cambria Math" panose="02040503050406030204" pitchFamily="18" charset="0"/>
                                      <a:ea typeface="Cambria Math" panose="02040503050406030204" pitchFamily="18" charset="0"/>
                                    </a:rPr>
                                    <m:t>−1</m:t>
                                  </m:r>
                                </m:sub>
                              </m:sSub>
                            </m:e>
                          </m:d>
                        </m:num>
                        <m:den>
                          <m:r>
                            <a:rPr lang="en-IN" sz="1400" dirty="0">
                              <a:latin typeface="Cambria Math" panose="02040503050406030204" pitchFamily="18" charset="0"/>
                              <a:ea typeface="Cambria Math" panose="02040503050406030204" pitchFamily="18" charset="0"/>
                            </a:rPr>
                            <m:t>2</m:t>
                          </m:r>
                          <m:r>
                            <m:rPr>
                              <m:sty m:val="p"/>
                            </m:rPr>
                            <a:rPr lang="el-GR" sz="1400" dirty="0">
                              <a:latin typeface="Cambria Math" panose="02040503050406030204" pitchFamily="18" charset="0"/>
                              <a:ea typeface="Cambria Math" panose="02040503050406030204" pitchFamily="18" charset="0"/>
                            </a:rPr>
                            <m:t>Δ</m:t>
                          </m:r>
                          <m:r>
                            <m:rPr>
                              <m:sty m:val="p"/>
                            </m:rPr>
                            <a:rPr lang="en-IN" sz="1400" dirty="0">
                              <a:latin typeface="Cambria Math" panose="02040503050406030204" pitchFamily="18" charset="0"/>
                              <a:ea typeface="Cambria Math" panose="02040503050406030204" pitchFamily="18" charset="0"/>
                            </a:rPr>
                            <m:t>t</m:t>
                          </m:r>
                        </m:den>
                      </m:f>
                    </m:oMath>
                  </m:oMathPara>
                </a14:m>
                <a:endParaRPr lang="en-IN" sz="1400" dirty="0">
                  <a:latin typeface="Cambria Math" panose="02040503050406030204" pitchFamily="18" charset="0"/>
                  <a:ea typeface="Cambria Math" panose="02040503050406030204" pitchFamily="18" charset="0"/>
                </a:endParaRPr>
              </a:p>
              <a:p>
                <a:pPr/>
                <a14:m>
                  <m:oMathPara xmlns:m="http://schemas.openxmlformats.org/officeDocument/2006/math">
                    <m:oMath>
                      <m:f>
                        <m:fPr>
                          <m:ctrlPr>
                            <a:rPr lang="en-US" sz="1400" b="0" i="1" dirty="0" smtClean="0">
                              <a:latin typeface="Cambria Math" panose="02040503050406030204" pitchFamily="18" charset="0"/>
                            </a:rPr>
                          </m:ctrlPr>
                        </m:fPr>
                        <m:num>
                          <m:r>
                            <a:rPr lang="en-US" sz="1400" b="0" i="1" dirty="0" smtClean="0">
                              <a:latin typeface="Cambria Math" panose="02040503050406030204" pitchFamily="18" charset="0"/>
                            </a:rPr>
                            <m:t>𝑑𝑓</m:t>
                          </m:r>
                        </m:num>
                        <m:den>
                          <m:r>
                            <a:rPr lang="en-US" sz="1400" b="0" i="1" dirty="0" smtClean="0">
                              <a:latin typeface="Cambria Math" panose="02040503050406030204" pitchFamily="18" charset="0"/>
                            </a:rPr>
                            <m:t>𝑑</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𝑡</m:t>
                              </m:r>
                            </m:e>
                            <m:sub>
                              <m:r>
                                <a:rPr lang="en-US" sz="1400" b="0" i="1" dirty="0" smtClean="0">
                                  <a:latin typeface="Cambria Math" panose="02040503050406030204" pitchFamily="18" charset="0"/>
                                </a:rPr>
                                <m:t>𝑘</m:t>
                              </m:r>
                              <m:r>
                                <a:rPr lang="en-US" sz="1400" b="0" i="1" dirty="0" smtClean="0">
                                  <a:latin typeface="Cambria Math" panose="02040503050406030204" pitchFamily="18" charset="0"/>
                                </a:rPr>
                                <m:t>+1</m:t>
                              </m:r>
                            </m:sub>
                          </m:sSub>
                        </m:den>
                      </m:f>
                      <m:r>
                        <a:rPr lang="en-IN" sz="1400">
                          <a:latin typeface="Cambria Math" panose="02040503050406030204" pitchFamily="18" charset="0"/>
                        </a:rPr>
                        <m:t>=</m:t>
                      </m:r>
                      <m:f>
                        <m:fPr>
                          <m:ctrlPr>
                            <a:rPr lang="en-IN" sz="1400">
                              <a:latin typeface="Cambria Math" panose="02040503050406030204" pitchFamily="18" charset="0"/>
                            </a:rPr>
                          </m:ctrlPr>
                        </m:fPr>
                        <m:num>
                          <m:r>
                            <a:rPr lang="en-IN" sz="1400">
                              <a:latin typeface="Cambria Math" panose="02040503050406030204" pitchFamily="18" charset="0"/>
                            </a:rPr>
                            <m:t>1</m:t>
                          </m:r>
                        </m:num>
                        <m:den>
                          <m:r>
                            <m:rPr>
                              <m:sty m:val="p"/>
                            </m:rPr>
                            <a:rPr lang="en-IN" sz="1400">
                              <a:latin typeface="Cambria Math" panose="02040503050406030204" pitchFamily="18" charset="0"/>
                            </a:rPr>
                            <m:t>Δ</m:t>
                          </m:r>
                          <m:r>
                            <a:rPr lang="en-IN" sz="1400" i="1">
                              <a:latin typeface="Cambria Math" panose="02040503050406030204" pitchFamily="18" charset="0"/>
                            </a:rPr>
                            <m:t>𝑡</m:t>
                          </m:r>
                        </m:den>
                      </m:f>
                      <m:nary>
                        <m:naryPr>
                          <m:chr m:val="∑"/>
                          <m:limLoc m:val="undOvr"/>
                          <m:ctrlPr>
                            <a:rPr lang="en-IN" sz="1400" i="1">
                              <a:latin typeface="Cambria Math" panose="02040503050406030204" pitchFamily="18" charset="0"/>
                            </a:rPr>
                          </m:ctrlPr>
                        </m:naryPr>
                        <m:sub>
                          <m:r>
                            <a:rPr lang="en-IN" sz="1400" i="1">
                              <a:latin typeface="Cambria Math" panose="02040503050406030204" pitchFamily="18" charset="0"/>
                            </a:rPr>
                            <m:t>𝑘</m:t>
                          </m:r>
                          <m:r>
                            <a:rPr lang="en-IN" sz="1400">
                              <a:latin typeface="Cambria Math" panose="02040503050406030204" pitchFamily="18" charset="0"/>
                            </a:rPr>
                            <m:t>=0</m:t>
                          </m:r>
                        </m:sub>
                        <m:sup>
                          <m:r>
                            <a:rPr lang="en-IN" sz="1400" i="1">
                              <a:latin typeface="Cambria Math" panose="02040503050406030204" pitchFamily="18" charset="0"/>
                            </a:rPr>
                            <m:t>𝑠</m:t>
                          </m:r>
                        </m:sup>
                        <m:e>
                          <m:sSub>
                            <m:sSubPr>
                              <m:ctrlPr>
                                <a:rPr lang="en-IN" sz="1400" i="1">
                                  <a:latin typeface="Cambria Math" panose="02040503050406030204" pitchFamily="18" charset="0"/>
                                </a:rPr>
                              </m:ctrlPr>
                            </m:sSubPr>
                            <m:e>
                              <m:r>
                                <a:rPr lang="en-IN" sz="1400" i="1">
                                  <a:latin typeface="Cambria Math" panose="02040503050406030204" pitchFamily="18" charset="0"/>
                                </a:rPr>
                                <m:t>𝛼</m:t>
                              </m:r>
                            </m:e>
                            <m:sub>
                              <m:r>
                                <a:rPr lang="en-IN" sz="1400" i="1">
                                  <a:latin typeface="Cambria Math" panose="02040503050406030204" pitchFamily="18" charset="0"/>
                                </a:rPr>
                                <m:t>𝑘</m:t>
                              </m:r>
                            </m:sub>
                          </m:sSub>
                        </m:e>
                      </m:nary>
                      <m:sSub>
                        <m:sSubPr>
                          <m:ctrlPr>
                            <a:rPr lang="en-IN" sz="1400" i="1">
                              <a:latin typeface="Cambria Math" panose="02040503050406030204" pitchFamily="18" charset="0"/>
                            </a:rPr>
                          </m:ctrlPr>
                        </m:sSubPr>
                        <m:e>
                          <m:r>
                            <a:rPr lang="en-IN" sz="1400" i="1">
                              <a:latin typeface="Cambria Math" panose="02040503050406030204" pitchFamily="18" charset="0"/>
                            </a:rPr>
                            <m:t>𝑓</m:t>
                          </m:r>
                        </m:e>
                        <m:sub>
                          <m:r>
                            <a:rPr lang="en-IN" sz="1400" i="1">
                              <a:latin typeface="Cambria Math" panose="02040503050406030204" pitchFamily="18" charset="0"/>
                            </a:rPr>
                            <m:t>𝑛</m:t>
                          </m:r>
                          <m:r>
                            <a:rPr lang="en-IN" sz="1400">
                              <a:latin typeface="Cambria Math" panose="02040503050406030204" pitchFamily="18" charset="0"/>
                            </a:rPr>
                            <m:t>+1−</m:t>
                          </m:r>
                          <m:r>
                            <a:rPr lang="en-IN" sz="1400" i="1">
                              <a:latin typeface="Cambria Math" panose="02040503050406030204" pitchFamily="18" charset="0"/>
                            </a:rPr>
                            <m:t>𝑘</m:t>
                          </m:r>
                        </m:sub>
                      </m:sSub>
                    </m:oMath>
                  </m:oMathPara>
                </a14:m>
                <a:endParaRPr lang="en-IN" sz="1400" dirty="0"/>
              </a:p>
            </p:txBody>
          </p:sp>
        </mc:Choice>
        <mc:Fallback xmlns="">
          <p:sp>
            <p:nvSpPr>
              <p:cNvPr id="4" name="TextBox 3">
                <a:extLst>
                  <a:ext uri="{FF2B5EF4-FFF2-40B4-BE49-F238E27FC236}">
                    <a16:creationId xmlns:a16="http://schemas.microsoft.com/office/drawing/2014/main" id="{786C5099-5A40-4020-08FD-F53DD70C687C}"/>
                  </a:ext>
                </a:extLst>
              </p:cNvPr>
              <p:cNvSpPr txBox="1">
                <a:spLocks noRot="1" noChangeAspect="1" noMove="1" noResize="1" noEditPoints="1" noAdjustHandles="1" noChangeArrowheads="1" noChangeShapeType="1" noTextEdit="1"/>
              </p:cNvSpPr>
              <p:nvPr/>
            </p:nvSpPr>
            <p:spPr>
              <a:xfrm>
                <a:off x="4823012" y="2265585"/>
                <a:ext cx="2666214" cy="3005438"/>
              </a:xfrm>
              <a:prstGeom prst="rect">
                <a:avLst/>
              </a:prstGeom>
              <a:blipFill>
                <a:blip r:embed="rId5"/>
                <a:stretch>
                  <a:fillRect l="-3864"/>
                </a:stretch>
              </a:blipFill>
              <a:ln>
                <a:solidFill>
                  <a:schemeClr val="tx1"/>
                </a:solidFill>
              </a:ln>
            </p:spPr>
            <p:txBody>
              <a:bodyPr/>
              <a:lstStyle/>
              <a:p>
                <a:r>
                  <a:rPr lang="en-IN">
                    <a:noFill/>
                  </a:rPr>
                  <a:t> </a:t>
                </a:r>
              </a:p>
            </p:txBody>
          </p:sp>
        </mc:Fallback>
      </mc:AlternateContent>
      <p:sp>
        <p:nvSpPr>
          <p:cNvPr id="81" name="TextBox 80">
            <a:extLst>
              <a:ext uri="{FF2B5EF4-FFF2-40B4-BE49-F238E27FC236}">
                <a16:creationId xmlns:a16="http://schemas.microsoft.com/office/drawing/2014/main" id="{F2F1D957-071F-E80D-6BFC-32FC93B24108}"/>
              </a:ext>
            </a:extLst>
          </p:cNvPr>
          <p:cNvSpPr txBox="1"/>
          <p:nvPr/>
        </p:nvSpPr>
        <p:spPr>
          <a:xfrm>
            <a:off x="4823012" y="1886662"/>
            <a:ext cx="1663212" cy="307777"/>
          </a:xfrm>
          <a:prstGeom prst="rect">
            <a:avLst/>
          </a:prstGeom>
          <a:no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Time </a:t>
            </a:r>
            <a:r>
              <a:rPr lang="en-US" sz="1400" dirty="0" err="1">
                <a:latin typeface="Cambria Math" panose="02040503050406030204" pitchFamily="18" charset="0"/>
                <a:ea typeface="Cambria Math" panose="02040503050406030204" pitchFamily="18" charset="0"/>
              </a:rPr>
              <a:t>discretisation</a:t>
            </a:r>
            <a:endParaRPr lang="en-IN" sz="1400" dirty="0">
              <a:latin typeface="Cambria Math" panose="02040503050406030204" pitchFamily="18" charset="0"/>
              <a:ea typeface="Cambria Math" panose="02040503050406030204" pitchFamily="18" charset="0"/>
            </a:endParaRPr>
          </a:p>
        </p:txBody>
      </p:sp>
      <p:pic>
        <p:nvPicPr>
          <p:cNvPr id="100" name="Picture 99" descr="The diagram illustrates a numerical solution process for a boundary value problem (BVP) using the Runge-Kutta 4th order method (RK4), with initial guesses for variables n0 and m0, and includes steps for checking the error and known values for later time points.&#10;&#10;AI-generated content may be incorrect.">
            <a:extLst>
              <a:ext uri="{FF2B5EF4-FFF2-40B4-BE49-F238E27FC236}">
                <a16:creationId xmlns:a16="http://schemas.microsoft.com/office/drawing/2014/main" id="{BDE697AD-4C8F-CCED-B376-778EFB4F1497}"/>
              </a:ext>
            </a:extLst>
          </p:cNvPr>
          <p:cNvPicPr>
            <a:picLocks noChangeAspect="1"/>
          </p:cNvPicPr>
          <p:nvPr/>
        </p:nvPicPr>
        <p:blipFill>
          <a:blip r:embed="rId6"/>
          <a:stretch>
            <a:fillRect/>
          </a:stretch>
        </p:blipFill>
        <p:spPr>
          <a:xfrm>
            <a:off x="559247" y="1782373"/>
            <a:ext cx="3560979" cy="3971862"/>
          </a:xfrm>
          <a:prstGeom prst="rect">
            <a:avLst/>
          </a:prstGeom>
        </p:spPr>
      </p:pic>
      <p:sp>
        <p:nvSpPr>
          <p:cNvPr id="102" name="TextBox 101">
            <a:extLst>
              <a:ext uri="{FF2B5EF4-FFF2-40B4-BE49-F238E27FC236}">
                <a16:creationId xmlns:a16="http://schemas.microsoft.com/office/drawing/2014/main" id="{A82F2734-BA2A-434E-3D04-4B94E7CAC167}"/>
              </a:ext>
            </a:extLst>
          </p:cNvPr>
          <p:cNvSpPr txBox="1"/>
          <p:nvPr/>
        </p:nvSpPr>
        <p:spPr>
          <a:xfrm>
            <a:off x="3715918" y="3580147"/>
            <a:ext cx="808616" cy="523220"/>
          </a:xfrm>
          <a:prstGeom prst="rect">
            <a:avLst/>
          </a:prstGeom>
          <a:noFill/>
          <a:ln>
            <a:solidFill>
              <a:schemeClr val="tx1"/>
            </a:solidFill>
          </a:ln>
        </p:spPr>
        <p:txBody>
          <a:bodyPr wrap="square" rtlCol="0">
            <a:spAutoFit/>
          </a:bodyPr>
          <a:lstStyle/>
          <a:p>
            <a:r>
              <a:rPr lang="en-US" sz="1400" dirty="0">
                <a:latin typeface="Cambria Math" panose="02040503050406030204" pitchFamily="18" charset="0"/>
                <a:ea typeface="Cambria Math" panose="02040503050406030204" pitchFamily="18" charset="0"/>
              </a:rPr>
              <a:t>Space integral</a:t>
            </a:r>
            <a:endParaRPr lang="en-IN" sz="14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BA1CDF77-46C0-98A1-096D-E40AB3E10231}"/>
                  </a:ext>
                </a:extLst>
              </p:cNvPr>
              <p:cNvSpPr txBox="1"/>
              <p:nvPr/>
            </p:nvSpPr>
            <p:spPr>
              <a:xfrm>
                <a:off x="90652" y="3104568"/>
                <a:ext cx="1649491" cy="737189"/>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𝑛</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0 0 0</m:t>
                              </m:r>
                            </m:e>
                          </m:d>
                        </m:e>
                        <m:sup>
                          <m:r>
                            <a:rPr lang="en-US" sz="1400" b="0" i="1" smtClean="0">
                              <a:latin typeface="Cambria Math" panose="02040503050406030204" pitchFamily="18" charset="0"/>
                            </a:rPr>
                            <m:t>𝑇</m:t>
                          </m:r>
                        </m:sup>
                      </m:sSup>
                    </m:oMath>
                  </m:oMathPara>
                </a14:m>
                <a:endParaRPr lang="en-US" sz="1400" b="0" dirty="0"/>
              </a:p>
              <a:p>
                <a:pPr/>
                <a14:m>
                  <m:oMathPara xmlns:m="http://schemas.openxmlformats.org/officeDocument/2006/math">
                    <m:oMath>
                      <m:r>
                        <a:rPr lang="en-IN" sz="1400" i="1" dirty="0" smtClean="0">
                          <a:latin typeface="Cambria Math" panose="02040503050406030204" pitchFamily="18" charset="0"/>
                        </a:rPr>
                        <m:t>𝑚</m:t>
                      </m:r>
                      <m:r>
                        <a:rPr lang="en-IN" sz="1400" i="1" dirty="0" smtClean="0">
                          <a:latin typeface="Cambria Math" panose="02040503050406030204" pitchFamily="18" charset="0"/>
                        </a:rPr>
                        <m:t>(</m:t>
                      </m:r>
                      <m:r>
                        <a:rPr lang="en-IN" sz="1400" i="1" dirty="0" smtClean="0">
                          <a:latin typeface="Cambria Math" panose="02040503050406030204" pitchFamily="18" charset="0"/>
                        </a:rPr>
                        <m:t>𝐿</m:t>
                      </m:r>
                      <m:r>
                        <a:rPr lang="en-IN" sz="1400" i="1" dirty="0" smtClean="0">
                          <a:latin typeface="Cambria Math" panose="02040503050406030204" pitchFamily="18" charset="0"/>
                        </a:rPr>
                        <m:t>) =</m:t>
                      </m:r>
                      <m:nary>
                        <m:naryPr>
                          <m:chr m:val="∑"/>
                          <m:subHide m:val="on"/>
                          <m:supHide m:val="on"/>
                          <m:ctrlPr>
                            <a:rPr lang="en-IN" sz="1400" i="1" dirty="0" smtClean="0">
                              <a:latin typeface="Cambria Math" panose="02040503050406030204" pitchFamily="18" charset="0"/>
                            </a:rPr>
                          </m:ctrlPr>
                        </m:naryPr>
                        <m:sub/>
                        <m:sup/>
                        <m:e>
                          <m:r>
                            <a:rPr lang="en-US" sz="1400" b="0" i="1" dirty="0" smtClean="0">
                              <a:latin typeface="Cambria Math" panose="02040503050406030204" pitchFamily="18" charset="0"/>
                            </a:rPr>
                            <m:t>𝑟ℎ</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𝑜</m:t>
                              </m:r>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rPr>
                            <m:t>𝑥</m:t>
                          </m:r>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𝑖</m:t>
                              </m:r>
                            </m:sub>
                          </m:sSub>
                        </m:e>
                      </m:nary>
                    </m:oMath>
                  </m:oMathPara>
                </a14:m>
                <a:endParaRPr lang="en-IN" sz="1400" dirty="0"/>
              </a:p>
            </p:txBody>
          </p:sp>
        </mc:Choice>
        <mc:Fallback xmlns="">
          <p:sp>
            <p:nvSpPr>
              <p:cNvPr id="104" name="TextBox 103">
                <a:extLst>
                  <a:ext uri="{FF2B5EF4-FFF2-40B4-BE49-F238E27FC236}">
                    <a16:creationId xmlns:a16="http://schemas.microsoft.com/office/drawing/2014/main" id="{BA1CDF77-46C0-98A1-096D-E40AB3E10231}"/>
                  </a:ext>
                </a:extLst>
              </p:cNvPr>
              <p:cNvSpPr txBox="1">
                <a:spLocks noRot="1" noChangeAspect="1" noMove="1" noResize="1" noEditPoints="1" noAdjustHandles="1" noChangeArrowheads="1" noChangeShapeType="1" noTextEdit="1"/>
              </p:cNvSpPr>
              <p:nvPr/>
            </p:nvSpPr>
            <p:spPr>
              <a:xfrm>
                <a:off x="90652" y="3104568"/>
                <a:ext cx="1649491" cy="737189"/>
              </a:xfrm>
              <a:prstGeom prst="rect">
                <a:avLst/>
              </a:prstGeom>
              <a:blipFill>
                <a:blip r:embed="rId7"/>
                <a:stretch>
                  <a:fillRect l="-1111" t="-73554" r="-36296" b="-145455"/>
                </a:stretch>
              </a:blipFill>
            </p:spPr>
            <p:txBody>
              <a:bodyPr/>
              <a:lstStyle/>
              <a:p>
                <a:r>
                  <a:rPr lang="en-IN">
                    <a:noFill/>
                  </a:rPr>
                  <a:t> </a:t>
                </a:r>
              </a:p>
            </p:txBody>
          </p:sp>
        </mc:Fallback>
      </mc:AlternateContent>
    </p:spTree>
    <p:extLst>
      <p:ext uri="{BB962C8B-B14F-4D97-AF65-F5344CB8AC3E}">
        <p14:creationId xmlns:p14="http://schemas.microsoft.com/office/powerpoint/2010/main" val="3765916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CF54F-0D25-4B8E-20CB-60D4887DF4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19354A-04A3-8D50-2AA5-F6639F1DE929}"/>
              </a:ext>
            </a:extLst>
          </p:cNvPr>
          <p:cNvSpPr txBox="1"/>
          <p:nvPr/>
        </p:nvSpPr>
        <p:spPr>
          <a:xfrm>
            <a:off x="833120" y="370435"/>
            <a:ext cx="5564152"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coupled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23F6D7B5-B338-BF4A-6B3B-CCDA5DCF3F3A}"/>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AAD63B-249A-BCAE-3DE2-3BFDA84BDD6E}"/>
                  </a:ext>
                </a:extLst>
              </p:cNvPr>
              <p:cNvSpPr txBox="1"/>
              <p:nvPr/>
            </p:nvSpPr>
            <p:spPr>
              <a:xfrm>
                <a:off x="5615516" y="1347324"/>
                <a:ext cx="2807500" cy="3069686"/>
              </a:xfrm>
              <a:prstGeom prst="rect">
                <a:avLst/>
              </a:prstGeom>
              <a:noFill/>
            </p:spPr>
            <p:txBody>
              <a:bodyPr wrap="none">
                <a:spAutoFit/>
              </a:bodyPr>
              <a:lstStyle/>
              <a:p>
                <a:pPr>
                  <a:defRPr sz="2000">
                    <a:solidFill>
                      <a:srgbClr val="142237"/>
                    </a:solidFill>
                  </a:defRPr>
                </a:pPr>
                <a:r>
                  <a:rPr lang="en-US" sz="16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60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𝑣</m:t>
                      </m:r>
                      <m:r>
                        <a:rPr lang="en-US" sz="1600" i="1" dirty="0" smtClean="0">
                          <a:latin typeface="Cambria Math" panose="02040503050406030204" pitchFamily="18" charset="0"/>
                          <a:ea typeface="Cambria Math" panose="02040503050406030204" pitchFamily="18" charset="0"/>
                        </a:rPr>
                        <m:t> =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en-US" sz="1600" b="0" i="1" dirty="0" smtClean="0">
                                  <a:latin typeface="Cambria Math" panose="02040503050406030204" pitchFamily="18" charset="0"/>
                                  <a:ea typeface="Cambria Math" panose="02040503050406030204" pitchFamily="18" charset="0"/>
                                </a:rPr>
                                <m:t>𝑠𝑒</m:t>
                              </m:r>
                            </m:sub>
                            <m:sup>
                              <m:r>
                                <a:rPr lang="en-US" sz="1600" b="0" i="1" dirty="0" smtClean="0">
                                  <a:latin typeface="Cambria Math" panose="02040503050406030204" pitchFamily="18" charset="0"/>
                                  <a:ea typeface="Cambria Math" panose="02040503050406030204" pitchFamily="18" charset="0"/>
                                </a:rPr>
                                <m:t>−1</m:t>
                              </m:r>
                            </m:sup>
                          </m:sSubSup>
                          <m:r>
                            <a:rPr lang="en-US" sz="1600" b="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b="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𝑛</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𝑣</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600" b="0" i="1" dirty="0" smtClean="0">
                          <a:latin typeface="Cambria Math" panose="02040503050406030204" pitchFamily="18" charset="0"/>
                          <a:ea typeface="Cambria Math" panose="02040503050406030204" pitchFamily="18" charset="0"/>
                        </a:rPr>
                        <m:t>𝑢</m:t>
                      </m:r>
                      <m:r>
                        <a:rPr lang="pt-BR" sz="1600" i="1" dirty="0" smtClean="0">
                          <a:latin typeface="Cambria Math" panose="02040503050406030204" pitchFamily="18" charset="0"/>
                          <a:ea typeface="Cambria Math" panose="02040503050406030204" pitchFamily="18" charset="0"/>
                        </a:rPr>
                        <m:t>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pt-BR" sz="1600" i="1" dirty="0" smtClean="0">
                                  <a:latin typeface="Cambria Math" panose="02040503050406030204" pitchFamily="18" charset="0"/>
                                  <a:ea typeface="Cambria Math" panose="02040503050406030204" pitchFamily="18" charset="0"/>
                                </a:rPr>
                                <m:t>𝑏</m:t>
                              </m:r>
                              <m:r>
                                <a:rPr lang="en-US" sz="1600" b="0" i="1" dirty="0" smtClean="0">
                                  <a:latin typeface="Cambria Math" panose="02040503050406030204" pitchFamily="18" charset="0"/>
                                  <a:ea typeface="Cambria Math" panose="02040503050406030204" pitchFamily="18" charset="0"/>
                                </a:rPr>
                                <m:t>𝑡</m:t>
                              </m:r>
                            </m:sub>
                            <m:sup>
                              <m:r>
                                <a:rPr lang="en-US" sz="1600" i="1" dirty="0" smtClean="0">
                                  <a:latin typeface="Cambria Math" panose="02040503050406030204" pitchFamily="18" charset="0"/>
                                  <a:ea typeface="Cambria Math" panose="02040503050406030204" pitchFamily="18" charset="0"/>
                                </a:rPr>
                                <m:t>−1</m:t>
                              </m:r>
                            </m:sup>
                          </m:sSubSup>
                          <m:r>
                            <a:rPr lang="en-US" sz="160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𝑚</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𝑠𝑒</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d>
                        <m:dPr>
                          <m:ctrlPr>
                            <a:rPr lang="en-IN" sz="1600" i="1" dirty="0" smtClean="0">
                              <a:latin typeface="Cambria Math" panose="02040503050406030204" pitchFamily="18" charset="0"/>
                              <a:ea typeface="Cambria Math" panose="02040503050406030204" pitchFamily="18" charset="0"/>
                            </a:rPr>
                          </m:ctrlPr>
                        </m:dPr>
                        <m:e>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𝑏𝑡</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r>
                        <a:rPr lang="en-IN" sz="160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𝐸𝐼</m:t>
                      </m:r>
                      <m:r>
                        <a:rPr lang="en-IN" sz="1600" i="1" dirty="0" smtClean="0">
                          <a:latin typeface="Cambria Math" panose="02040503050406030204" pitchFamily="18" charset="0"/>
                          <a:ea typeface="Cambria Math" panose="02040503050406030204" pitchFamily="18" charset="0"/>
                        </a:rPr>
                        <m:t>ₓₓ, </m:t>
                      </m:r>
                      <m:r>
                        <a:rPr lang="en-IN" sz="1600" i="1" dirty="0" smtClean="0">
                          <a:latin typeface="Cambria Math" panose="02040503050406030204" pitchFamily="18" charset="0"/>
                          <a:ea typeface="Cambria Math" panose="02040503050406030204" pitchFamily="18" charset="0"/>
                        </a:rPr>
                        <m:t>𝐸𝐼</m:t>
                      </m:r>
                      <m:r>
                        <a:rPr lang="el-GR" sz="1600" i="1" dirty="0" smtClean="0">
                          <a:latin typeface="Cambria Math" panose="02040503050406030204" pitchFamily="18" charset="0"/>
                          <a:ea typeface="Cambria Math" panose="02040503050406030204" pitchFamily="18" charset="0"/>
                        </a:rPr>
                        <m:t>ᵧᵧ, </m:t>
                      </m:r>
                      <m:r>
                        <a:rPr lang="el-GR" sz="1600" i="1" dirty="0" smtClean="0">
                          <a:latin typeface="Cambria Math" panose="02040503050406030204" pitchFamily="18" charset="0"/>
                          <a:ea typeface="Cambria Math" panose="02040503050406030204" pitchFamily="18" charset="0"/>
                        </a:rPr>
                        <m:t>𝐸</m:t>
                      </m:r>
                      <m:sSub>
                        <m:sSubPr>
                          <m:ctrlPr>
                            <a:rPr lang="el-GR" sz="1600" i="1" dirty="0" smtClean="0">
                              <a:latin typeface="Cambria Math" panose="02040503050406030204" pitchFamily="18" charset="0"/>
                              <a:ea typeface="Cambria Math" panose="02040503050406030204" pitchFamily="18" charset="0"/>
                            </a:rPr>
                          </m:ctrlPr>
                        </m:sSubPr>
                        <m:e>
                          <m:r>
                            <a:rPr lang="el-GR" sz="1600" i="1" dirty="0" smtClean="0">
                              <a:latin typeface="Cambria Math" panose="02040503050406030204" pitchFamily="18" charset="0"/>
                              <a:ea typeface="Cambria Math" panose="02040503050406030204" pitchFamily="18" charset="0"/>
                            </a:rPr>
                            <m:t>𝐼</m:t>
                          </m:r>
                        </m:e>
                        <m:sub>
                          <m:r>
                            <a:rPr lang="el-GR" sz="1600" i="1" dirty="0" smtClean="0">
                              <a:latin typeface="Cambria Math" panose="02040503050406030204" pitchFamily="18" charset="0"/>
                              <a:ea typeface="Cambria Math" panose="02040503050406030204" pitchFamily="18" charset="0"/>
                            </a:rPr>
                            <m:t>𝑧𝑧</m:t>
                          </m:r>
                        </m:sub>
                      </m:sSub>
                      <m:r>
                        <a:rPr lang="el-GR"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i="1" dirty="0">
                    <a:latin typeface="Cambria Math" panose="02040503050406030204" pitchFamily="18" charset="0"/>
                    <a:ea typeface="Cambria Math" panose="02040503050406030204" pitchFamily="18" charset="0"/>
                  </a:rPr>
                  <a:t>3) Governing equations</a:t>
                </a:r>
              </a:p>
              <a:p>
                <a:pPr algn="ct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𝑅𝑣</m:t>
                      </m:r>
                      <m:r>
                        <a:rPr lang="en-US" sz="1600" b="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 </m:t>
                      </m:r>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𝑅</m:t>
                          </m:r>
                        </m:e>
                        <m:sub>
                          <m:r>
                            <a:rPr lang="en-US" sz="1600" b="0" i="1" dirty="0" smtClean="0">
                              <a:latin typeface="Cambria Math" panose="02040503050406030204" pitchFamily="18" charset="0"/>
                              <a:ea typeface="Cambria Math" panose="02040503050406030204" pitchFamily="18" charset="0"/>
                            </a:rPr>
                            <m:t>𝑠</m:t>
                          </m:r>
                        </m:sub>
                      </m:sSub>
                      <m:r>
                        <a:rPr lang="en-IN" sz="160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𝑅</m:t>
                      </m:r>
                      <m:d>
                        <m:dPr>
                          <m:begChr m:val="["/>
                          <m:endChr m:val="]"/>
                          <m:ctrlPr>
                            <a:rPr lang="en-US" sz="1600" b="0" i="1" dirty="0" smtClean="0">
                              <a:latin typeface="Cambria Math" panose="02040503050406030204" pitchFamily="18" charset="0"/>
                              <a:ea typeface="Cambria Math" panose="02040503050406030204" pitchFamily="18" charset="0"/>
                            </a:rPr>
                          </m:ctrlPr>
                        </m:dPr>
                        <m:e>
                          <m:r>
                            <a:rPr lang="en-US" sz="1600" b="0" i="1" dirty="0" smtClean="0">
                              <a:latin typeface="Cambria Math" panose="02040503050406030204" pitchFamily="18" charset="0"/>
                              <a:ea typeface="Cambria Math" panose="02040503050406030204" pitchFamily="18" charset="0"/>
                            </a:rPr>
                            <m:t>𝑈</m:t>
                          </m:r>
                          <m:r>
                            <a:rPr lang="en-US" sz="1600" i="1" dirty="0" smtClean="0">
                              <a:latin typeface="Cambria Math" panose="02040503050406030204" pitchFamily="18" charset="0"/>
                              <a:ea typeface="Cambria Math" panose="02040503050406030204" pitchFamily="18" charset="0"/>
                            </a:rPr>
                            <m:t>𝑥</m:t>
                          </m:r>
                        </m:e>
                      </m:d>
                      <m:r>
                        <a:rPr lang="en-IN"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smtClean="0">
                              <a:latin typeface="Cambria Math" panose="02040503050406030204" pitchFamily="18" charset="0"/>
                              <a:ea typeface="Cambria Math" panose="02040503050406030204" pitchFamily="18" charset="0"/>
                            </a:rPr>
                            <m:t>𝑠</m:t>
                          </m:r>
                          <m:r>
                            <a:rPr lang="en-US" sz="1600" b="0" i="1" dirty="0" smtClean="0">
                              <a:latin typeface="Cambria Math" panose="02040503050406030204" pitchFamily="18" charset="0"/>
                              <a:ea typeface="Cambria Math" panose="02040503050406030204" pitchFamily="18" charset="0"/>
                            </a:rPr>
                            <m:t> </m:t>
                          </m:r>
                        </m:sub>
                      </m:sSub>
                      <m:r>
                        <a:rPr lang="en-US" sz="1600" i="1" dirty="0">
                          <a:solidFill>
                            <a:schemeClr val="accent6">
                              <a:lumMod val="75000"/>
                            </a:schemeClr>
                          </a:solidFill>
                          <a:latin typeface="Cambria Math" panose="02040503050406030204" pitchFamily="18" charset="0"/>
                          <a:ea typeface="Cambria Math" panose="02040503050406030204" pitchFamily="18" charset="0"/>
                        </a:rPr>
                        <m:t>+ </m:t>
                      </m:r>
                      <m:r>
                        <a:rPr lang="en-US" sz="1600" i="1" dirty="0">
                          <a:solidFill>
                            <a:schemeClr val="accent6">
                              <a:lumMod val="75000"/>
                            </a:schemeClr>
                          </a:solidFill>
                          <a:latin typeface="Cambria Math" panose="02040503050406030204" pitchFamily="18" charset="0"/>
                          <a:ea typeface="Cambria Math" panose="02040503050406030204" pitchFamily="18" charset="0"/>
                        </a:rPr>
                        <m:t>𝑓</m:t>
                      </m:r>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0</m:t>
                      </m:r>
                    </m:oMath>
                  </m:oMathPara>
                </a14:m>
                <a:endParaRPr lang="en-IN"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a:solidFill>
                            <a:schemeClr val="accent6">
                              <a:lumMod val="75000"/>
                            </a:schemeClr>
                          </a:solidFill>
                          <a:latin typeface="Cambria Math" panose="02040503050406030204" pitchFamily="18" charset="0"/>
                          <a:ea typeface="Cambria Math" panose="02040503050406030204" pitchFamily="18" charset="0"/>
                        </a:rPr>
                        <m:t>+</m:t>
                      </m:r>
                      <m:r>
                        <a:rPr lang="en-US" sz="1600" b="0" i="1" dirty="0" smtClean="0">
                          <a:solidFill>
                            <a:schemeClr val="accent6">
                              <a:lumMod val="75000"/>
                            </a:schemeClr>
                          </a:solidFill>
                          <a:latin typeface="Cambria Math" panose="02040503050406030204" pitchFamily="18" charset="0"/>
                          <a:ea typeface="Cambria Math" panose="02040503050406030204" pitchFamily="18" charset="0"/>
                        </a:rPr>
                        <m:t>𝑙</m:t>
                      </m:r>
                      <m:r>
                        <a:rPr lang="en-US" sz="1600" b="0" i="1" dirty="0" smtClean="0">
                          <a:solidFill>
                            <a:schemeClr val="accent6">
                              <a:lumMod val="75000"/>
                            </a:schemeClr>
                          </a:solidFill>
                          <a:latin typeface="Cambria Math" panose="02040503050406030204" pitchFamily="18" charset="0"/>
                          <a:ea typeface="Cambria Math" panose="02040503050406030204" pitchFamily="18" charset="0"/>
                        </a:rPr>
                        <m:t> = 0</m:t>
                      </m:r>
                    </m:oMath>
                  </m:oMathPara>
                </a14:m>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88AAD63B-249A-BCAE-3DE2-3BFDA84BDD6E}"/>
                  </a:ext>
                </a:extLst>
              </p:cNvPr>
              <p:cNvSpPr txBox="1">
                <a:spLocks noRot="1" noChangeAspect="1" noMove="1" noResize="1" noEditPoints="1" noAdjustHandles="1" noChangeArrowheads="1" noChangeShapeType="1" noTextEdit="1"/>
              </p:cNvSpPr>
              <p:nvPr/>
            </p:nvSpPr>
            <p:spPr>
              <a:xfrm>
                <a:off x="5615516" y="1347324"/>
                <a:ext cx="2807500" cy="3069686"/>
              </a:xfrm>
              <a:prstGeom prst="rect">
                <a:avLst/>
              </a:prstGeom>
              <a:blipFill>
                <a:blip r:embed="rId2"/>
                <a:stretch>
                  <a:fillRect l="-1085" t="-79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D73812-1120-69C2-6B27-1E040F85C6DE}"/>
                  </a:ext>
                </a:extLst>
              </p:cNvPr>
              <p:cNvSpPr txBox="1"/>
              <p:nvPr/>
            </p:nvSpPr>
            <p:spPr>
              <a:xfrm>
                <a:off x="5479767" y="4894320"/>
                <a:ext cx="3646112" cy="1605632"/>
              </a:xfrm>
              <a:prstGeom prst="rect">
                <a:avLst/>
              </a:prstGeom>
              <a:noFill/>
            </p:spPr>
            <p:txBody>
              <a:bodyPr wrap="square">
                <a:spAutoFit/>
              </a:bodyPr>
              <a:lstStyle/>
              <a:p>
                <a:r>
                  <a:rPr lang="en-US" sz="1600" i="1" dirty="0">
                    <a:latin typeface="Cambria Math" panose="02040503050406030204" pitchFamily="18" charset="0"/>
                    <a:ea typeface="Cambria Math" panose="02040503050406030204" pitchFamily="18" charset="0"/>
                  </a:rPr>
                  <a:t>Tendon force,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𝐹</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𝜏</m:t>
                        </m:r>
                      </m:e>
                      <m:sub>
                        <m:r>
                          <a:rPr lang="en-US" sz="1600" i="1">
                            <a:latin typeface="Cambria Math" panose="02040503050406030204" pitchFamily="18" charset="0"/>
                            <a:ea typeface="Cambria Math" panose="02040503050406030204" pitchFamily="18" charset="0"/>
                          </a:rPr>
                          <m:t>𝑖</m:t>
                        </m:r>
                      </m:sub>
                    </m:sSub>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𝑑</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oMath>
                </a14:m>
                <a:endParaRPr lang="en-US" sz="1600" i="1" dirty="0">
                  <a:latin typeface="Cambria Math" panose="02040503050406030204" pitchFamily="18" charset="0"/>
                  <a:ea typeface="Cambria Math" panose="02040503050406030204" pitchFamily="18" charset="0"/>
                </a:endParaRPr>
              </a:p>
              <a:p>
                <a:r>
                  <a:rPr lang="en-US" sz="1600" i="1" dirty="0">
                    <a:latin typeface="Cambria Math" panose="02040503050406030204" pitchFamily="18" charset="0"/>
                    <a:ea typeface="Cambria Math" panose="02040503050406030204" pitchFamily="18" charset="0"/>
                  </a:rPr>
                  <a:t>where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𝜏</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𝑡𝑒𝑛𝑠𝑖𝑜𝑛</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𝑜𝑓</m:t>
                    </m:r>
                    <m:r>
                      <a:rPr lang="en-US" sz="1600" i="1">
                        <a:latin typeface="Cambria Math" panose="02040503050406030204" pitchFamily="18" charset="0"/>
                        <a:ea typeface="Cambria Math" panose="02040503050406030204" pitchFamily="18" charset="0"/>
                      </a:rPr>
                      <m:t> </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𝑖</m:t>
                        </m:r>
                      </m:e>
                      <m:sup>
                        <m:r>
                          <a:rPr lang="en-US" sz="1600" i="1">
                            <a:latin typeface="Cambria Math" panose="02040503050406030204" pitchFamily="18" charset="0"/>
                            <a:ea typeface="Cambria Math" panose="02040503050406030204" pitchFamily="18" charset="0"/>
                          </a:rPr>
                          <m:t>𝑡ℎ</m:t>
                        </m:r>
                      </m:sup>
                    </m:sSup>
                    <m:r>
                      <a:rPr lang="en-US" sz="1600" i="1">
                        <a:latin typeface="Cambria Math" panose="02040503050406030204" pitchFamily="18" charset="0"/>
                        <a:ea typeface="Cambria Math" panose="02040503050406030204" pitchFamily="18" charset="0"/>
                      </a:rPr>
                      <m:t>𝑡𝑒𝑛𝑑𝑜𝑛</m:t>
                    </m:r>
                  </m:oMath>
                </a14:m>
                <a:endParaRPr lang="en-US" sz="16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𝑑</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𝑖</m:t>
                        </m:r>
                      </m:sub>
                    </m:sSub>
                    <m:r>
                      <a:rPr lang="en-US" sz="1600" b="0" i="1" smtClean="0">
                        <a:latin typeface="Cambria Math" panose="02040503050406030204" pitchFamily="18" charset="0"/>
                        <a:ea typeface="Cambria Math" panose="02040503050406030204" pitchFamily="18" charset="0"/>
                      </a:rPr>
                      <m:t>/|</m:t>
                    </m:r>
                    <m:d>
                      <m:dPr>
                        <m:begChr m:val="|"/>
                        <m:endChr m:val="|"/>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𝑖</m:t>
                            </m:r>
                          </m:sub>
                        </m:sSub>
                      </m:e>
                    </m:d>
                    <m:r>
                      <a:rPr lang="en-US" sz="1600" b="0" i="1" smtClean="0">
                        <a:latin typeface="Cambria Math" panose="02040503050406030204" pitchFamily="18" charset="0"/>
                        <a:ea typeface="Cambria Math" panose="02040503050406030204" pitchFamily="18" charset="0"/>
                      </a:rPr>
                      <m:t>|</m:t>
                    </m:r>
                  </m:oMath>
                </a14:m>
                <a:r>
                  <a:rPr lang="en-IN" sz="1600" i="1" dirty="0">
                    <a:latin typeface="Cambria Math" panose="02040503050406030204" pitchFamily="18" charset="0"/>
                    <a:ea typeface="Cambria Math" panose="02040503050406030204" pitchFamily="18" charset="0"/>
                  </a:rPr>
                  <a:t> , tendon direction (</a:t>
                </a:r>
                <a14:m>
                  <m:oMath xmlns:m="http://schemas.openxmlformats.org/officeDocument/2006/math">
                    <m:sSubSup>
                      <m:sSubSupPr>
                        <m:ctrlPr>
                          <a:rPr lang="en-IN" sz="1600" i="1" dirty="0" smtClean="0">
                            <a:latin typeface="Cambria Math" panose="02040503050406030204" pitchFamily="18" charset="0"/>
                            <a:ea typeface="Cambria Math" panose="02040503050406030204" pitchFamily="18" charset="0"/>
                          </a:rPr>
                        </m:ctrlPr>
                      </m:sSubSupPr>
                      <m:e>
                        <m:r>
                          <a:rPr lang="en-IN" sz="1600" i="1" dirty="0" smtClean="0">
                            <a:latin typeface="Cambria Math" panose="02040503050406030204" pitchFamily="18" charset="0"/>
                            <a:ea typeface="Cambria Math" panose="02040503050406030204" pitchFamily="18" charset="0"/>
                          </a:rPr>
                          <m:t>𝑡</m:t>
                        </m:r>
                      </m:e>
                      <m:sub>
                        <m:r>
                          <a:rPr lang="en-IN" sz="1600" i="1" dirty="0" smtClean="0">
                            <a:latin typeface="Cambria Math" panose="02040503050406030204" pitchFamily="18" charset="0"/>
                            <a:ea typeface="Cambria Math" panose="02040503050406030204" pitchFamily="18" charset="0"/>
                          </a:rPr>
                          <m:t>𝑖</m:t>
                        </m:r>
                      </m:sub>
                      <m:sup>
                        <m:r>
                          <a:rPr lang="en-IN" sz="1600" i="1" dirty="0" smtClean="0">
                            <a:latin typeface="Cambria Math" panose="02040503050406030204" pitchFamily="18" charset="0"/>
                            <a:ea typeface="Cambria Math" panose="02040503050406030204" pitchFamily="18" charset="0"/>
                          </a:rPr>
                          <m:t>’</m:t>
                        </m:r>
                      </m:sup>
                    </m:sSubSup>
                    <m:r>
                      <a:rPr lang="en-US" sz="1600" b="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m:t>
                    </m:r>
                  </m:oMath>
                </a14:m>
                <a:endParaRPr lang="en-US" sz="1600" i="1" dirty="0">
                  <a:latin typeface="Cambria Math" panose="02040503050406030204" pitchFamily="18" charset="0"/>
                  <a:ea typeface="Cambria Math" panose="02040503050406030204" pitchFamily="18" charset="0"/>
                </a:endParaRPr>
              </a:p>
              <a:p>
                <a14:m>
                  <m:oMathPara xmlns:m="http://schemas.openxmlformats.org/officeDocument/2006/math">
                    <m:oMath>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𝑔</m:t>
                          </m:r>
                        </m:e>
                        <m:sub>
                          <m:r>
                            <a:rPr lang="en-IN" sz="1600" i="1" dirty="0" smtClean="0">
                              <a:latin typeface="Cambria Math" panose="02040503050406030204" pitchFamily="18" charset="0"/>
                              <a:ea typeface="Cambria Math" panose="02040503050406030204" pitchFamily="18" charset="0"/>
                            </a:rPr>
                            <m:t>𝑖</m:t>
                          </m:r>
                        </m:sub>
                      </m:sSub>
                      <m:r>
                        <a:rPr lang="en-IN" sz="1600" i="1" dirty="0" smtClean="0">
                          <a:latin typeface="Cambria Math" panose="02040503050406030204" pitchFamily="18" charset="0"/>
                          <a:ea typeface="Cambria Math" panose="02040503050406030204" pitchFamily="18" charset="0"/>
                        </a:rPr>
                        <m:t> =</m:t>
                      </m:r>
                      <m:d>
                        <m:dPr>
                          <m:begChr m:val="["/>
                          <m:endChr m:val="]"/>
                          <m:ctrlPr>
                            <a:rPr lang="en-US" sz="1600" i="1" dirty="0">
                              <a:latin typeface="Cambria Math" panose="02040503050406030204" pitchFamily="18" charset="0"/>
                              <a:ea typeface="Cambria Math" panose="02040503050406030204" pitchFamily="18" charset="0"/>
                            </a:rPr>
                          </m:ctrlPr>
                        </m:dPr>
                        <m:e>
                          <m:r>
                            <a:rPr lang="en-US" sz="1600" i="1" dirty="0">
                              <a:latin typeface="Cambria Math" panose="02040503050406030204" pitchFamily="18" charset="0"/>
                              <a:ea typeface="Cambria Math" panose="02040503050406030204" pitchFamily="18" charset="0"/>
                            </a:rPr>
                            <m:t>𝑈𝑥</m:t>
                          </m:r>
                        </m:e>
                      </m:d>
                      <m:r>
                        <a:rPr lang="en-US" sz="1600" b="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𝑟ℎ</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𝑜</m:t>
                          </m:r>
                        </m:e>
                        <m:sub>
                          <m:r>
                            <a:rPr lang="en-US" sz="1600" b="0" i="1" dirty="0" smtClean="0">
                              <a:latin typeface="Cambria Math" panose="02040503050406030204" pitchFamily="18" charset="0"/>
                              <a:ea typeface="Cambria Math" panose="02040503050406030204" pitchFamily="18" charset="0"/>
                            </a:rPr>
                            <m:t>𝑖</m:t>
                          </m:r>
                        </m:sub>
                      </m:sSub>
                      <m:r>
                        <a:rPr lang="en-US" sz="1600" b="0" i="1" dirty="0" smtClean="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𝑟ℎ</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𝑜</m:t>
                          </m:r>
                        </m:e>
                        <m:sub>
                          <m:r>
                            <a:rPr lang="en-US" sz="1600" i="1" dirty="0">
                              <a:latin typeface="Cambria Math" panose="02040503050406030204" pitchFamily="18" charset="0"/>
                              <a:ea typeface="Cambria Math" panose="02040503050406030204" pitchFamily="18" charset="0"/>
                            </a:rPr>
                            <m:t>𝑖</m:t>
                          </m:r>
                          <m:r>
                            <a:rPr lang="en-US" sz="1600" b="0" i="1" dirty="0" smtClean="0">
                              <a:latin typeface="Cambria Math" panose="02040503050406030204" pitchFamily="18" charset="0"/>
                              <a:ea typeface="Cambria Math" panose="02040503050406030204" pitchFamily="18" charset="0"/>
                            </a:rPr>
                            <m:t>_</m:t>
                          </m:r>
                          <m:r>
                            <a:rPr lang="en-US" sz="1600" b="0" i="1" dirty="0"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𝑣</m:t>
                      </m:r>
                    </m:oMath>
                  </m:oMathPara>
                </a14:m>
                <a:endParaRPr lang="en-US" sz="1600" i="1" dirty="0">
                  <a:latin typeface="Cambria Math" panose="02040503050406030204" pitchFamily="18" charset="0"/>
                  <a:ea typeface="Cambria Math" panose="02040503050406030204" pitchFamily="18" charset="0"/>
                </a:endParaRPr>
              </a:p>
              <a:p>
                <a:r>
                  <a:rPr lang="en-IN" sz="1600" i="1" dirty="0">
                    <a:latin typeface="Cambria Math" panose="02040503050406030204" pitchFamily="18" charset="0"/>
                    <a:ea typeface="Cambria Math" panose="02040503050406030204" pitchFamily="18" charset="0"/>
                  </a:rPr>
                  <a:t>For a straight undeformed rod: </a:t>
                </a:r>
              </a:p>
              <a:p>
                <a:pPr/>
                <a14:m>
                  <m:oMathPara xmlns:m="http://schemas.openxmlformats.org/officeDocument/2006/math">
                    <m:oMath>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r>
                        <a:rPr lang="el-GR" sz="1600" i="1" dirty="0" smtClean="0">
                          <a:latin typeface="Cambria Math" panose="02040503050406030204" pitchFamily="18" charset="0"/>
                          <a:ea typeface="Cambria Math" panose="02040503050406030204" pitchFamily="18" charset="0"/>
                        </a:rPr>
                        <m:t> </m:t>
                      </m:r>
                      <m:r>
                        <a:rPr lang="el-GR" sz="1600" i="1" dirty="0">
                          <a:latin typeface="Cambria Math" panose="02040503050406030204" pitchFamily="18" charset="0"/>
                          <a:ea typeface="Cambria Math" panose="02040503050406030204" pitchFamily="18" charset="0"/>
                        </a:rPr>
                        <m:t>= </m:t>
                      </m:r>
                      <m:sSup>
                        <m:sSupPr>
                          <m:ctrlPr>
                            <a:rPr lang="el-GR" sz="1600" i="1" dirty="0" smtClean="0">
                              <a:latin typeface="Cambria Math" panose="02040503050406030204" pitchFamily="18" charset="0"/>
                              <a:ea typeface="Cambria Math" panose="02040503050406030204" pitchFamily="18" charset="0"/>
                            </a:rPr>
                          </m:ctrlPr>
                        </m:sSupPr>
                        <m:e>
                          <m:d>
                            <m:dPr>
                              <m:begChr m:val="["/>
                              <m:endChr m:val="]"/>
                              <m:ctrlPr>
                                <a:rPr lang="el-GR" sz="1600" i="1" dirty="0" smtClean="0">
                                  <a:latin typeface="Cambria Math" panose="02040503050406030204" pitchFamily="18" charset="0"/>
                                  <a:ea typeface="Cambria Math" panose="02040503050406030204" pitchFamily="18" charset="0"/>
                                </a:rPr>
                              </m:ctrlPr>
                            </m:dPr>
                            <m:e>
                              <m:r>
                                <a:rPr lang="el-GR" sz="1600" i="1" dirty="0" smtClean="0">
                                  <a:latin typeface="Cambria Math" panose="02040503050406030204" pitchFamily="18" charset="0"/>
                                  <a:ea typeface="Cambria Math" panose="02040503050406030204" pitchFamily="18" charset="0"/>
                                </a:rPr>
                                <m:t>0,0,0</m:t>
                              </m:r>
                            </m:e>
                          </m:d>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 </m:t>
                      </m:r>
                      <m:sSup>
                        <m:sSupPr>
                          <m:ctrlPr>
                            <a:rPr lang="en-US" sz="1600" i="1" dirty="0" smtClean="0">
                              <a:latin typeface="Cambria Math" panose="02040503050406030204" pitchFamily="18" charset="0"/>
                              <a:ea typeface="Cambria Math" panose="02040503050406030204" pitchFamily="18" charset="0"/>
                            </a:rPr>
                          </m:ctrlPr>
                        </m:sSupPr>
                        <m:e>
                          <m:r>
                            <a:rPr lang="en-US" sz="1600" i="1" dirty="0" smtClean="0">
                              <a:latin typeface="Cambria Math" panose="02040503050406030204" pitchFamily="18" charset="0"/>
                              <a:ea typeface="Cambria Math" panose="02040503050406030204" pitchFamily="18" charset="0"/>
                            </a:rPr>
                            <m:t>𝑣</m:t>
                          </m:r>
                        </m:e>
                        <m:sup>
                          <m:r>
                            <a:rPr lang="en-US" sz="1600" i="1" dirty="0" smtClean="0">
                              <a:latin typeface="Cambria Math" panose="02040503050406030204" pitchFamily="18" charset="0"/>
                              <a:ea typeface="Cambria Math" panose="02040503050406030204" pitchFamily="18" charset="0"/>
                            </a:rPr>
                            <m:t>∗</m:t>
                          </m:r>
                        </m:sup>
                      </m:sSup>
                      <m:r>
                        <a:rPr lang="en-US" sz="1600" i="1" dirty="0" smtClean="0">
                          <a:latin typeface="Cambria Math" panose="02040503050406030204" pitchFamily="18" charset="0"/>
                          <a:ea typeface="Cambria Math" panose="02040503050406030204" pitchFamily="18" charset="0"/>
                        </a:rPr>
                        <m:t>=[</m:t>
                      </m:r>
                      <m:r>
                        <a:rPr lang="el-GR" sz="1600" i="1" dirty="0" smtClean="0">
                          <a:latin typeface="Cambria Math" panose="02040503050406030204" pitchFamily="18" charset="0"/>
                          <a:ea typeface="Cambria Math" panose="02040503050406030204" pitchFamily="18" charset="0"/>
                        </a:rPr>
                        <m:t>0,0,1</m:t>
                      </m:r>
                      <m:r>
                        <a:rPr lang="el-GR" sz="1600" i="1" dirty="0">
                          <a:latin typeface="Cambria Math" panose="02040503050406030204" pitchFamily="18" charset="0"/>
                          <a:ea typeface="Cambria Math" panose="02040503050406030204" pitchFamily="18" charset="0"/>
                        </a:rPr>
                        <m:t>]</m:t>
                      </m:r>
                      <m:r>
                        <a:rPr lang="en-IN" sz="1600" i="1" dirty="0">
                          <a:latin typeface="Cambria Math" panose="02040503050406030204" pitchFamily="18" charset="0"/>
                          <a:ea typeface="Cambria Math" panose="02040503050406030204" pitchFamily="18" charset="0"/>
                        </a:rPr>
                        <m:t>ᵀ</m:t>
                      </m:r>
                    </m:oMath>
                  </m:oMathPara>
                </a14:m>
                <a:endParaRPr lang="en-IN" sz="1600" i="1"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72D73812-1120-69C2-6B27-1E040F85C6DE}"/>
                  </a:ext>
                </a:extLst>
              </p:cNvPr>
              <p:cNvSpPr txBox="1">
                <a:spLocks noRot="1" noChangeAspect="1" noMove="1" noResize="1" noEditPoints="1" noAdjustHandles="1" noChangeArrowheads="1" noChangeShapeType="1" noTextEdit="1"/>
              </p:cNvSpPr>
              <p:nvPr/>
            </p:nvSpPr>
            <p:spPr>
              <a:xfrm>
                <a:off x="5479767" y="4894320"/>
                <a:ext cx="3646112" cy="1605632"/>
              </a:xfrm>
              <a:prstGeom prst="rect">
                <a:avLst/>
              </a:prstGeom>
              <a:blipFill>
                <a:blip r:embed="rId3"/>
                <a:stretch>
                  <a:fillRect l="-1003" t="-1521" b="-1901"/>
                </a:stretch>
              </a:blipFill>
            </p:spPr>
            <p:txBody>
              <a:bodyPr/>
              <a:lstStyle/>
              <a:p>
                <a:r>
                  <a:rPr lang="en-IN">
                    <a:noFill/>
                  </a:rPr>
                  <a:t> </a:t>
                </a:r>
              </a:p>
            </p:txBody>
          </p:sp>
        </mc:Fallback>
      </mc:AlternateContent>
      <p:grpSp>
        <p:nvGrpSpPr>
          <p:cNvPr id="76" name="Group 75">
            <a:extLst>
              <a:ext uri="{FF2B5EF4-FFF2-40B4-BE49-F238E27FC236}">
                <a16:creationId xmlns:a16="http://schemas.microsoft.com/office/drawing/2014/main" id="{47069D4D-BE6D-DD55-11BA-D49F5C5B3466}"/>
              </a:ext>
            </a:extLst>
          </p:cNvPr>
          <p:cNvGrpSpPr/>
          <p:nvPr/>
        </p:nvGrpSpPr>
        <p:grpSpPr>
          <a:xfrm>
            <a:off x="611805" y="1384254"/>
            <a:ext cx="4467660" cy="5027676"/>
            <a:chOff x="4136574" y="1153071"/>
            <a:chExt cx="4467660" cy="5027676"/>
          </a:xfrm>
        </p:grpSpPr>
        <p:sp>
          <p:nvSpPr>
            <p:cNvPr id="51" name="TextBox 50">
              <a:extLst>
                <a:ext uri="{FF2B5EF4-FFF2-40B4-BE49-F238E27FC236}">
                  <a16:creationId xmlns:a16="http://schemas.microsoft.com/office/drawing/2014/main" id="{1CAEA46C-0892-92B6-188F-BAEDE879E74F}"/>
                </a:ext>
              </a:extLst>
            </p:cNvPr>
            <p:cNvSpPr txBox="1"/>
            <p:nvPr/>
          </p:nvSpPr>
          <p:spPr>
            <a:xfrm>
              <a:off x="7312312" y="1606583"/>
              <a:ext cx="402674"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y0</a:t>
              </a:r>
              <a:endParaRPr lang="en-IN" sz="1600" dirty="0">
                <a:latin typeface="Cambria Math" panose="02040503050406030204" pitchFamily="18" charset="0"/>
                <a:ea typeface="Cambria Math" panose="02040503050406030204" pitchFamily="18" charset="0"/>
              </a:endParaRPr>
            </a:p>
          </p:txBody>
        </p:sp>
        <p:grpSp>
          <p:nvGrpSpPr>
            <p:cNvPr id="75" name="Group 74">
              <a:extLst>
                <a:ext uri="{FF2B5EF4-FFF2-40B4-BE49-F238E27FC236}">
                  <a16:creationId xmlns:a16="http://schemas.microsoft.com/office/drawing/2014/main" id="{1CD3B401-D788-80EB-C1A2-FDDCF5F49F98}"/>
                </a:ext>
              </a:extLst>
            </p:cNvPr>
            <p:cNvGrpSpPr/>
            <p:nvPr/>
          </p:nvGrpSpPr>
          <p:grpSpPr>
            <a:xfrm>
              <a:off x="4136574" y="1153071"/>
              <a:ext cx="4467660" cy="5027676"/>
              <a:chOff x="4136574" y="1153071"/>
              <a:chExt cx="4467660" cy="5027676"/>
            </a:xfrm>
          </p:grpSpPr>
          <p:sp>
            <p:nvSpPr>
              <p:cNvPr id="23" name="Rectangle 22">
                <a:extLst>
                  <a:ext uri="{FF2B5EF4-FFF2-40B4-BE49-F238E27FC236}">
                    <a16:creationId xmlns:a16="http://schemas.microsoft.com/office/drawing/2014/main" id="{4A0081EC-C444-AF38-E31D-A4890719B8B3}"/>
                  </a:ext>
                </a:extLst>
              </p:cNvPr>
              <p:cNvSpPr/>
              <p:nvPr/>
            </p:nvSpPr>
            <p:spPr>
              <a:xfrm>
                <a:off x="4682066" y="1603044"/>
                <a:ext cx="2092916" cy="7337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BVP</a:t>
                </a:r>
              </a:p>
              <a:p>
                <a:pPr algn="ctr"/>
                <a:r>
                  <a:rPr lang="en-US" sz="1600" dirty="0">
                    <a:latin typeface="Cambria Math" panose="02040503050406030204" pitchFamily="18" charset="0"/>
                    <a:ea typeface="Cambria Math" panose="02040503050406030204" pitchFamily="18" charset="0"/>
                  </a:rPr>
                  <a:t>Shooting method</a:t>
                </a:r>
              </a:p>
              <a:p>
                <a:pPr algn="ctr"/>
                <a:r>
                  <a:rPr lang="en-US" sz="1600" dirty="0">
                    <a:latin typeface="Cambria Math" panose="02040503050406030204" pitchFamily="18" charset="0"/>
                    <a:ea typeface="Cambria Math" panose="02040503050406030204" pitchFamily="18" charset="0"/>
                  </a:rPr>
                  <a:t>[ 1) guess n0, m0]</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77A28CAC-7DC0-FA76-A4AD-7D347D2314A5}"/>
                      </a:ext>
                    </a:extLst>
                  </p:cNvPr>
                  <p:cNvSpPr/>
                  <p:nvPr/>
                </p:nvSpPr>
                <p:spPr>
                  <a:xfrm>
                    <a:off x="6345289" y="2504322"/>
                    <a:ext cx="1886420" cy="5085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ODE of </a:t>
                    </a:r>
                  </a:p>
                  <a:p>
                    <a:pPr algn="ct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𝑅</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𝑛</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𝑚</m:t>
                              </m:r>
                            </m:e>
                            <m:sub>
                              <m:r>
                                <a:rPr lang="en-US" sz="1600" i="1" dirty="0" err="1">
                                  <a:latin typeface="Cambria Math" panose="02040503050406030204" pitchFamily="18" charset="0"/>
                                  <a:ea typeface="Cambria Math" panose="02040503050406030204" pitchFamily="18" charset="0"/>
                                </a:rPr>
                                <m:t>𝑠</m:t>
                              </m:r>
                            </m:sub>
                          </m:sSub>
                        </m:oMath>
                      </m:oMathPara>
                    </a14:m>
                    <a:endParaRPr lang="en-IN" sz="1600" dirty="0">
                      <a:latin typeface="Cambria Math" panose="02040503050406030204" pitchFamily="18" charset="0"/>
                      <a:ea typeface="Cambria Math" panose="02040503050406030204" pitchFamily="18" charset="0"/>
                    </a:endParaRPr>
                  </a:p>
                </p:txBody>
              </p:sp>
            </mc:Choice>
            <mc:Fallback xmlns="">
              <p:sp>
                <p:nvSpPr>
                  <p:cNvPr id="25" name="Rectangle 24">
                    <a:extLst>
                      <a:ext uri="{FF2B5EF4-FFF2-40B4-BE49-F238E27FC236}">
                        <a16:creationId xmlns:a16="http://schemas.microsoft.com/office/drawing/2014/main" id="{77A28CAC-7DC0-FA76-A4AD-7D347D2314A5}"/>
                      </a:ext>
                    </a:extLst>
                  </p:cNvPr>
                  <p:cNvSpPr>
                    <a:spLocks noRot="1" noChangeAspect="1" noMove="1" noResize="1" noEditPoints="1" noAdjustHandles="1" noChangeArrowheads="1" noChangeShapeType="1" noTextEdit="1"/>
                  </p:cNvSpPr>
                  <p:nvPr/>
                </p:nvSpPr>
                <p:spPr>
                  <a:xfrm>
                    <a:off x="6345289" y="2504322"/>
                    <a:ext cx="1886420" cy="508526"/>
                  </a:xfrm>
                  <a:prstGeom prst="rect">
                    <a:avLst/>
                  </a:prstGeom>
                  <a:blipFill>
                    <a:blip r:embed="rId4"/>
                    <a:stretch>
                      <a:fillRect t="-9195" b="-2299"/>
                    </a:stretch>
                  </a:blipFill>
                </p:spPr>
                <p:txBody>
                  <a:bodyPr/>
                  <a:lstStyle/>
                  <a:p>
                    <a:r>
                      <a:rPr lang="en-IN">
                        <a:noFill/>
                      </a:rPr>
                      <a:t> </a:t>
                    </a:r>
                  </a:p>
                </p:txBody>
              </p:sp>
            </mc:Fallback>
          </mc:AlternateContent>
          <p:cxnSp>
            <p:nvCxnSpPr>
              <p:cNvPr id="30" name="Straight Arrow Connector 29">
                <a:extLst>
                  <a:ext uri="{FF2B5EF4-FFF2-40B4-BE49-F238E27FC236}">
                    <a16:creationId xmlns:a16="http://schemas.microsoft.com/office/drawing/2014/main" id="{812E2342-E5C8-EAC3-9FC6-91AAA1051AC5}"/>
                  </a:ext>
                </a:extLst>
              </p:cNvPr>
              <p:cNvCxnSpPr>
                <a:cxnSpLocks/>
                <a:stCxn id="25" idx="2"/>
              </p:cNvCxnSpPr>
              <p:nvPr/>
            </p:nvCxnSpPr>
            <p:spPr>
              <a:xfrm>
                <a:off x="7288499" y="3012848"/>
                <a:ext cx="5256" cy="373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97D234CA-04C8-B3EE-1192-A01D0AEDFE98}"/>
                  </a:ext>
                </a:extLst>
              </p:cNvPr>
              <p:cNvSpPr/>
              <p:nvPr/>
            </p:nvSpPr>
            <p:spPr>
              <a:xfrm>
                <a:off x="6377262" y="3414888"/>
                <a:ext cx="1886420" cy="5353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atin typeface="Cambria Math" panose="02040503050406030204" pitchFamily="18" charset="0"/>
                  <a:ea typeface="Cambria Math" panose="02040503050406030204" pitchFamily="18" charset="0"/>
                </a:endParaRPr>
              </a:p>
              <a:p>
                <a:pPr algn="ctr"/>
                <a:r>
                  <a:rPr lang="en-US" sz="1600" dirty="0">
                    <a:latin typeface="Cambria Math" panose="02040503050406030204" pitchFamily="18" charset="0"/>
                    <a:ea typeface="Cambria Math" panose="02040503050406030204" pitchFamily="18" charset="0"/>
                  </a:rPr>
                  <a:t>4) IVP – RK45,RK4 etc.</a:t>
                </a:r>
                <a:endParaRPr lang="en-IN" sz="1600" dirty="0">
                  <a:latin typeface="Cambria Math" panose="02040503050406030204" pitchFamily="18" charset="0"/>
                  <a:ea typeface="Cambria Math" panose="02040503050406030204" pitchFamily="18" charset="0"/>
                </a:endParaRPr>
              </a:p>
              <a:p>
                <a:pPr algn="ctr"/>
                <a:endParaRPr lang="en-US" sz="1600" dirty="0">
                  <a:latin typeface="Cambria Math" panose="02040503050406030204" pitchFamily="18" charset="0"/>
                  <a:ea typeface="Cambria Math" panose="02040503050406030204" pitchFamily="18" charset="0"/>
                </a:endParaRPr>
              </a:p>
            </p:txBody>
          </p:sp>
          <p:cxnSp>
            <p:nvCxnSpPr>
              <p:cNvPr id="37" name="Connector: Elbow 36">
                <a:extLst>
                  <a:ext uri="{FF2B5EF4-FFF2-40B4-BE49-F238E27FC236}">
                    <a16:creationId xmlns:a16="http://schemas.microsoft.com/office/drawing/2014/main" id="{C9BAB5BF-823A-E6AA-2FD2-8F50B20F20C3}"/>
                  </a:ext>
                </a:extLst>
              </p:cNvPr>
              <p:cNvCxnSpPr>
                <a:cxnSpLocks/>
                <a:stCxn id="23" idx="3"/>
                <a:endCxn id="25" idx="0"/>
              </p:cNvCxnSpPr>
              <p:nvPr/>
            </p:nvCxnSpPr>
            <p:spPr>
              <a:xfrm>
                <a:off x="6774982" y="1969922"/>
                <a:ext cx="513517" cy="5344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50BD06D-FA0C-55A5-53A5-C627AF0CDD90}"/>
                  </a:ext>
                </a:extLst>
              </p:cNvPr>
              <p:cNvSpPr txBox="1"/>
              <p:nvPr/>
            </p:nvSpPr>
            <p:spPr>
              <a:xfrm>
                <a:off x="4682066" y="1224761"/>
                <a:ext cx="1414939" cy="338554"/>
              </a:xfrm>
              <a:prstGeom prst="rect">
                <a:avLst/>
              </a:prstGeom>
              <a:no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 = [r, R, n ,m]</a:t>
                </a:r>
                <a:endParaRPr lang="en-IN" sz="1600" dirty="0">
                  <a:latin typeface="Cambria Math" panose="02040503050406030204" pitchFamily="18" charset="0"/>
                  <a:ea typeface="Cambria Math" panose="02040503050406030204" pitchFamily="18" charset="0"/>
                </a:endParaRPr>
              </a:p>
            </p:txBody>
          </p:sp>
          <p:sp>
            <p:nvSpPr>
              <p:cNvPr id="53" name="TextBox 52">
                <a:extLst>
                  <a:ext uri="{FF2B5EF4-FFF2-40B4-BE49-F238E27FC236}">
                    <a16:creationId xmlns:a16="http://schemas.microsoft.com/office/drawing/2014/main" id="{F0A040B6-6AD5-1683-0B71-0A85BE7386D9}"/>
                  </a:ext>
                </a:extLst>
              </p:cNvPr>
              <p:cNvSpPr txBox="1"/>
              <p:nvPr/>
            </p:nvSpPr>
            <p:spPr>
              <a:xfrm>
                <a:off x="6027915" y="4285455"/>
                <a:ext cx="569387"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y(L)</a:t>
                </a:r>
                <a:endParaRPr lang="en-IN" sz="1600" dirty="0">
                  <a:latin typeface="Cambria Math" panose="02040503050406030204" pitchFamily="18" charset="0"/>
                  <a:ea typeface="Cambria Math" panose="02040503050406030204" pitchFamily="18" charset="0"/>
                </a:endParaRPr>
              </a:p>
            </p:txBody>
          </p:sp>
          <p:cxnSp>
            <p:nvCxnSpPr>
              <p:cNvPr id="56" name="Connector: Elbow 55">
                <a:extLst>
                  <a:ext uri="{FF2B5EF4-FFF2-40B4-BE49-F238E27FC236}">
                    <a16:creationId xmlns:a16="http://schemas.microsoft.com/office/drawing/2014/main" id="{BFF49450-E722-B3B9-06AB-1E245052111F}"/>
                  </a:ext>
                </a:extLst>
              </p:cNvPr>
              <p:cNvCxnSpPr>
                <a:cxnSpLocks/>
                <a:stCxn id="35" idx="2"/>
                <a:endCxn id="67" idx="3"/>
              </p:cNvCxnSpPr>
              <p:nvPr/>
            </p:nvCxnSpPr>
            <p:spPr>
              <a:xfrm rot="5400000">
                <a:off x="6211396" y="3675809"/>
                <a:ext cx="834615" cy="13835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831A68E2-C395-7B3E-9F2E-2C34B756758D}"/>
                  </a:ext>
                </a:extLst>
              </p:cNvPr>
              <p:cNvSpPr txBox="1"/>
              <p:nvPr/>
            </p:nvSpPr>
            <p:spPr>
              <a:xfrm>
                <a:off x="7320472" y="4626319"/>
                <a:ext cx="546945"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y(s)</a:t>
                </a:r>
                <a:endParaRPr lang="en-IN" sz="1600" dirty="0">
                  <a:latin typeface="Cambria Math" panose="02040503050406030204" pitchFamily="18" charset="0"/>
                  <a:ea typeface="Cambria Math" panose="02040503050406030204" pitchFamily="18" charset="0"/>
                </a:endParaRPr>
              </a:p>
            </p:txBody>
          </p:sp>
          <p:cxnSp>
            <p:nvCxnSpPr>
              <p:cNvPr id="62" name="Straight Arrow Connector 61">
                <a:extLst>
                  <a:ext uri="{FF2B5EF4-FFF2-40B4-BE49-F238E27FC236}">
                    <a16:creationId xmlns:a16="http://schemas.microsoft.com/office/drawing/2014/main" id="{E6FAD02C-B569-46E4-676C-D034982EE30A}"/>
                  </a:ext>
                </a:extLst>
              </p:cNvPr>
              <p:cNvCxnSpPr>
                <a:cxnSpLocks/>
                <a:stCxn id="23" idx="2"/>
              </p:cNvCxnSpPr>
              <p:nvPr/>
            </p:nvCxnSpPr>
            <p:spPr>
              <a:xfrm>
                <a:off x="5728524" y="2336800"/>
                <a:ext cx="10511" cy="3491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7" name="Diamond 66">
                <a:extLst>
                  <a:ext uri="{FF2B5EF4-FFF2-40B4-BE49-F238E27FC236}">
                    <a16:creationId xmlns:a16="http://schemas.microsoft.com/office/drawing/2014/main" id="{777EFC42-321B-88F8-0CD3-0B2814E0D1F0}"/>
                  </a:ext>
                </a:extLst>
              </p:cNvPr>
              <p:cNvSpPr/>
              <p:nvPr/>
            </p:nvSpPr>
            <p:spPr>
              <a:xfrm>
                <a:off x="5520113" y="4542251"/>
                <a:ext cx="416821" cy="485269"/>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600">
                  <a:latin typeface="Cambria Math" panose="02040503050406030204" pitchFamily="18" charset="0"/>
                  <a:ea typeface="Cambria Math" panose="02040503050406030204" pitchFamily="18" charset="0"/>
                </a:endParaRPr>
              </a:p>
            </p:txBody>
          </p:sp>
          <p:sp>
            <p:nvSpPr>
              <p:cNvPr id="68" name="TextBox 67">
                <a:extLst>
                  <a:ext uri="{FF2B5EF4-FFF2-40B4-BE49-F238E27FC236}">
                    <a16:creationId xmlns:a16="http://schemas.microsoft.com/office/drawing/2014/main" id="{2A19CF34-8A2B-2DFD-5BF2-2E5D63F02AD0}"/>
                  </a:ext>
                </a:extLst>
              </p:cNvPr>
              <p:cNvSpPr txBox="1"/>
              <p:nvPr/>
            </p:nvSpPr>
            <p:spPr>
              <a:xfrm>
                <a:off x="4136574" y="3721815"/>
                <a:ext cx="1435027" cy="830997"/>
              </a:xfrm>
              <a:prstGeom prst="rect">
                <a:avLst/>
              </a:prstGeom>
              <a:solidFill>
                <a:schemeClr val="bg1"/>
              </a:solidFill>
              <a:ln>
                <a:solidFill>
                  <a:schemeClr val="tx1"/>
                </a:solidFill>
              </a:ln>
            </p:spPr>
            <p:txBody>
              <a:bodyPr wrap="square" rtlCol="0">
                <a:spAutoFit/>
              </a:bodyPr>
              <a:lstStyle/>
              <a:p>
                <a:r>
                  <a:rPr lang="en-US" sz="1600" dirty="0">
                    <a:latin typeface="Cambria Math" panose="02040503050406030204" pitchFamily="18" charset="0"/>
                    <a:ea typeface="Cambria Math" panose="02040503050406030204" pitchFamily="18" charset="0"/>
                  </a:rPr>
                  <a:t>Check error with knowns</a:t>
                </a:r>
              </a:p>
              <a:p>
                <a:r>
                  <a:rPr lang="en-US" sz="1600" dirty="0">
                    <a:latin typeface="Cambria Math" panose="02040503050406030204" pitchFamily="18" charset="0"/>
                    <a:ea typeface="Cambria Math" panose="02040503050406030204" pitchFamily="18" charset="0"/>
                  </a:rPr>
                  <a:t>n(L), m(L)</a:t>
                </a:r>
              </a:p>
            </p:txBody>
          </p:sp>
          <p:sp>
            <p:nvSpPr>
              <p:cNvPr id="70" name="TextBox 69">
                <a:extLst>
                  <a:ext uri="{FF2B5EF4-FFF2-40B4-BE49-F238E27FC236}">
                    <a16:creationId xmlns:a16="http://schemas.microsoft.com/office/drawing/2014/main" id="{4DDC0BAA-A623-1010-77D9-202274913EB9}"/>
                  </a:ext>
                </a:extLst>
              </p:cNvPr>
              <p:cNvSpPr txBox="1"/>
              <p:nvPr/>
            </p:nvSpPr>
            <p:spPr>
              <a:xfrm>
                <a:off x="5249958" y="5842193"/>
                <a:ext cx="1045479"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r(L), R(L)</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DB124AD3-1032-0CE5-9512-C7276DD449D9}"/>
                      </a:ext>
                    </a:extLst>
                  </p:cNvPr>
                  <p:cNvSpPr txBox="1"/>
                  <p:nvPr/>
                </p:nvSpPr>
                <p:spPr>
                  <a:xfrm>
                    <a:off x="7312312" y="1153071"/>
                    <a:ext cx="1291922" cy="430887"/>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𝑟</m:t>
                          </m:r>
                          <m:d>
                            <m:dPr>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m:t>
                              </m:r>
                            </m:e>
                          </m:d>
                          <m:r>
                            <a:rPr lang="en-US" sz="1100" i="1" dirty="0" smtClean="0">
                              <a:latin typeface="Cambria Math" panose="02040503050406030204" pitchFamily="18" charset="0"/>
                              <a:ea typeface="Cambria Math" panose="02040503050406030204" pitchFamily="18" charset="0"/>
                            </a:rPr>
                            <m:t>= </m:t>
                          </m:r>
                          <m:sSup>
                            <m:sSupPr>
                              <m:ctrlPr>
                                <a:rPr lang="en-US" sz="1100" i="1" dirty="0" smtClean="0">
                                  <a:latin typeface="Cambria Math" panose="02040503050406030204" pitchFamily="18" charset="0"/>
                                  <a:ea typeface="Cambria Math" panose="02040503050406030204" pitchFamily="18" charset="0"/>
                                </a:rPr>
                              </m:ctrlPr>
                            </m:sSupPr>
                            <m:e>
                              <m:d>
                                <m:dPr>
                                  <m:begChr m:val="["/>
                                  <m:endChr m:val="]"/>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0 0 0</m:t>
                                  </m:r>
                                </m:e>
                              </m:d>
                            </m:e>
                            <m:sup>
                              <m:r>
                                <a:rPr lang="en-US" sz="1100" i="1" dirty="0" smtClean="0">
                                  <a:latin typeface="Cambria Math" panose="02040503050406030204" pitchFamily="18" charset="0"/>
                                  <a:ea typeface="Cambria Math" panose="02040503050406030204" pitchFamily="18" charset="0"/>
                                </a:rPr>
                                <m:t>𝑇</m:t>
                              </m:r>
                            </m:sup>
                          </m:sSup>
                          <m:r>
                            <a:rPr lang="en-US" sz="1100" i="1" dirty="0" smtClean="0">
                              <a:latin typeface="Cambria Math" panose="02040503050406030204" pitchFamily="18" charset="0"/>
                              <a:ea typeface="Cambria Math" panose="02040503050406030204" pitchFamily="18" charset="0"/>
                            </a:rPr>
                            <m:t> ; </m:t>
                          </m:r>
                        </m:oMath>
                      </m:oMathPara>
                    </a14:m>
                    <a:endParaRPr lang="en-US" sz="11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𝑅</m:t>
                          </m:r>
                          <m:r>
                            <a:rPr lang="en-US" sz="1100" i="1" dirty="0" smtClean="0">
                              <a:latin typeface="Cambria Math" panose="02040503050406030204" pitchFamily="18" charset="0"/>
                              <a:ea typeface="Cambria Math" panose="02040503050406030204" pitchFamily="18" charset="0"/>
                            </a:rPr>
                            <m:t>(0) = </m:t>
                          </m:r>
                          <m:r>
                            <a:rPr lang="en-US" sz="1100" i="1" dirty="0" smtClean="0">
                              <a:latin typeface="Cambria Math" panose="02040503050406030204" pitchFamily="18" charset="0"/>
                              <a:ea typeface="Cambria Math" panose="02040503050406030204" pitchFamily="18" charset="0"/>
                            </a:rPr>
                            <m:t>𝐼</m:t>
                          </m:r>
                        </m:oMath>
                      </m:oMathPara>
                    </a14:m>
                    <a:endParaRPr lang="en-US" sz="1100" i="1" dirty="0">
                      <a:latin typeface="Cambria Math" panose="02040503050406030204" pitchFamily="18" charset="0"/>
                      <a:ea typeface="Cambria Math" panose="02040503050406030204" pitchFamily="18" charset="0"/>
                    </a:endParaRPr>
                  </a:p>
                </p:txBody>
              </p:sp>
            </mc:Choice>
            <mc:Fallback xmlns="">
              <p:sp>
                <p:nvSpPr>
                  <p:cNvPr id="72" name="TextBox 71">
                    <a:extLst>
                      <a:ext uri="{FF2B5EF4-FFF2-40B4-BE49-F238E27FC236}">
                        <a16:creationId xmlns:a16="http://schemas.microsoft.com/office/drawing/2014/main" id="{E89FB6DA-B9D6-69C1-3C5B-1EB9AA3A0A25}"/>
                      </a:ext>
                    </a:extLst>
                  </p:cNvPr>
                  <p:cNvSpPr txBox="1">
                    <a:spLocks noRot="1" noChangeAspect="1" noMove="1" noResize="1" noEditPoints="1" noAdjustHandles="1" noChangeArrowheads="1" noChangeShapeType="1" noTextEdit="1"/>
                  </p:cNvSpPr>
                  <p:nvPr/>
                </p:nvSpPr>
                <p:spPr>
                  <a:xfrm>
                    <a:off x="7312312" y="1153071"/>
                    <a:ext cx="1291922" cy="430887"/>
                  </a:xfrm>
                  <a:prstGeom prst="rect">
                    <a:avLst/>
                  </a:prstGeom>
                  <a:blipFill>
                    <a:blip r:embed="rId5"/>
                    <a:stretch>
                      <a:fillRect b="-6849"/>
                    </a:stretch>
                  </a:blipFill>
                  <a:ln>
                    <a:solidFill>
                      <a:schemeClr val="tx1"/>
                    </a:solidFill>
                  </a:ln>
                </p:spPr>
                <p:txBody>
                  <a:bodyPr/>
                  <a:lstStyle/>
                  <a:p>
                    <a:r>
                      <a:rPr lang="en-IN">
                        <a:noFill/>
                      </a:rPr>
                      <a:t> </a:t>
                    </a:r>
                  </a:p>
                </p:txBody>
              </p:sp>
            </mc:Fallback>
          </mc:AlternateContent>
        </p:grpSp>
      </p:grpSp>
      <p:sp>
        <p:nvSpPr>
          <p:cNvPr id="6" name="TextBox 5">
            <a:extLst>
              <a:ext uri="{FF2B5EF4-FFF2-40B4-BE49-F238E27FC236}">
                <a16:creationId xmlns:a16="http://schemas.microsoft.com/office/drawing/2014/main" id="{58247957-C34A-7A95-DD06-93D0FF0290C5}"/>
              </a:ext>
            </a:extLst>
          </p:cNvPr>
          <p:cNvSpPr txBox="1"/>
          <p:nvPr/>
        </p:nvSpPr>
        <p:spPr>
          <a:xfrm>
            <a:off x="876314" y="753206"/>
            <a:ext cx="6096000" cy="584775"/>
          </a:xfrm>
          <a:prstGeom prst="rect">
            <a:avLst/>
          </a:prstGeom>
          <a:noFill/>
        </p:spPr>
        <p:txBody>
          <a:bodyPr wrap="squar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Static Equilibrium:</a:t>
            </a:r>
          </a:p>
          <a:p>
            <a:pPr>
              <a:defRPr sz="2000">
                <a:solidFill>
                  <a:srgbClr val="142237"/>
                </a:solidFill>
              </a:defRPr>
            </a:pPr>
            <a:r>
              <a:rPr lang="en-US" sz="1600" dirty="0">
                <a:latin typeface="Cambria Math" panose="02040503050406030204" pitchFamily="18" charset="0"/>
                <a:ea typeface="Cambria Math" panose="02040503050406030204" pitchFamily="18" charset="0"/>
              </a:rPr>
              <a:t>(t = 0)</a:t>
            </a:r>
          </a:p>
        </p:txBody>
      </p:sp>
      <p:sp>
        <p:nvSpPr>
          <p:cNvPr id="11" name="TextBox 10">
            <a:extLst>
              <a:ext uri="{FF2B5EF4-FFF2-40B4-BE49-F238E27FC236}">
                <a16:creationId xmlns:a16="http://schemas.microsoft.com/office/drawing/2014/main" id="{003CA591-7FBE-F839-5241-538AC4EB0C42}"/>
              </a:ext>
            </a:extLst>
          </p:cNvPr>
          <p:cNvSpPr txBox="1"/>
          <p:nvPr/>
        </p:nvSpPr>
        <p:spPr>
          <a:xfrm>
            <a:off x="9201712" y="2443117"/>
            <a:ext cx="2231701"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No external loading</a:t>
            </a:r>
          </a:p>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Distributed loading</a:t>
            </a:r>
            <a:endParaRPr lang="en-IN" sz="1600" dirty="0">
              <a:latin typeface="Cambria Math" panose="02040503050406030204" pitchFamily="18" charset="0"/>
              <a:ea typeface="Cambria Math" panose="02040503050406030204" pitchFamily="18" charset="0"/>
            </a:endParaRPr>
          </a:p>
        </p:txBody>
      </p:sp>
      <p:sp>
        <p:nvSpPr>
          <p:cNvPr id="32" name="Oval 31">
            <a:extLst>
              <a:ext uri="{FF2B5EF4-FFF2-40B4-BE49-F238E27FC236}">
                <a16:creationId xmlns:a16="http://schemas.microsoft.com/office/drawing/2014/main" id="{5DEF8DDF-B6A3-0F36-22BB-DA0936F22EE5}"/>
              </a:ext>
            </a:extLst>
          </p:cNvPr>
          <p:cNvSpPr/>
          <p:nvPr/>
        </p:nvSpPr>
        <p:spPr>
          <a:xfrm rot="19251957">
            <a:off x="10185275" y="4948004"/>
            <a:ext cx="330554" cy="152458"/>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grpSp>
        <p:nvGrpSpPr>
          <p:cNvPr id="71" name="Group 70">
            <a:extLst>
              <a:ext uri="{FF2B5EF4-FFF2-40B4-BE49-F238E27FC236}">
                <a16:creationId xmlns:a16="http://schemas.microsoft.com/office/drawing/2014/main" id="{36B09D71-838E-7DB2-943A-A8E67ED06B10}"/>
              </a:ext>
            </a:extLst>
          </p:cNvPr>
          <p:cNvGrpSpPr/>
          <p:nvPr/>
        </p:nvGrpSpPr>
        <p:grpSpPr>
          <a:xfrm>
            <a:off x="9278673" y="3727441"/>
            <a:ext cx="2353817" cy="2742829"/>
            <a:chOff x="9278673" y="3727441"/>
            <a:chExt cx="2353817" cy="2742829"/>
          </a:xfrm>
        </p:grpSpPr>
        <p:sp>
          <p:nvSpPr>
            <p:cNvPr id="15" name="Oval 14">
              <a:extLst>
                <a:ext uri="{FF2B5EF4-FFF2-40B4-BE49-F238E27FC236}">
                  <a16:creationId xmlns:a16="http://schemas.microsoft.com/office/drawing/2014/main" id="{178BF9D8-B836-618D-AC37-97FCB181621E}"/>
                </a:ext>
              </a:extLst>
            </p:cNvPr>
            <p:cNvSpPr/>
            <p:nvPr/>
          </p:nvSpPr>
          <p:spPr>
            <a:xfrm rot="19251957">
              <a:off x="9657291" y="4652686"/>
              <a:ext cx="1523860" cy="74818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14" name="Connector: Curved 13">
              <a:extLst>
                <a:ext uri="{FF2B5EF4-FFF2-40B4-BE49-F238E27FC236}">
                  <a16:creationId xmlns:a16="http://schemas.microsoft.com/office/drawing/2014/main" id="{8CCCC423-10B9-62B1-838D-AFD2CAD7D129}"/>
                </a:ext>
              </a:extLst>
            </p:cNvPr>
            <p:cNvCxnSpPr>
              <a:cxnSpLocks/>
            </p:cNvCxnSpPr>
            <p:nvPr/>
          </p:nvCxnSpPr>
          <p:spPr>
            <a:xfrm rot="16200000" flipH="1">
              <a:off x="9514041" y="4193177"/>
              <a:ext cx="1989000" cy="1667205"/>
            </a:xfrm>
            <a:prstGeom prst="curvedConnector3">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8" name="Connector: Curved 17">
              <a:extLst>
                <a:ext uri="{FF2B5EF4-FFF2-40B4-BE49-F238E27FC236}">
                  <a16:creationId xmlns:a16="http://schemas.microsoft.com/office/drawing/2014/main" id="{B4328937-E93B-AA72-8030-96DE0032C5D2}"/>
                </a:ext>
              </a:extLst>
            </p:cNvPr>
            <p:cNvCxnSpPr>
              <a:cxnSpLocks/>
            </p:cNvCxnSpPr>
            <p:nvPr/>
          </p:nvCxnSpPr>
          <p:spPr>
            <a:xfrm rot="16200000" flipH="1">
              <a:off x="9117776" y="4529394"/>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Connector: Curved 18">
              <a:extLst>
                <a:ext uri="{FF2B5EF4-FFF2-40B4-BE49-F238E27FC236}">
                  <a16:creationId xmlns:a16="http://schemas.microsoft.com/office/drawing/2014/main" id="{65012C49-5150-F17D-C817-CB53599D9D7E}"/>
                </a:ext>
              </a:extLst>
            </p:cNvPr>
            <p:cNvCxnSpPr>
              <a:cxnSpLocks/>
            </p:cNvCxnSpPr>
            <p:nvPr/>
          </p:nvCxnSpPr>
          <p:spPr>
            <a:xfrm rot="16200000" flipH="1">
              <a:off x="9804388" y="3888338"/>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Oval 20">
              <a:extLst>
                <a:ext uri="{FF2B5EF4-FFF2-40B4-BE49-F238E27FC236}">
                  <a16:creationId xmlns:a16="http://schemas.microsoft.com/office/drawing/2014/main" id="{84FC8DC1-9695-790C-AE67-5DB9111F9AD0}"/>
                </a:ext>
              </a:extLst>
            </p:cNvPr>
            <p:cNvSpPr/>
            <p:nvPr/>
          </p:nvSpPr>
          <p:spPr>
            <a:xfrm rot="19251957">
              <a:off x="10490860" y="510038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023C4873-9DF2-FA2A-6BEC-B72512082F4D}"/>
                </a:ext>
              </a:extLst>
            </p:cNvPr>
            <p:cNvSpPr/>
            <p:nvPr/>
          </p:nvSpPr>
          <p:spPr>
            <a:xfrm rot="19251957">
              <a:off x="10630895" y="467957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AFAB39D8-011B-9054-8690-76DE1041AB76}"/>
                </a:ext>
              </a:extLst>
            </p:cNvPr>
            <p:cNvSpPr/>
            <p:nvPr/>
          </p:nvSpPr>
          <p:spPr>
            <a:xfrm rot="19251957">
              <a:off x="10037961" y="4892592"/>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6B6D7748-76CE-56A5-79F1-794906D9DB37}"/>
                </a:ext>
              </a:extLst>
            </p:cNvPr>
            <p:cNvSpPr/>
            <p:nvPr/>
          </p:nvSpPr>
          <p:spPr>
            <a:xfrm rot="19251957">
              <a:off x="9970227" y="5296104"/>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34" name="Connector: Elbow 33">
              <a:extLst>
                <a:ext uri="{FF2B5EF4-FFF2-40B4-BE49-F238E27FC236}">
                  <a16:creationId xmlns:a16="http://schemas.microsoft.com/office/drawing/2014/main" id="{CDDCB027-0308-3C9D-C8F6-B38697C2F5C9}"/>
                </a:ext>
              </a:extLst>
            </p:cNvPr>
            <p:cNvCxnSpPr>
              <a:cxnSpLocks/>
            </p:cNvCxnSpPr>
            <p:nvPr/>
          </p:nvCxnSpPr>
          <p:spPr>
            <a:xfrm>
              <a:off x="9496300" y="6134055"/>
              <a:ext cx="531594" cy="336215"/>
            </a:xfrm>
            <a:prstGeom prst="bentConnector3">
              <a:avLst>
                <a:gd name="adj1" fmla="val 626"/>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6A65B084-F0AA-D3A6-2EE0-386B08268A16}"/>
                </a:ext>
              </a:extLst>
            </p:cNvPr>
            <p:cNvCxnSpPr>
              <a:cxnSpLocks/>
            </p:cNvCxnSpPr>
            <p:nvPr/>
          </p:nvCxnSpPr>
          <p:spPr>
            <a:xfrm flipV="1">
              <a:off x="9505523" y="5026779"/>
              <a:ext cx="835807" cy="142356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4" name="Straight Arrow Connector 53">
              <a:extLst>
                <a:ext uri="{FF2B5EF4-FFF2-40B4-BE49-F238E27FC236}">
                  <a16:creationId xmlns:a16="http://schemas.microsoft.com/office/drawing/2014/main" id="{2D5579F9-C249-4189-44EE-3F2EAA91C3D5}"/>
                </a:ext>
              </a:extLst>
            </p:cNvPr>
            <p:cNvCxnSpPr>
              <a:cxnSpLocks/>
              <a:endCxn id="24" idx="0"/>
            </p:cNvCxnSpPr>
            <p:nvPr/>
          </p:nvCxnSpPr>
          <p:spPr>
            <a:xfrm flipV="1">
              <a:off x="10347442" y="4689082"/>
              <a:ext cx="331032" cy="34231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7" name="Straight Arrow Connector 56">
              <a:extLst>
                <a:ext uri="{FF2B5EF4-FFF2-40B4-BE49-F238E27FC236}">
                  <a16:creationId xmlns:a16="http://schemas.microsoft.com/office/drawing/2014/main" id="{26F3A19D-6D7D-D422-9EDF-7ADA6E7062B5}"/>
                </a:ext>
              </a:extLst>
            </p:cNvPr>
            <p:cNvCxnSpPr>
              <a:cxnSpLocks/>
            </p:cNvCxnSpPr>
            <p:nvPr/>
          </p:nvCxnSpPr>
          <p:spPr>
            <a:xfrm flipV="1">
              <a:off x="9517383" y="4743417"/>
              <a:ext cx="1170341" cy="1698446"/>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FCB6CB9-8208-5D2F-053D-62F904F126BF}"/>
                    </a:ext>
                  </a:extLst>
                </p:cNvPr>
                <p:cNvSpPr txBox="1"/>
                <p:nvPr/>
              </p:nvSpPr>
              <p:spPr>
                <a:xfrm>
                  <a:off x="9607386" y="5574026"/>
                  <a:ext cx="207495"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en-US" sz="1000" i="1" dirty="0" smtClean="0">
                            <a:latin typeface="Cambria Math" panose="02040503050406030204" pitchFamily="18" charset="0"/>
                          </a:rPr>
                          <m:t>𝑟</m:t>
                        </m:r>
                      </m:oMath>
                    </m:oMathPara>
                  </a14:m>
                  <a:endParaRPr/>
                </a:p>
              </p:txBody>
            </p:sp>
          </mc:Choice>
          <mc:Fallback xmlns="">
            <p:sp>
              <p:nvSpPr>
                <p:cNvPr id="63" name="TextBox 62">
                  <a:extLst>
                    <a:ext uri="{FF2B5EF4-FFF2-40B4-BE49-F238E27FC236}">
                      <a16:creationId xmlns:a16="http://schemas.microsoft.com/office/drawing/2014/main" id="{FFCB6CB9-8208-5D2F-053D-62F904F126BF}"/>
                    </a:ext>
                  </a:extLst>
                </p:cNvPr>
                <p:cNvSpPr txBox="1">
                  <a:spLocks noRot="1" noChangeAspect="1" noMove="1" noResize="1" noEditPoints="1" noAdjustHandles="1" noChangeArrowheads="1" noChangeShapeType="1" noTextEdit="1"/>
                </p:cNvSpPr>
                <p:nvPr/>
              </p:nvSpPr>
              <p:spPr>
                <a:xfrm>
                  <a:off x="9607386" y="5574026"/>
                  <a:ext cx="207495" cy="246221"/>
                </a:xfrm>
                <a:prstGeom prst="rect">
                  <a:avLst/>
                </a:prstGeom>
                <a:blipFill>
                  <a:blip r:embed="rId6"/>
                  <a:stretch>
                    <a:fillRect r="-22222" b="-9302"/>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7892BB5C-BB1E-5DFF-01BE-5595307EE2E7}"/>
                    </a:ext>
                  </a:extLst>
                </p:cNvPr>
                <p:cNvSpPr txBox="1"/>
                <p:nvPr/>
              </p:nvSpPr>
              <p:spPr>
                <a:xfrm>
                  <a:off x="10114780" y="4574133"/>
                  <a:ext cx="381293"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ar-AE" sz="1000" i="1" dirty="0" smtClean="0">
                            <a:solidFill>
                              <a:schemeClr val="tx1"/>
                            </a:solidFill>
                            <a:latin typeface="Cambria Math" panose="02040503050406030204" pitchFamily="18" charset="0"/>
                          </a:rPr>
                          <m:t>𝑟</m:t>
                        </m:r>
                        <m:r>
                          <a:rPr lang="ar-AE" sz="1000" b="0" i="1" dirty="0" smtClean="0">
                            <a:solidFill>
                              <a:schemeClr val="tx1"/>
                            </a:solidFill>
                            <a:latin typeface="Cambria Math" panose="02040503050406030204" pitchFamily="18" charset="0"/>
                          </a:rPr>
                          <m:t>ℎ</m:t>
                        </m:r>
                        <m:sSub>
                          <m:sSubPr>
                            <m:ctrlPr>
                              <a:rPr lang="ar-AE" sz="1000" b="0" i="1" dirty="0" smtClean="0">
                                <a:solidFill>
                                  <a:schemeClr val="tx1"/>
                                </a:solidFill>
                                <a:latin typeface="Cambria Math" panose="02040503050406030204" pitchFamily="18" charset="0"/>
                              </a:rPr>
                            </m:ctrlPr>
                          </m:sSubPr>
                          <m:e>
                            <m:r>
                              <a:rPr lang="ar-AE" sz="1000" b="0" i="1" dirty="0" smtClean="0">
                                <a:solidFill>
                                  <a:schemeClr val="tx1"/>
                                </a:solidFill>
                                <a:latin typeface="Cambria Math" panose="02040503050406030204" pitchFamily="18" charset="0"/>
                              </a:rPr>
                              <m:t>𝑜</m:t>
                            </m:r>
                          </m:e>
                          <m:sub>
                            <m:r>
                              <a:rPr lang="ar-AE" sz="1000" b="0" i="1" dirty="0" smtClean="0">
                                <a:solidFill>
                                  <a:schemeClr val="tx1"/>
                                </a:solidFill>
                                <a:latin typeface="Cambria Math" panose="02040503050406030204" pitchFamily="18" charset="0"/>
                              </a:rPr>
                              <m:t>𝑖</m:t>
                            </m:r>
                          </m:sub>
                        </m:sSub>
                      </m:oMath>
                    </m:oMathPara>
                  </a14:m>
                  <a:endParaRPr lang="ar-AE" sz="1000" dirty="0">
                    <a:solidFill>
                      <a:schemeClr val="tx1"/>
                    </a:solidFill>
                  </a:endParaRPr>
                </a:p>
              </p:txBody>
            </p:sp>
          </mc:Choice>
          <mc:Fallback xmlns="">
            <p:sp>
              <p:nvSpPr>
                <p:cNvPr id="65" name="TextBox 64">
                  <a:extLst>
                    <a:ext uri="{FF2B5EF4-FFF2-40B4-BE49-F238E27FC236}">
                      <a16:creationId xmlns:a16="http://schemas.microsoft.com/office/drawing/2014/main" id="{7892BB5C-BB1E-5DFF-01BE-5595307EE2E7}"/>
                    </a:ext>
                  </a:extLst>
                </p:cNvPr>
                <p:cNvSpPr txBox="1">
                  <a:spLocks noRot="1" noChangeAspect="1" noMove="1" noResize="1" noEditPoints="1" noAdjustHandles="1" noChangeArrowheads="1" noChangeShapeType="1" noTextEdit="1"/>
                </p:cNvSpPr>
                <p:nvPr/>
              </p:nvSpPr>
              <p:spPr>
                <a:xfrm>
                  <a:off x="10114780" y="4574133"/>
                  <a:ext cx="381293" cy="246221"/>
                </a:xfrm>
                <a:prstGeom prst="rect">
                  <a:avLst/>
                </a:prstGeom>
                <a:blipFill>
                  <a:blip r:embed="rId7"/>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76EFA2C7-5AC9-1132-F70D-330F084F6151}"/>
                    </a:ext>
                  </a:extLst>
                </p:cNvPr>
                <p:cNvSpPr txBox="1"/>
                <p:nvPr/>
              </p:nvSpPr>
              <p:spPr>
                <a:xfrm>
                  <a:off x="10169694" y="5659553"/>
                  <a:ext cx="269749"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𝑡</m:t>
                            </m:r>
                          </m:e>
                          <m:sub>
                            <m:r>
                              <a:rPr lang="en-US" sz="1000" b="0" i="1" smtClean="0">
                                <a:latin typeface="Cambria Math" panose="02040503050406030204" pitchFamily="18" charset="0"/>
                              </a:rPr>
                              <m:t>𝑖</m:t>
                            </m:r>
                          </m:sub>
                        </m:sSub>
                      </m:oMath>
                    </m:oMathPara>
                  </a14:m>
                  <a:endParaRPr sz="1000" dirty="0"/>
                </a:p>
              </p:txBody>
            </p:sp>
          </mc:Choice>
          <mc:Fallback xmlns="">
            <p:sp>
              <p:nvSpPr>
                <p:cNvPr id="69" name="TextBox 68">
                  <a:extLst>
                    <a:ext uri="{FF2B5EF4-FFF2-40B4-BE49-F238E27FC236}">
                      <a16:creationId xmlns:a16="http://schemas.microsoft.com/office/drawing/2014/main" id="{76EFA2C7-5AC9-1132-F70D-330F084F6151}"/>
                    </a:ext>
                  </a:extLst>
                </p:cNvPr>
                <p:cNvSpPr txBox="1">
                  <a:spLocks noRot="1" noChangeAspect="1" noMove="1" noResize="1" noEditPoints="1" noAdjustHandles="1" noChangeArrowheads="1" noChangeShapeType="1" noTextEdit="1"/>
                </p:cNvSpPr>
                <p:nvPr/>
              </p:nvSpPr>
              <p:spPr>
                <a:xfrm>
                  <a:off x="10169694" y="5659553"/>
                  <a:ext cx="269749" cy="246221"/>
                </a:xfrm>
                <a:prstGeom prst="rect">
                  <a:avLst/>
                </a:prstGeom>
                <a:blipFill>
                  <a:blip r:embed="rId8"/>
                  <a:stretch>
                    <a:fillRect/>
                  </a:stretch>
                </a:blipFill>
                <a:ln>
                  <a:solidFill>
                    <a:schemeClr val="tx1"/>
                  </a:solidFill>
                </a:ln>
              </p:spPr>
              <p:txBody>
                <a:bodyPr/>
                <a:lstStyle/>
                <a:p>
                  <a:r>
                    <a:rPr lang="en-IN">
                      <a:noFill/>
                    </a:rPr>
                    <a:t> </a:t>
                  </a:r>
                </a:p>
              </p:txBody>
            </p:sp>
          </mc:Fallback>
        </mc:AlternateContent>
      </p:grpSp>
      <p:pic>
        <p:nvPicPr>
          <p:cNvPr id="4" name="Picture 3"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7902103F-7861-5098-7804-DB254BAF1F82}"/>
              </a:ext>
            </a:extLst>
          </p:cNvPr>
          <p:cNvPicPr>
            <a:picLocks noChangeAspect="1"/>
          </p:cNvPicPr>
          <p:nvPr/>
        </p:nvPicPr>
        <p:blipFill>
          <a:blip r:embed="rId9"/>
          <a:srcRect r="45991"/>
          <a:stretch>
            <a:fillRect/>
          </a:stretch>
        </p:blipFill>
        <p:spPr>
          <a:xfrm>
            <a:off x="8858423" y="353501"/>
            <a:ext cx="2698758" cy="1983299"/>
          </a:xfrm>
          <a:prstGeom prst="rect">
            <a:avLst/>
          </a:prstGeom>
          <a:ln>
            <a:solidFill>
              <a:schemeClr val="tx1"/>
            </a:solid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2DEA8C-FC57-3F03-4A4C-CA5255CFD212}"/>
                  </a:ext>
                </a:extLst>
              </p:cNvPr>
              <p:cNvSpPr txBox="1"/>
              <p:nvPr/>
            </p:nvSpPr>
            <p:spPr>
              <a:xfrm>
                <a:off x="124995" y="2792519"/>
                <a:ext cx="1649490" cy="1043491"/>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𝑛</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r>
                        <a:rPr lang="en-US" sz="1400" b="0" i="1" smtClean="0">
                          <a:latin typeface="Cambria Math" panose="02040503050406030204" pitchFamily="18" charset="0"/>
                        </a:rPr>
                        <m:t>=</m:t>
                      </m:r>
                      <m:nary>
                        <m:naryPr>
                          <m:chr m:val="∑"/>
                          <m:subHide m:val="on"/>
                          <m:supHide m:val="on"/>
                          <m:ctrlPr>
                            <a:rPr lang="en-IN" sz="1400" i="1" dirty="0">
                              <a:latin typeface="Cambria Math" panose="02040503050406030204" pitchFamily="18" charset="0"/>
                            </a:rPr>
                          </m:ctrlPr>
                        </m:naryPr>
                        <m:sub/>
                        <m:sup/>
                        <m:e>
                          <m:sSub>
                            <m:sSubPr>
                              <m:ctrlPr>
                                <a:rPr lang="en-US" sz="1400" i="1" dirty="0">
                                  <a:latin typeface="Cambria Math" panose="02040503050406030204" pitchFamily="18" charset="0"/>
                                </a:rPr>
                              </m:ctrlPr>
                            </m:sSubPr>
                            <m:e>
                              <m:r>
                                <a:rPr lang="en-US" sz="1400" i="1" dirty="0">
                                  <a:latin typeface="Cambria Math" panose="02040503050406030204" pitchFamily="18" charset="0"/>
                                </a:rPr>
                                <m:t>𝐹</m:t>
                              </m:r>
                            </m:e>
                            <m:sub>
                              <m:r>
                                <a:rPr lang="en-US" sz="1400" i="1" dirty="0">
                                  <a:latin typeface="Cambria Math" panose="02040503050406030204" pitchFamily="18" charset="0"/>
                                </a:rPr>
                                <m:t>𝑖</m:t>
                              </m:r>
                            </m:sub>
                          </m:sSub>
                        </m:e>
                      </m:nary>
                    </m:oMath>
                  </m:oMathPara>
                </a14:m>
                <a:endParaRPr lang="en-US" sz="1400" b="0" dirty="0"/>
              </a:p>
              <a:p>
                <a:pPr/>
                <a14:m>
                  <m:oMathPara xmlns:m="http://schemas.openxmlformats.org/officeDocument/2006/math">
                    <m:oMath>
                      <m:r>
                        <a:rPr lang="en-IN" sz="1400" i="1" dirty="0" smtClean="0">
                          <a:latin typeface="Cambria Math" panose="02040503050406030204" pitchFamily="18" charset="0"/>
                        </a:rPr>
                        <m:t>𝑚</m:t>
                      </m:r>
                      <m:r>
                        <a:rPr lang="en-IN" sz="1400" i="1" dirty="0" smtClean="0">
                          <a:latin typeface="Cambria Math" panose="02040503050406030204" pitchFamily="18" charset="0"/>
                        </a:rPr>
                        <m:t>(</m:t>
                      </m:r>
                      <m:r>
                        <a:rPr lang="en-IN" sz="1400" i="1" dirty="0" smtClean="0">
                          <a:latin typeface="Cambria Math" panose="02040503050406030204" pitchFamily="18" charset="0"/>
                        </a:rPr>
                        <m:t>𝐿</m:t>
                      </m:r>
                      <m:r>
                        <a:rPr lang="en-IN" sz="1400" i="1" dirty="0" smtClean="0">
                          <a:latin typeface="Cambria Math" panose="02040503050406030204" pitchFamily="18" charset="0"/>
                        </a:rPr>
                        <m:t>) =</m:t>
                      </m:r>
                      <m:nary>
                        <m:naryPr>
                          <m:chr m:val="∑"/>
                          <m:subHide m:val="on"/>
                          <m:supHide m:val="on"/>
                          <m:ctrlPr>
                            <a:rPr lang="en-IN" sz="1400" i="1" dirty="0" smtClean="0">
                              <a:latin typeface="Cambria Math" panose="02040503050406030204" pitchFamily="18" charset="0"/>
                            </a:rPr>
                          </m:ctrlPr>
                        </m:naryPr>
                        <m:sub/>
                        <m:sup/>
                        <m:e>
                          <m:r>
                            <a:rPr lang="en-US" sz="1400" b="0" i="1" dirty="0" smtClean="0">
                              <a:latin typeface="Cambria Math" panose="02040503050406030204" pitchFamily="18" charset="0"/>
                            </a:rPr>
                            <m:t>𝑟ℎ</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𝑜</m:t>
                              </m:r>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rPr>
                            <m:t>𝑥</m:t>
                          </m:r>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𝑖</m:t>
                              </m:r>
                            </m:sub>
                          </m:sSub>
                        </m:e>
                      </m:nary>
                    </m:oMath>
                  </m:oMathPara>
                </a14:m>
                <a:endParaRPr lang="en-IN" sz="1400" dirty="0"/>
              </a:p>
            </p:txBody>
          </p:sp>
        </mc:Choice>
        <mc:Fallback xmlns="">
          <p:sp>
            <p:nvSpPr>
              <p:cNvPr id="9" name="TextBox 8">
                <a:extLst>
                  <a:ext uri="{FF2B5EF4-FFF2-40B4-BE49-F238E27FC236}">
                    <a16:creationId xmlns:a16="http://schemas.microsoft.com/office/drawing/2014/main" id="{A42DEA8C-FC57-3F03-4A4C-CA5255CFD212}"/>
                  </a:ext>
                </a:extLst>
              </p:cNvPr>
              <p:cNvSpPr txBox="1">
                <a:spLocks noRot="1" noChangeAspect="1" noMove="1" noResize="1" noEditPoints="1" noAdjustHandles="1" noChangeArrowheads="1" noChangeShapeType="1" noTextEdit="1"/>
              </p:cNvSpPr>
              <p:nvPr/>
            </p:nvSpPr>
            <p:spPr>
              <a:xfrm>
                <a:off x="124995" y="2792519"/>
                <a:ext cx="1649490" cy="1043491"/>
              </a:xfrm>
              <a:prstGeom prst="rect">
                <a:avLst/>
              </a:prstGeom>
              <a:blipFill>
                <a:blip r:embed="rId10"/>
                <a:stretch>
                  <a:fillRect l="-1111" t="-72515" r="-49259" b="-102339"/>
                </a:stretch>
              </a:blipFill>
            </p:spPr>
            <p:txBody>
              <a:bodyPr/>
              <a:lstStyle/>
              <a:p>
                <a:r>
                  <a:rPr lang="en-IN">
                    <a:noFill/>
                  </a:rPr>
                  <a:t> </a:t>
                </a:r>
              </a:p>
            </p:txBody>
          </p:sp>
        </mc:Fallback>
      </mc:AlternateContent>
    </p:spTree>
    <p:extLst>
      <p:ext uri="{BB962C8B-B14F-4D97-AF65-F5344CB8AC3E}">
        <p14:creationId xmlns:p14="http://schemas.microsoft.com/office/powerpoint/2010/main" val="306285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BC037-14D1-0CBB-943C-275DC8B776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3EE3EB-2819-805A-CF8A-EEF00E39D992}"/>
              </a:ext>
            </a:extLst>
          </p:cNvPr>
          <p:cNvSpPr txBox="1"/>
          <p:nvPr/>
        </p:nvSpPr>
        <p:spPr>
          <a:xfrm>
            <a:off x="833120" y="370435"/>
            <a:ext cx="5564152"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coupled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9AB81569-B839-3B98-5634-99B5C597A8F7}"/>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i="1">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500B6A-C0AF-EA9B-545E-D7E5BA062712}"/>
                  </a:ext>
                </a:extLst>
              </p:cNvPr>
              <p:cNvSpPr txBox="1"/>
              <p:nvPr/>
            </p:nvSpPr>
            <p:spPr>
              <a:xfrm>
                <a:off x="5650150" y="1123786"/>
                <a:ext cx="3649461" cy="4353115"/>
              </a:xfrm>
              <a:prstGeom prst="rect">
                <a:avLst/>
              </a:prstGeom>
              <a:noFill/>
            </p:spPr>
            <p:txBody>
              <a:bodyPr wrap="none">
                <a:spAutoFit/>
              </a:bodyPr>
              <a:lstStyle/>
              <a:p>
                <a:pPr>
                  <a:defRPr sz="2000">
                    <a:solidFill>
                      <a:srgbClr val="142237"/>
                    </a:solidFill>
                  </a:defRPr>
                </a:pPr>
                <a:r>
                  <a:rPr lang="en-US" sz="16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60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𝑣</m:t>
                      </m:r>
                      <m:r>
                        <a:rPr lang="en-US" sz="1600" i="1" dirty="0" smtClean="0">
                          <a:latin typeface="Cambria Math" panose="02040503050406030204" pitchFamily="18" charset="0"/>
                          <a:ea typeface="Cambria Math" panose="02040503050406030204" pitchFamily="18" charset="0"/>
                        </a:rPr>
                        <m:t> =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en-US" sz="1600" b="0" i="1" dirty="0" smtClean="0">
                                  <a:latin typeface="Cambria Math" panose="02040503050406030204" pitchFamily="18" charset="0"/>
                                  <a:ea typeface="Cambria Math" panose="02040503050406030204" pitchFamily="18" charset="0"/>
                                </a:rPr>
                                <m:t>𝑠𝑒</m:t>
                              </m:r>
                            </m:sub>
                            <m:sup>
                              <m:r>
                                <a:rPr lang="en-US" sz="1600" b="0" i="1" dirty="0" smtClean="0">
                                  <a:latin typeface="Cambria Math" panose="02040503050406030204" pitchFamily="18" charset="0"/>
                                  <a:ea typeface="Cambria Math" panose="02040503050406030204" pitchFamily="18" charset="0"/>
                                </a:rPr>
                                <m:t>−1</m:t>
                              </m:r>
                            </m:sup>
                          </m:sSubSup>
                          <m:r>
                            <a:rPr lang="en-US" sz="1600" b="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b="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𝑛</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𝑣</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600" b="0" i="1" dirty="0" smtClean="0">
                          <a:latin typeface="Cambria Math" panose="02040503050406030204" pitchFamily="18" charset="0"/>
                          <a:ea typeface="Cambria Math" panose="02040503050406030204" pitchFamily="18" charset="0"/>
                        </a:rPr>
                        <m:t>𝑢</m:t>
                      </m:r>
                      <m:r>
                        <a:rPr lang="pt-BR" sz="1600" i="1" dirty="0" smtClean="0">
                          <a:latin typeface="Cambria Math" panose="02040503050406030204" pitchFamily="18" charset="0"/>
                          <a:ea typeface="Cambria Math" panose="02040503050406030204" pitchFamily="18" charset="0"/>
                        </a:rPr>
                        <m:t>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pt-BR" sz="1600" i="1" dirty="0" smtClean="0">
                                  <a:latin typeface="Cambria Math" panose="02040503050406030204" pitchFamily="18" charset="0"/>
                                  <a:ea typeface="Cambria Math" panose="02040503050406030204" pitchFamily="18" charset="0"/>
                                </a:rPr>
                                <m:t>𝑏</m:t>
                              </m:r>
                              <m:r>
                                <a:rPr lang="en-US" sz="1600" b="0" i="1" dirty="0" smtClean="0">
                                  <a:latin typeface="Cambria Math" panose="02040503050406030204" pitchFamily="18" charset="0"/>
                                  <a:ea typeface="Cambria Math" panose="02040503050406030204" pitchFamily="18" charset="0"/>
                                </a:rPr>
                                <m:t>𝑡</m:t>
                              </m:r>
                            </m:sub>
                            <m:sup>
                              <m:r>
                                <a:rPr lang="en-US" sz="1600" i="1" dirty="0" smtClean="0">
                                  <a:latin typeface="Cambria Math" panose="02040503050406030204" pitchFamily="18" charset="0"/>
                                  <a:ea typeface="Cambria Math" panose="02040503050406030204" pitchFamily="18" charset="0"/>
                                </a:rPr>
                                <m:t>−1</m:t>
                              </m:r>
                            </m:sup>
                          </m:sSubSup>
                          <m:r>
                            <a:rPr lang="en-US" sz="160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𝑚</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𝑠𝑒</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d>
                        <m:dPr>
                          <m:ctrlPr>
                            <a:rPr lang="en-IN" sz="1600" i="1" dirty="0" smtClean="0">
                              <a:latin typeface="Cambria Math" panose="02040503050406030204" pitchFamily="18" charset="0"/>
                              <a:ea typeface="Cambria Math" panose="02040503050406030204" pitchFamily="18" charset="0"/>
                            </a:rPr>
                          </m:ctrlPr>
                        </m:dPr>
                        <m:e>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𝑏𝑡</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r>
                        <a:rPr lang="en-IN" sz="160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𝐸𝐼</m:t>
                      </m:r>
                      <m:r>
                        <a:rPr lang="en-IN" sz="1600" i="1" dirty="0" smtClean="0">
                          <a:latin typeface="Cambria Math" panose="02040503050406030204" pitchFamily="18" charset="0"/>
                          <a:ea typeface="Cambria Math" panose="02040503050406030204" pitchFamily="18" charset="0"/>
                        </a:rPr>
                        <m:t>ₓₓ, </m:t>
                      </m:r>
                      <m:r>
                        <a:rPr lang="en-IN" sz="1600" i="1" dirty="0" smtClean="0">
                          <a:latin typeface="Cambria Math" panose="02040503050406030204" pitchFamily="18" charset="0"/>
                          <a:ea typeface="Cambria Math" panose="02040503050406030204" pitchFamily="18" charset="0"/>
                        </a:rPr>
                        <m:t>𝐸𝐼</m:t>
                      </m:r>
                      <m:r>
                        <a:rPr lang="el-GR" sz="1600" i="1" dirty="0" smtClean="0">
                          <a:latin typeface="Cambria Math" panose="02040503050406030204" pitchFamily="18" charset="0"/>
                          <a:ea typeface="Cambria Math" panose="02040503050406030204" pitchFamily="18" charset="0"/>
                        </a:rPr>
                        <m:t>ᵧᵧ, </m:t>
                      </m:r>
                      <m:r>
                        <a:rPr lang="el-GR" sz="1600" i="1" dirty="0" smtClean="0">
                          <a:latin typeface="Cambria Math" panose="02040503050406030204" pitchFamily="18" charset="0"/>
                          <a:ea typeface="Cambria Math" panose="02040503050406030204" pitchFamily="18" charset="0"/>
                        </a:rPr>
                        <m:t>𝐸</m:t>
                      </m:r>
                      <m:sSub>
                        <m:sSubPr>
                          <m:ctrlPr>
                            <a:rPr lang="el-GR" sz="1600" i="1" dirty="0" smtClean="0">
                              <a:latin typeface="Cambria Math" panose="02040503050406030204" pitchFamily="18" charset="0"/>
                              <a:ea typeface="Cambria Math" panose="02040503050406030204" pitchFamily="18" charset="0"/>
                            </a:rPr>
                          </m:ctrlPr>
                        </m:sSubPr>
                        <m:e>
                          <m:r>
                            <a:rPr lang="el-GR" sz="1600" i="1" dirty="0" smtClean="0">
                              <a:latin typeface="Cambria Math" panose="02040503050406030204" pitchFamily="18" charset="0"/>
                              <a:ea typeface="Cambria Math" panose="02040503050406030204" pitchFamily="18" charset="0"/>
                            </a:rPr>
                            <m:t>𝐼</m:t>
                          </m:r>
                        </m:e>
                        <m:sub>
                          <m:r>
                            <a:rPr lang="el-GR" sz="1600" i="1" dirty="0" smtClean="0">
                              <a:latin typeface="Cambria Math" panose="02040503050406030204" pitchFamily="18" charset="0"/>
                              <a:ea typeface="Cambria Math" panose="02040503050406030204" pitchFamily="18" charset="0"/>
                            </a:rPr>
                            <m:t>𝑧𝑧</m:t>
                          </m:r>
                        </m:sub>
                      </m:sSub>
                      <m:r>
                        <a:rPr lang="el-GR"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i="1" dirty="0">
                    <a:latin typeface="Cambria Math" panose="02040503050406030204" pitchFamily="18" charset="0"/>
                    <a:ea typeface="Cambria Math" panose="02040503050406030204" pitchFamily="18" charset="0"/>
                  </a:rPr>
                  <a:t>3) Governing equations</a:t>
                </a: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IN" sz="1600" i="1" dirty="0" smtClean="0">
                            <a:latin typeface="Cambria Math" panose="02040503050406030204" pitchFamily="18" charset="0"/>
                            <a:ea typeface="Cambria Math" panose="02040503050406030204" pitchFamily="18" charset="0"/>
                          </a:rPr>
                          <m:t>𝑡</m:t>
                        </m:r>
                      </m:sub>
                    </m:sSub>
                    <m:r>
                      <a:rPr lang="en-IN"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𝑅𝑞</m:t>
                    </m:r>
                  </m:oMath>
                </a14:m>
                <a:r>
                  <a:rPr lang="en-US" sz="1600"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𝑅</m:t>
                        </m:r>
                      </m:e>
                      <m:sub>
                        <m:r>
                          <a:rPr lang="en-IN"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𝑅</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𝑊𝑥</m:t>
                        </m:r>
                      </m:e>
                    </m:d>
                  </m:oMath>
                </a14:m>
                <a:r>
                  <a:rPr lang="en-US" sz="1600" i="1" dirty="0">
                    <a:latin typeface="Cambria Math" panose="02040503050406030204" pitchFamily="18" charset="0"/>
                    <a:ea typeface="Cambria Math" panose="02040503050406030204" pitchFamily="18" charset="0"/>
                  </a:rPr>
                  <a:t>,</a:t>
                </a:r>
              </a:p>
              <a:p>
                <a:pPr algn="ctr">
                  <a:defRPr sz="2000">
                    <a:solidFill>
                      <a:srgbClr val="142237"/>
                    </a:solidFill>
                  </a:defRPr>
                </a:pPr>
                <a14:m>
                  <m:oMathPara xmlns:m="http://schemas.openxmlformats.org/officeDocument/2006/math">
                    <m:oMath>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𝑟</m:t>
                          </m:r>
                        </m:e>
                        <m:sub>
                          <m:r>
                            <a:rPr lang="en-US" sz="1600" i="1" dirty="0" smtClean="0">
                              <a:solidFill>
                                <a:schemeClr val="tx1"/>
                              </a:solidFill>
                              <a:latin typeface="Cambria Math" panose="02040503050406030204" pitchFamily="18" charset="0"/>
                              <a:ea typeface="Cambria Math" panose="02040503050406030204" pitchFamily="18" charset="0"/>
                            </a:rPr>
                            <m:t>𝑡𝑡</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m:t>
                      </m:r>
                      <m:d>
                        <m:dPr>
                          <m:ctrlPr>
                            <a:rPr lang="en-US" sz="1600" i="1" dirty="0" smtClean="0">
                              <a:latin typeface="Cambria Math" panose="02040503050406030204" pitchFamily="18" charset="0"/>
                              <a:ea typeface="Cambria Math" panose="02040503050406030204" pitchFamily="18" charset="0"/>
                            </a:rPr>
                          </m:ctrlPr>
                        </m:dPr>
                        <m:e>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𝑞</m:t>
                              </m:r>
                            </m:e>
                            <m:sub>
                              <m:r>
                                <a:rPr lang="en-US" sz="1600" i="1" dirty="0" smtClean="0">
                                  <a:latin typeface="Cambria Math" panose="02040503050406030204" pitchFamily="18" charset="0"/>
                                  <a:ea typeface="Cambria Math" panose="02040503050406030204" pitchFamily="18" charset="0"/>
                                </a:rPr>
                                <m:t>𝑡</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𝑤</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𝑞</m:t>
                          </m:r>
                        </m:e>
                      </m:d>
                      <m:r>
                        <a:rPr lang="en-US" sz="1600" b="0" i="1" dirty="0" smtClean="0">
                          <a:latin typeface="Cambria Math" panose="02040503050406030204" pitchFamily="18" charset="0"/>
                          <a:ea typeface="Cambria Math" panose="02040503050406030204" pitchFamily="18" charset="0"/>
                        </a:rPr>
                        <m:t>,</m:t>
                      </m:r>
                    </m:oMath>
                  </m:oMathPara>
                </a14:m>
                <a:endParaRPr lang="en-US" sz="1600" b="0" i="1" dirty="0">
                  <a:latin typeface="Cambria Math" panose="02040503050406030204" pitchFamily="18" charset="0"/>
                  <a:ea typeface="Cambria Math" panose="02040503050406030204" pitchFamily="18" charset="0"/>
                </a:endParaRPr>
              </a:p>
              <a:p>
                <a:pPr algn="ctr">
                  <a:defRPr sz="2000">
                    <a:solidFill>
                      <a:srgbClr val="142237"/>
                    </a:solidFill>
                  </a:defRPr>
                </a:pPr>
                <a:endParaRPr lang="en-IN"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𝑅𝑣</m:t>
                      </m:r>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𝑅</m:t>
                          </m:r>
                        </m:e>
                        <m:sub>
                          <m:r>
                            <a:rPr lang="en-US" sz="1600" i="1" dirty="0" smtClean="0">
                              <a:latin typeface="Cambria Math" panose="02040503050406030204" pitchFamily="18" charset="0"/>
                              <a:ea typeface="Cambria Math" panose="02040503050406030204" pitchFamily="18" charset="0"/>
                            </a:rPr>
                            <m:t>𝑠</m:t>
                          </m:r>
                        </m:sub>
                      </m:sSub>
                      <m:r>
                        <a:rPr lang="en-IN" sz="160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𝑅</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b="0" i="1" dirty="0" smtClean="0">
                          <a:latin typeface="Cambria Math" panose="02040503050406030204" pitchFamily="18" charset="0"/>
                          <a:ea typeface="Cambria Math" panose="02040503050406030204" pitchFamily="18" charset="0"/>
                        </a:rPr>
                        <m:t>,</m:t>
                      </m:r>
                    </m:oMath>
                  </m:oMathPara>
                </a14:m>
                <a:endParaRPr lang="en-US" sz="1600" b="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smtClean="0">
                            <a:latin typeface="Cambria Math" panose="02040503050406030204" pitchFamily="18" charset="0"/>
                            <a:ea typeface="Cambria Math" panose="02040503050406030204" pitchFamily="18" charset="0"/>
                          </a:rPr>
                          <m:t>𝑠</m:t>
                        </m:r>
                      </m:sub>
                    </m:sSub>
                    <m:r>
                      <a:rPr lang="en-US" sz="1600" i="1" dirty="0">
                        <a:solidFill>
                          <a:schemeClr val="accent6">
                            <a:lumMod val="75000"/>
                          </a:schemeClr>
                        </a:solidFill>
                        <a:latin typeface="Cambria Math" panose="02040503050406030204" pitchFamily="18" charset="0"/>
                        <a:ea typeface="Cambria Math" panose="02040503050406030204" pitchFamily="18" charset="0"/>
                      </a:rPr>
                      <m:t>+ </m:t>
                    </m:r>
                    <m:r>
                      <a:rPr lang="en-US" sz="1600" i="1" dirty="0">
                        <a:solidFill>
                          <a:schemeClr val="accent6">
                            <a:lumMod val="75000"/>
                          </a:schemeClr>
                        </a:solidFill>
                        <a:latin typeface="Cambria Math" panose="02040503050406030204" pitchFamily="18" charset="0"/>
                        <a:ea typeface="Cambria Math" panose="02040503050406030204" pitchFamily="18" charset="0"/>
                      </a:rPr>
                      <m:t>𝑓</m:t>
                    </m:r>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𝑟</m:t>
                        </m:r>
                      </m:e>
                      <m: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𝑡𝑡</m:t>
                        </m:r>
                      </m:sub>
                    </m:sSub>
                  </m:oMath>
                </a14:m>
                <a:r>
                  <a:rPr lang="en-IN" sz="1600" i="1" dirty="0">
                    <a:latin typeface="Cambria Math" panose="02040503050406030204" pitchFamily="18" charset="0"/>
                    <a:ea typeface="Cambria Math" panose="02040503050406030204" pitchFamily="18" charset="0"/>
                  </a:rPr>
                  <a:t>,</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a:solidFill>
                            <a:schemeClr val="accent6">
                              <a:lumMod val="75000"/>
                            </a:schemeClr>
                          </a:solidFill>
                          <a:latin typeface="Cambria Math" panose="02040503050406030204" pitchFamily="18" charset="0"/>
                          <a:ea typeface="Cambria Math" panose="02040503050406030204" pitchFamily="18" charset="0"/>
                        </a:rPr>
                        <m:t>+</m:t>
                      </m:r>
                      <m:r>
                        <a:rPr lang="en-US" sz="1600" b="0" i="1" dirty="0" smtClean="0">
                          <a:solidFill>
                            <a:schemeClr val="accent6">
                              <a:lumMod val="75000"/>
                            </a:schemeClr>
                          </a:solidFill>
                          <a:latin typeface="Cambria Math" panose="02040503050406030204" pitchFamily="18" charset="0"/>
                          <a:ea typeface="Cambria Math" panose="02040503050406030204" pitchFamily="18" charset="0"/>
                        </a:rPr>
                        <m:t>𝑙</m:t>
                      </m:r>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𝑇</m:t>
                      </m:r>
                      <m:sSub>
                        <m:sSub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𝑤</m:t>
                          </m:r>
                        </m:e>
                        <m: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𝑡</m:t>
                          </m:r>
                        </m:sub>
                      </m:s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𝑤</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𝑥</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 </m:t>
                      </m:r>
                      <m:d>
                        <m:d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d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𝐽𝑤</m:t>
                          </m:r>
                        </m:e>
                      </m:d>
                    </m:oMath>
                  </m:oMathPara>
                </a14:m>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𝑤</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𝑢</m:t>
                          </m:r>
                        </m:e>
                        <m:sub>
                          <m:r>
                            <a:rPr lang="en-US"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 –</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𝑤</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𝑞</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𝑣</m:t>
                          </m:r>
                        </m:e>
                        <m:sub>
                          <m:r>
                            <a:rPr lang="en-US"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𝑞</m:t>
                      </m:r>
                      <m:r>
                        <a:rPr lang="en-US" sz="1600" i="1" dirty="0" smtClean="0">
                          <a:latin typeface="Cambria Math" panose="02040503050406030204" pitchFamily="18" charset="0"/>
                          <a:ea typeface="Cambria Math" panose="02040503050406030204" pitchFamily="18" charset="0"/>
                        </a:rPr>
                        <m:t>+</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𝑊𝑥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𝑣</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B7500B6A-C0AF-EA9B-545E-D7E5BA062712}"/>
                  </a:ext>
                </a:extLst>
              </p:cNvPr>
              <p:cNvSpPr txBox="1">
                <a:spLocks noRot="1" noChangeAspect="1" noMove="1" noResize="1" noEditPoints="1" noAdjustHandles="1" noChangeArrowheads="1" noChangeShapeType="1" noTextEdit="1"/>
              </p:cNvSpPr>
              <p:nvPr/>
            </p:nvSpPr>
            <p:spPr>
              <a:xfrm>
                <a:off x="5650150" y="1123786"/>
                <a:ext cx="3649461" cy="4353115"/>
              </a:xfrm>
              <a:prstGeom prst="rect">
                <a:avLst/>
              </a:prstGeom>
              <a:blipFill>
                <a:blip r:embed="rId2"/>
                <a:stretch>
                  <a:fillRect l="-1002" t="-56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74C8DC-9E70-EBF8-C116-2D8F2C398F1F}"/>
                  </a:ext>
                </a:extLst>
              </p:cNvPr>
              <p:cNvSpPr txBox="1"/>
              <p:nvPr/>
            </p:nvSpPr>
            <p:spPr>
              <a:xfrm>
                <a:off x="5263979" y="6240829"/>
                <a:ext cx="6096000" cy="280590"/>
              </a:xfrm>
              <a:prstGeom prst="rect">
                <a:avLst/>
              </a:prstGeom>
              <a:noFill/>
            </p:spPr>
            <p:txBody>
              <a:bodyPr wrap="square">
                <a:spAutoFit/>
              </a:bodyPr>
              <a:lstStyle/>
              <a:p>
                <a:r>
                  <a:rPr lang="en-IN" sz="1200" i="1" dirty="0">
                    <a:latin typeface="Cambria Math" panose="02040503050406030204" pitchFamily="18" charset="0"/>
                    <a:ea typeface="Cambria Math" panose="02040503050406030204" pitchFamily="18" charset="0"/>
                  </a:rPr>
                  <a:t>For a straight undeformed rod: </a:t>
                </a:r>
                <a14:m>
                  <m:oMath xmlns:m="http://schemas.openxmlformats.org/officeDocument/2006/math">
                    <m:sSup>
                      <m:sSupPr>
                        <m:ctrlPr>
                          <a:rPr lang="en-US" sz="1200" b="0" i="1" dirty="0" smtClean="0">
                            <a:latin typeface="Cambria Math" panose="02040503050406030204" pitchFamily="18" charset="0"/>
                            <a:ea typeface="Cambria Math" panose="02040503050406030204" pitchFamily="18" charset="0"/>
                          </a:rPr>
                        </m:ctrlPr>
                      </m:sSupPr>
                      <m:e>
                        <m:r>
                          <a:rPr lang="en-US" sz="1200" b="0" i="1" dirty="0" smtClean="0">
                            <a:latin typeface="Cambria Math" panose="02040503050406030204" pitchFamily="18" charset="0"/>
                            <a:ea typeface="Cambria Math" panose="02040503050406030204" pitchFamily="18" charset="0"/>
                          </a:rPr>
                          <m:t>𝑢</m:t>
                        </m:r>
                      </m:e>
                      <m:sup>
                        <m:r>
                          <a:rPr lang="en-US" sz="1200" b="0" i="1" dirty="0" smtClean="0">
                            <a:latin typeface="Cambria Math" panose="02040503050406030204" pitchFamily="18" charset="0"/>
                            <a:ea typeface="Cambria Math" panose="02040503050406030204" pitchFamily="18" charset="0"/>
                          </a:rPr>
                          <m:t>∗</m:t>
                        </m:r>
                      </m:sup>
                    </m:sSup>
                    <m:r>
                      <a:rPr lang="el-GR" sz="1200" i="1" dirty="0" smtClean="0">
                        <a:latin typeface="Cambria Math" panose="02040503050406030204" pitchFamily="18" charset="0"/>
                        <a:ea typeface="Cambria Math" panose="02040503050406030204" pitchFamily="18" charset="0"/>
                      </a:rPr>
                      <m:t> </m:t>
                    </m:r>
                    <m:r>
                      <a:rPr lang="el-GR" sz="1200" i="1" dirty="0">
                        <a:latin typeface="Cambria Math" panose="02040503050406030204" pitchFamily="18" charset="0"/>
                        <a:ea typeface="Cambria Math" panose="02040503050406030204" pitchFamily="18" charset="0"/>
                      </a:rPr>
                      <m:t>= </m:t>
                    </m:r>
                    <m:sSup>
                      <m:sSupPr>
                        <m:ctrlPr>
                          <a:rPr lang="el-GR" sz="1200" i="1" dirty="0" smtClean="0">
                            <a:latin typeface="Cambria Math" panose="02040503050406030204" pitchFamily="18" charset="0"/>
                            <a:ea typeface="Cambria Math" panose="02040503050406030204" pitchFamily="18" charset="0"/>
                          </a:rPr>
                        </m:ctrlPr>
                      </m:sSupPr>
                      <m:e>
                        <m:d>
                          <m:dPr>
                            <m:begChr m:val="["/>
                            <m:endChr m:val="]"/>
                            <m:ctrlPr>
                              <a:rPr lang="el-GR" sz="1200" i="1" dirty="0" smtClean="0">
                                <a:latin typeface="Cambria Math" panose="02040503050406030204" pitchFamily="18" charset="0"/>
                                <a:ea typeface="Cambria Math" panose="02040503050406030204" pitchFamily="18" charset="0"/>
                              </a:rPr>
                            </m:ctrlPr>
                          </m:dPr>
                          <m:e>
                            <m:r>
                              <a:rPr lang="el-GR" sz="1200" i="1" dirty="0" smtClean="0">
                                <a:latin typeface="Cambria Math" panose="02040503050406030204" pitchFamily="18" charset="0"/>
                                <a:ea typeface="Cambria Math" panose="02040503050406030204" pitchFamily="18" charset="0"/>
                              </a:rPr>
                              <m:t>0,0,0</m:t>
                            </m:r>
                          </m:e>
                        </m:d>
                      </m:e>
                      <m:sup>
                        <m:r>
                          <a:rPr lang="en-US" sz="1200" i="1" dirty="0" smtClean="0">
                            <a:latin typeface="Cambria Math" panose="02040503050406030204" pitchFamily="18" charset="0"/>
                            <a:ea typeface="Cambria Math" panose="02040503050406030204" pitchFamily="18" charset="0"/>
                          </a:rPr>
                          <m:t>𝑇</m:t>
                        </m:r>
                      </m:sup>
                    </m:sSup>
                    <m:r>
                      <a:rPr lang="en-US" sz="1200" b="0" i="1" dirty="0" smtClean="0">
                        <a:latin typeface="Cambria Math" panose="02040503050406030204" pitchFamily="18" charset="0"/>
                        <a:ea typeface="Cambria Math" panose="02040503050406030204" pitchFamily="18" charset="0"/>
                      </a:rPr>
                      <m:t>,</m:t>
                    </m:r>
                    <m:r>
                      <a:rPr lang="en-US" sz="1200" i="1" dirty="0" smtClean="0">
                        <a:latin typeface="Cambria Math" panose="02040503050406030204" pitchFamily="18" charset="0"/>
                        <a:ea typeface="Cambria Math" panose="02040503050406030204" pitchFamily="18" charset="0"/>
                      </a:rPr>
                      <m:t> </m:t>
                    </m:r>
                    <m:sSup>
                      <m:sSupPr>
                        <m:ctrlPr>
                          <a:rPr lang="en-US" sz="1200" i="1" dirty="0" smtClean="0">
                            <a:latin typeface="Cambria Math" panose="02040503050406030204" pitchFamily="18" charset="0"/>
                            <a:ea typeface="Cambria Math" panose="02040503050406030204" pitchFamily="18" charset="0"/>
                          </a:rPr>
                        </m:ctrlPr>
                      </m:sSupPr>
                      <m:e>
                        <m:r>
                          <a:rPr lang="en-US" sz="1200" i="1" dirty="0" smtClean="0">
                            <a:latin typeface="Cambria Math" panose="02040503050406030204" pitchFamily="18" charset="0"/>
                            <a:ea typeface="Cambria Math" panose="02040503050406030204" pitchFamily="18" charset="0"/>
                          </a:rPr>
                          <m:t>𝑣</m:t>
                        </m:r>
                      </m:e>
                      <m:sup>
                        <m:r>
                          <a:rPr lang="en-US" sz="1200" i="1" dirty="0" smtClean="0">
                            <a:latin typeface="Cambria Math" panose="02040503050406030204" pitchFamily="18" charset="0"/>
                            <a:ea typeface="Cambria Math" panose="02040503050406030204" pitchFamily="18" charset="0"/>
                          </a:rPr>
                          <m:t>∗</m:t>
                        </m:r>
                      </m:sup>
                    </m:sSup>
                    <m:r>
                      <a:rPr lang="en-US" sz="1200" i="1" dirty="0" smtClean="0">
                        <a:latin typeface="Cambria Math" panose="02040503050406030204" pitchFamily="18" charset="0"/>
                        <a:ea typeface="Cambria Math" panose="02040503050406030204" pitchFamily="18" charset="0"/>
                      </a:rPr>
                      <m:t>=[</m:t>
                    </m:r>
                    <m:r>
                      <a:rPr lang="el-GR" sz="1200" i="1" dirty="0" smtClean="0">
                        <a:latin typeface="Cambria Math" panose="02040503050406030204" pitchFamily="18" charset="0"/>
                        <a:ea typeface="Cambria Math" panose="02040503050406030204" pitchFamily="18" charset="0"/>
                      </a:rPr>
                      <m:t>0,0,1</m:t>
                    </m:r>
                    <m:r>
                      <a:rPr lang="el-GR" sz="1200" i="1" dirty="0">
                        <a:latin typeface="Cambria Math" panose="02040503050406030204" pitchFamily="18" charset="0"/>
                        <a:ea typeface="Cambria Math" panose="02040503050406030204" pitchFamily="18" charset="0"/>
                      </a:rPr>
                      <m:t>]</m:t>
                    </m:r>
                    <m:r>
                      <a:rPr lang="en-IN" sz="1200" i="1" dirty="0">
                        <a:latin typeface="Cambria Math" panose="02040503050406030204" pitchFamily="18" charset="0"/>
                        <a:ea typeface="Cambria Math" panose="02040503050406030204" pitchFamily="18" charset="0"/>
                      </a:rPr>
                      <m:t>ᵀ</m:t>
                    </m:r>
                  </m:oMath>
                </a14:m>
                <a:endParaRPr lang="en-IN" sz="1200" i="1"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7874C8DC-9E70-EBF8-C116-2D8F2C398F1F}"/>
                  </a:ext>
                </a:extLst>
              </p:cNvPr>
              <p:cNvSpPr txBox="1">
                <a:spLocks noRot="1" noChangeAspect="1" noMove="1" noResize="1" noEditPoints="1" noAdjustHandles="1" noChangeArrowheads="1" noChangeShapeType="1" noTextEdit="1"/>
              </p:cNvSpPr>
              <p:nvPr/>
            </p:nvSpPr>
            <p:spPr>
              <a:xfrm>
                <a:off x="5263979" y="6240829"/>
                <a:ext cx="6096000" cy="280590"/>
              </a:xfrm>
              <a:prstGeom prst="rect">
                <a:avLst/>
              </a:prstGeom>
              <a:blipFill>
                <a:blip r:embed="rId3"/>
                <a:stretch>
                  <a:fillRect l="-100" t="-2174" b="-15217"/>
                </a:stretch>
              </a:blipFill>
            </p:spPr>
            <p:txBody>
              <a:bodyPr/>
              <a:lstStyle/>
              <a:p>
                <a:r>
                  <a:rPr lang="en-IN">
                    <a:noFill/>
                  </a:rPr>
                  <a:t> </a:t>
                </a:r>
              </a:p>
            </p:txBody>
          </p:sp>
        </mc:Fallback>
      </mc:AlternateContent>
      <p:grpSp>
        <p:nvGrpSpPr>
          <p:cNvPr id="76" name="Group 75">
            <a:extLst>
              <a:ext uri="{FF2B5EF4-FFF2-40B4-BE49-F238E27FC236}">
                <a16:creationId xmlns:a16="http://schemas.microsoft.com/office/drawing/2014/main" id="{34656E5E-F3D4-B49A-1386-51FA8B0AFA29}"/>
              </a:ext>
            </a:extLst>
          </p:cNvPr>
          <p:cNvGrpSpPr/>
          <p:nvPr/>
        </p:nvGrpSpPr>
        <p:grpSpPr>
          <a:xfrm>
            <a:off x="611805" y="1189740"/>
            <a:ext cx="4714870" cy="5222190"/>
            <a:chOff x="4136574" y="958557"/>
            <a:chExt cx="4714870" cy="5222190"/>
          </a:xfrm>
        </p:grpSpPr>
        <p:sp>
          <p:nvSpPr>
            <p:cNvPr id="51" name="TextBox 50">
              <a:extLst>
                <a:ext uri="{FF2B5EF4-FFF2-40B4-BE49-F238E27FC236}">
                  <a16:creationId xmlns:a16="http://schemas.microsoft.com/office/drawing/2014/main" id="{9FFDCD38-281F-6032-73A5-83B7581DA705}"/>
                </a:ext>
              </a:extLst>
            </p:cNvPr>
            <p:cNvSpPr txBox="1"/>
            <p:nvPr/>
          </p:nvSpPr>
          <p:spPr>
            <a:xfrm>
              <a:off x="7312312" y="1606583"/>
              <a:ext cx="402674" cy="338554"/>
            </a:xfrm>
            <a:prstGeom prst="rect">
              <a:avLst/>
            </a:prstGeom>
            <a:solidFill>
              <a:schemeClr val="bg1"/>
            </a:solidFill>
            <a:ln>
              <a:solidFill>
                <a:schemeClr val="tx1"/>
              </a:solidFill>
            </a:ln>
          </p:spPr>
          <p:txBody>
            <a:bodyPr wrap="none" rtlCol="0">
              <a:spAutoFit/>
            </a:bodyPr>
            <a:lstStyle/>
            <a:p>
              <a:r>
                <a:rPr lang="en-US" sz="1600" i="1" dirty="0">
                  <a:latin typeface="Cambria Math" panose="02040503050406030204" pitchFamily="18" charset="0"/>
                  <a:ea typeface="Cambria Math" panose="02040503050406030204" pitchFamily="18" charset="0"/>
                </a:rPr>
                <a:t>y0</a:t>
              </a:r>
              <a:endParaRPr lang="en-IN" sz="1600" i="1" dirty="0">
                <a:latin typeface="Cambria Math" panose="02040503050406030204" pitchFamily="18" charset="0"/>
                <a:ea typeface="Cambria Math" panose="02040503050406030204" pitchFamily="18" charset="0"/>
              </a:endParaRPr>
            </a:p>
          </p:txBody>
        </p:sp>
        <p:grpSp>
          <p:nvGrpSpPr>
            <p:cNvPr id="75" name="Group 74">
              <a:extLst>
                <a:ext uri="{FF2B5EF4-FFF2-40B4-BE49-F238E27FC236}">
                  <a16:creationId xmlns:a16="http://schemas.microsoft.com/office/drawing/2014/main" id="{876AEC65-66E0-CB5B-1CC3-4184196830D0}"/>
                </a:ext>
              </a:extLst>
            </p:cNvPr>
            <p:cNvGrpSpPr/>
            <p:nvPr/>
          </p:nvGrpSpPr>
          <p:grpSpPr>
            <a:xfrm>
              <a:off x="4136574" y="958557"/>
              <a:ext cx="4714870" cy="5222190"/>
              <a:chOff x="4136574" y="958557"/>
              <a:chExt cx="4714870" cy="5222190"/>
            </a:xfrm>
          </p:grpSpPr>
          <p:sp>
            <p:nvSpPr>
              <p:cNvPr id="23" name="Rectangle 22">
                <a:extLst>
                  <a:ext uri="{FF2B5EF4-FFF2-40B4-BE49-F238E27FC236}">
                    <a16:creationId xmlns:a16="http://schemas.microsoft.com/office/drawing/2014/main" id="{8CBCA545-715A-84B4-60B0-674F3C0B2FCD}"/>
                  </a:ext>
                </a:extLst>
              </p:cNvPr>
              <p:cNvSpPr/>
              <p:nvPr/>
            </p:nvSpPr>
            <p:spPr>
              <a:xfrm>
                <a:off x="4682066" y="1603044"/>
                <a:ext cx="2092916" cy="7337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i="1" dirty="0">
                    <a:latin typeface="Cambria Math" panose="02040503050406030204" pitchFamily="18" charset="0"/>
                    <a:ea typeface="Cambria Math" panose="02040503050406030204" pitchFamily="18" charset="0"/>
                  </a:rPr>
                  <a:t>BVP</a:t>
                </a:r>
              </a:p>
              <a:p>
                <a:pPr algn="ctr"/>
                <a:r>
                  <a:rPr lang="en-US" sz="1600" i="1" dirty="0">
                    <a:latin typeface="Cambria Math" panose="02040503050406030204" pitchFamily="18" charset="0"/>
                    <a:ea typeface="Cambria Math" panose="02040503050406030204" pitchFamily="18" charset="0"/>
                  </a:rPr>
                  <a:t>Shooting method</a:t>
                </a:r>
              </a:p>
              <a:p>
                <a:pPr algn="ctr"/>
                <a:r>
                  <a:rPr lang="en-US" sz="1600" i="1" dirty="0">
                    <a:latin typeface="Cambria Math" panose="02040503050406030204" pitchFamily="18" charset="0"/>
                    <a:ea typeface="Cambria Math" panose="02040503050406030204" pitchFamily="18" charset="0"/>
                  </a:rPr>
                  <a:t>[ 1) guess n0, m0]</a:t>
                </a:r>
                <a:endParaRPr lang="en-IN" sz="1600" i="1"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DA6F5DC2-6D74-3ED6-96D4-34EB1B9D91F3}"/>
                      </a:ext>
                    </a:extLst>
                  </p:cNvPr>
                  <p:cNvSpPr/>
                  <p:nvPr/>
                </p:nvSpPr>
                <p:spPr>
                  <a:xfrm>
                    <a:off x="6345289" y="2504322"/>
                    <a:ext cx="1886420" cy="5085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i="1" dirty="0">
                        <a:latin typeface="Cambria Math" panose="02040503050406030204" pitchFamily="18" charset="0"/>
                        <a:ea typeface="Cambria Math" panose="02040503050406030204" pitchFamily="18" charset="0"/>
                      </a:rPr>
                      <a:t>ODE of </a:t>
                    </a:r>
                  </a:p>
                  <a:p>
                    <a:pPr algn="ct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𝑅</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𝑛</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𝑚</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𝑞</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𝑤</m:t>
                              </m:r>
                            </m:e>
                            <m:sub>
                              <m:r>
                                <a:rPr lang="en-US" sz="1600" i="1" dirty="0" err="1">
                                  <a:latin typeface="Cambria Math" panose="02040503050406030204" pitchFamily="18" charset="0"/>
                                  <a:ea typeface="Cambria Math" panose="02040503050406030204" pitchFamily="18" charset="0"/>
                                </a:rPr>
                                <m:t>𝑠</m:t>
                              </m:r>
                            </m:sub>
                          </m:sSub>
                        </m:oMath>
                      </m:oMathPara>
                    </a14:m>
                    <a:endParaRPr lang="en-IN" sz="1600" i="1" dirty="0">
                      <a:latin typeface="Cambria Math" panose="02040503050406030204" pitchFamily="18" charset="0"/>
                      <a:ea typeface="Cambria Math" panose="02040503050406030204" pitchFamily="18" charset="0"/>
                    </a:endParaRPr>
                  </a:p>
                </p:txBody>
              </p:sp>
            </mc:Choice>
            <mc:Fallback xmlns="">
              <p:sp>
                <p:nvSpPr>
                  <p:cNvPr id="25" name="Rectangle 24">
                    <a:extLst>
                      <a:ext uri="{FF2B5EF4-FFF2-40B4-BE49-F238E27FC236}">
                        <a16:creationId xmlns:a16="http://schemas.microsoft.com/office/drawing/2014/main" id="{DA6F5DC2-6D74-3ED6-96D4-34EB1B9D91F3}"/>
                      </a:ext>
                    </a:extLst>
                  </p:cNvPr>
                  <p:cNvSpPr>
                    <a:spLocks noRot="1" noChangeAspect="1" noMove="1" noResize="1" noEditPoints="1" noAdjustHandles="1" noChangeArrowheads="1" noChangeShapeType="1" noTextEdit="1"/>
                  </p:cNvSpPr>
                  <p:nvPr/>
                </p:nvSpPr>
                <p:spPr>
                  <a:xfrm>
                    <a:off x="6345289" y="2504322"/>
                    <a:ext cx="1886420" cy="508526"/>
                  </a:xfrm>
                  <a:prstGeom prst="rect">
                    <a:avLst/>
                  </a:prstGeom>
                  <a:blipFill>
                    <a:blip r:embed="rId4"/>
                    <a:stretch>
                      <a:fillRect t="-9195" b="-8046"/>
                    </a:stretch>
                  </a:blipFill>
                </p:spPr>
                <p:txBody>
                  <a:bodyPr/>
                  <a:lstStyle/>
                  <a:p>
                    <a:r>
                      <a:rPr lang="en-IN">
                        <a:noFill/>
                      </a:rPr>
                      <a:t> </a:t>
                    </a:r>
                  </a:p>
                </p:txBody>
              </p:sp>
            </mc:Fallback>
          </mc:AlternateContent>
          <p:cxnSp>
            <p:nvCxnSpPr>
              <p:cNvPr id="30" name="Straight Arrow Connector 29">
                <a:extLst>
                  <a:ext uri="{FF2B5EF4-FFF2-40B4-BE49-F238E27FC236}">
                    <a16:creationId xmlns:a16="http://schemas.microsoft.com/office/drawing/2014/main" id="{903D9ED6-E15C-7513-0FA6-BB855E153E81}"/>
                  </a:ext>
                </a:extLst>
              </p:cNvPr>
              <p:cNvCxnSpPr>
                <a:cxnSpLocks/>
                <a:stCxn id="25" idx="2"/>
              </p:cNvCxnSpPr>
              <p:nvPr/>
            </p:nvCxnSpPr>
            <p:spPr>
              <a:xfrm>
                <a:off x="7288499" y="3012848"/>
                <a:ext cx="5256" cy="373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B6B30116-66C1-5AB6-2915-08CB5781C901}"/>
                  </a:ext>
                </a:extLst>
              </p:cNvPr>
              <p:cNvSpPr/>
              <p:nvPr/>
            </p:nvSpPr>
            <p:spPr>
              <a:xfrm>
                <a:off x="6377262" y="3414888"/>
                <a:ext cx="1886420" cy="5353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i="1" dirty="0">
                  <a:latin typeface="Cambria Math" panose="02040503050406030204" pitchFamily="18" charset="0"/>
                  <a:ea typeface="Cambria Math" panose="02040503050406030204" pitchFamily="18" charset="0"/>
                </a:endParaRPr>
              </a:p>
              <a:p>
                <a:pPr algn="ctr"/>
                <a:r>
                  <a:rPr lang="en-US" sz="1600" i="1" dirty="0">
                    <a:latin typeface="Cambria Math" panose="02040503050406030204" pitchFamily="18" charset="0"/>
                    <a:ea typeface="Cambria Math" panose="02040503050406030204" pitchFamily="18" charset="0"/>
                  </a:rPr>
                  <a:t>4) IVP – RK45,RK4 etc.</a:t>
                </a:r>
                <a:endParaRPr lang="en-IN" sz="1600" i="1" dirty="0">
                  <a:latin typeface="Cambria Math" panose="02040503050406030204" pitchFamily="18" charset="0"/>
                  <a:ea typeface="Cambria Math" panose="02040503050406030204" pitchFamily="18" charset="0"/>
                </a:endParaRPr>
              </a:p>
              <a:p>
                <a:pPr algn="ctr"/>
                <a:endParaRPr lang="en-US" sz="1600" i="1" dirty="0">
                  <a:latin typeface="Cambria Math" panose="02040503050406030204" pitchFamily="18" charset="0"/>
                  <a:ea typeface="Cambria Math" panose="02040503050406030204" pitchFamily="18" charset="0"/>
                </a:endParaRPr>
              </a:p>
            </p:txBody>
          </p:sp>
          <p:cxnSp>
            <p:nvCxnSpPr>
              <p:cNvPr id="37" name="Connector: Elbow 36">
                <a:extLst>
                  <a:ext uri="{FF2B5EF4-FFF2-40B4-BE49-F238E27FC236}">
                    <a16:creationId xmlns:a16="http://schemas.microsoft.com/office/drawing/2014/main" id="{5121FB20-1E94-E147-D9EE-F796444C35E7}"/>
                  </a:ext>
                </a:extLst>
              </p:cNvPr>
              <p:cNvCxnSpPr>
                <a:cxnSpLocks/>
                <a:stCxn id="23" idx="3"/>
                <a:endCxn id="25" idx="0"/>
              </p:cNvCxnSpPr>
              <p:nvPr/>
            </p:nvCxnSpPr>
            <p:spPr>
              <a:xfrm>
                <a:off x="6774982" y="1969922"/>
                <a:ext cx="513517" cy="5344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DA14111-42FE-3FD8-C340-F4805B38BEBA}"/>
                  </a:ext>
                </a:extLst>
              </p:cNvPr>
              <p:cNvSpPr txBox="1"/>
              <p:nvPr/>
            </p:nvSpPr>
            <p:spPr>
              <a:xfrm>
                <a:off x="4682066" y="1224761"/>
                <a:ext cx="1879041" cy="338554"/>
              </a:xfrm>
              <a:prstGeom prst="rect">
                <a:avLst/>
              </a:prstGeom>
              <a:noFill/>
              <a:ln>
                <a:solidFill>
                  <a:schemeClr val="tx1"/>
                </a:solidFill>
              </a:ln>
            </p:spPr>
            <p:txBody>
              <a:bodyPr wrap="none" rtlCol="0">
                <a:spAutoFit/>
              </a:bodyPr>
              <a:lstStyle/>
              <a:p>
                <a:r>
                  <a:rPr lang="en-US" sz="1600" i="1" dirty="0">
                    <a:latin typeface="Cambria Math" panose="02040503050406030204" pitchFamily="18" charset="0"/>
                    <a:ea typeface="Cambria Math" panose="02040503050406030204" pitchFamily="18" charset="0"/>
                  </a:rPr>
                  <a:t>y = [r, R, q, w, n ,m]</a:t>
                </a:r>
                <a:endParaRPr lang="en-IN" sz="1600" i="1" dirty="0">
                  <a:latin typeface="Cambria Math" panose="02040503050406030204" pitchFamily="18" charset="0"/>
                  <a:ea typeface="Cambria Math" panose="02040503050406030204" pitchFamily="18" charset="0"/>
                </a:endParaRPr>
              </a:p>
            </p:txBody>
          </p:sp>
          <p:sp>
            <p:nvSpPr>
              <p:cNvPr id="53" name="TextBox 52">
                <a:extLst>
                  <a:ext uri="{FF2B5EF4-FFF2-40B4-BE49-F238E27FC236}">
                    <a16:creationId xmlns:a16="http://schemas.microsoft.com/office/drawing/2014/main" id="{A4A30B97-E71C-B108-357B-965ACD762984}"/>
                  </a:ext>
                </a:extLst>
              </p:cNvPr>
              <p:cNvSpPr txBox="1"/>
              <p:nvPr/>
            </p:nvSpPr>
            <p:spPr>
              <a:xfrm>
                <a:off x="6027915" y="4285455"/>
                <a:ext cx="569387" cy="338554"/>
              </a:xfrm>
              <a:prstGeom prst="rect">
                <a:avLst/>
              </a:prstGeom>
              <a:solidFill>
                <a:schemeClr val="bg1"/>
              </a:solidFill>
              <a:ln>
                <a:solidFill>
                  <a:schemeClr val="tx1"/>
                </a:solidFill>
              </a:ln>
            </p:spPr>
            <p:txBody>
              <a:bodyPr wrap="none" rtlCol="0">
                <a:spAutoFit/>
              </a:bodyPr>
              <a:lstStyle/>
              <a:p>
                <a:r>
                  <a:rPr lang="en-US" sz="1600" i="1" dirty="0">
                    <a:latin typeface="Cambria Math" panose="02040503050406030204" pitchFamily="18" charset="0"/>
                    <a:ea typeface="Cambria Math" panose="02040503050406030204" pitchFamily="18" charset="0"/>
                  </a:rPr>
                  <a:t>y(L)</a:t>
                </a:r>
                <a:endParaRPr lang="en-IN" sz="1600" i="1" dirty="0">
                  <a:latin typeface="Cambria Math" panose="02040503050406030204" pitchFamily="18" charset="0"/>
                  <a:ea typeface="Cambria Math" panose="02040503050406030204" pitchFamily="18" charset="0"/>
                </a:endParaRPr>
              </a:p>
            </p:txBody>
          </p:sp>
          <p:cxnSp>
            <p:nvCxnSpPr>
              <p:cNvPr id="56" name="Connector: Elbow 55">
                <a:extLst>
                  <a:ext uri="{FF2B5EF4-FFF2-40B4-BE49-F238E27FC236}">
                    <a16:creationId xmlns:a16="http://schemas.microsoft.com/office/drawing/2014/main" id="{DCB29A29-344C-7FC8-309E-6075269F7815}"/>
                  </a:ext>
                </a:extLst>
              </p:cNvPr>
              <p:cNvCxnSpPr>
                <a:cxnSpLocks/>
                <a:stCxn id="35" idx="2"/>
                <a:endCxn id="67" idx="3"/>
              </p:cNvCxnSpPr>
              <p:nvPr/>
            </p:nvCxnSpPr>
            <p:spPr>
              <a:xfrm rot="5400000">
                <a:off x="6211396" y="3675809"/>
                <a:ext cx="834615" cy="13835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B42EE216-E41D-3B6A-2FAD-362A05E8386B}"/>
                  </a:ext>
                </a:extLst>
              </p:cNvPr>
              <p:cNvSpPr txBox="1"/>
              <p:nvPr/>
            </p:nvSpPr>
            <p:spPr>
              <a:xfrm>
                <a:off x="7320472" y="4626319"/>
                <a:ext cx="546945" cy="338554"/>
              </a:xfrm>
              <a:prstGeom prst="rect">
                <a:avLst/>
              </a:prstGeom>
              <a:solidFill>
                <a:schemeClr val="bg1"/>
              </a:solidFill>
              <a:ln>
                <a:solidFill>
                  <a:schemeClr val="tx1"/>
                </a:solidFill>
              </a:ln>
            </p:spPr>
            <p:txBody>
              <a:bodyPr wrap="none" rtlCol="0">
                <a:spAutoFit/>
              </a:bodyPr>
              <a:lstStyle/>
              <a:p>
                <a:r>
                  <a:rPr lang="en-US" sz="1600" i="1" dirty="0">
                    <a:latin typeface="Cambria Math" panose="02040503050406030204" pitchFamily="18" charset="0"/>
                    <a:ea typeface="Cambria Math" panose="02040503050406030204" pitchFamily="18" charset="0"/>
                  </a:rPr>
                  <a:t>y(s)</a:t>
                </a:r>
                <a:endParaRPr lang="en-IN" sz="1600" i="1" dirty="0">
                  <a:latin typeface="Cambria Math" panose="02040503050406030204" pitchFamily="18" charset="0"/>
                  <a:ea typeface="Cambria Math" panose="02040503050406030204" pitchFamily="18" charset="0"/>
                </a:endParaRPr>
              </a:p>
            </p:txBody>
          </p:sp>
          <p:cxnSp>
            <p:nvCxnSpPr>
              <p:cNvPr id="62" name="Straight Arrow Connector 61">
                <a:extLst>
                  <a:ext uri="{FF2B5EF4-FFF2-40B4-BE49-F238E27FC236}">
                    <a16:creationId xmlns:a16="http://schemas.microsoft.com/office/drawing/2014/main" id="{9DF189AC-CBE6-A6F5-5F91-202BD39CC122}"/>
                  </a:ext>
                </a:extLst>
              </p:cNvPr>
              <p:cNvCxnSpPr>
                <a:cxnSpLocks/>
                <a:stCxn id="23" idx="2"/>
              </p:cNvCxnSpPr>
              <p:nvPr/>
            </p:nvCxnSpPr>
            <p:spPr>
              <a:xfrm>
                <a:off x="5728524" y="2336800"/>
                <a:ext cx="10511" cy="3491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7" name="Diamond 66">
                <a:extLst>
                  <a:ext uri="{FF2B5EF4-FFF2-40B4-BE49-F238E27FC236}">
                    <a16:creationId xmlns:a16="http://schemas.microsoft.com/office/drawing/2014/main" id="{77D9CDD0-F1C0-89CF-D2F1-2D9244BABF74}"/>
                  </a:ext>
                </a:extLst>
              </p:cNvPr>
              <p:cNvSpPr/>
              <p:nvPr/>
            </p:nvSpPr>
            <p:spPr>
              <a:xfrm>
                <a:off x="5520113" y="4542251"/>
                <a:ext cx="416821" cy="485269"/>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600" i="1">
                  <a:latin typeface="Cambria Math" panose="02040503050406030204" pitchFamily="18" charset="0"/>
                  <a:ea typeface="Cambria Math" panose="02040503050406030204" pitchFamily="18" charset="0"/>
                </a:endParaRPr>
              </a:p>
            </p:txBody>
          </p:sp>
          <p:sp>
            <p:nvSpPr>
              <p:cNvPr id="68" name="TextBox 67">
                <a:extLst>
                  <a:ext uri="{FF2B5EF4-FFF2-40B4-BE49-F238E27FC236}">
                    <a16:creationId xmlns:a16="http://schemas.microsoft.com/office/drawing/2014/main" id="{7AF34E15-2CF6-379C-1095-09C75F4FB126}"/>
                  </a:ext>
                </a:extLst>
              </p:cNvPr>
              <p:cNvSpPr txBox="1"/>
              <p:nvPr/>
            </p:nvSpPr>
            <p:spPr>
              <a:xfrm>
                <a:off x="4136574" y="3721815"/>
                <a:ext cx="1435027" cy="830997"/>
              </a:xfrm>
              <a:prstGeom prst="rect">
                <a:avLst/>
              </a:prstGeom>
              <a:solidFill>
                <a:schemeClr val="bg1"/>
              </a:solidFill>
              <a:ln>
                <a:solidFill>
                  <a:schemeClr val="tx1"/>
                </a:solidFill>
              </a:ln>
            </p:spPr>
            <p:txBody>
              <a:bodyPr wrap="square" rtlCol="0">
                <a:spAutoFit/>
              </a:bodyPr>
              <a:lstStyle/>
              <a:p>
                <a:r>
                  <a:rPr lang="en-US" sz="1600" i="1" dirty="0">
                    <a:latin typeface="Cambria Math" panose="02040503050406030204" pitchFamily="18" charset="0"/>
                    <a:ea typeface="Cambria Math" panose="02040503050406030204" pitchFamily="18" charset="0"/>
                  </a:rPr>
                  <a:t>Check error with knowns</a:t>
                </a:r>
              </a:p>
              <a:p>
                <a:r>
                  <a:rPr lang="en-US" sz="1600" i="1" dirty="0">
                    <a:latin typeface="Cambria Math" panose="02040503050406030204" pitchFamily="18" charset="0"/>
                    <a:ea typeface="Cambria Math" panose="02040503050406030204" pitchFamily="18" charset="0"/>
                  </a:rPr>
                  <a:t>n(L), m(L)</a:t>
                </a:r>
              </a:p>
            </p:txBody>
          </p:sp>
          <p:sp>
            <p:nvSpPr>
              <p:cNvPr id="70" name="TextBox 69">
                <a:extLst>
                  <a:ext uri="{FF2B5EF4-FFF2-40B4-BE49-F238E27FC236}">
                    <a16:creationId xmlns:a16="http://schemas.microsoft.com/office/drawing/2014/main" id="{C3D920E5-1701-F927-5C17-1E314475E5D9}"/>
                  </a:ext>
                </a:extLst>
              </p:cNvPr>
              <p:cNvSpPr txBox="1"/>
              <p:nvPr/>
            </p:nvSpPr>
            <p:spPr>
              <a:xfrm>
                <a:off x="5249958" y="5842193"/>
                <a:ext cx="1045479" cy="338554"/>
              </a:xfrm>
              <a:prstGeom prst="rect">
                <a:avLst/>
              </a:prstGeom>
              <a:solidFill>
                <a:schemeClr val="bg1"/>
              </a:solidFill>
              <a:ln>
                <a:solidFill>
                  <a:schemeClr val="tx1"/>
                </a:solidFill>
              </a:ln>
            </p:spPr>
            <p:txBody>
              <a:bodyPr wrap="none" rtlCol="0">
                <a:spAutoFit/>
              </a:bodyPr>
              <a:lstStyle/>
              <a:p>
                <a:r>
                  <a:rPr lang="en-US" sz="1600" i="1" dirty="0">
                    <a:latin typeface="Cambria Math" panose="02040503050406030204" pitchFamily="18" charset="0"/>
                    <a:ea typeface="Cambria Math" panose="02040503050406030204" pitchFamily="18" charset="0"/>
                  </a:rPr>
                  <a:t>r(L), R(L)</a:t>
                </a:r>
                <a:endParaRPr lang="en-IN" sz="1600" i="1"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F3A5504-081A-684D-C92D-CBD83E558700}"/>
                      </a:ext>
                    </a:extLst>
                  </p:cNvPr>
                  <p:cNvSpPr txBox="1"/>
                  <p:nvPr/>
                </p:nvSpPr>
                <p:spPr>
                  <a:xfrm>
                    <a:off x="7313900" y="958557"/>
                    <a:ext cx="1537544" cy="600164"/>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𝑟</m:t>
                          </m:r>
                          <m:d>
                            <m:dPr>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m:t>
                              </m:r>
                            </m:e>
                          </m:d>
                          <m:r>
                            <a:rPr lang="en-US" sz="1100" b="0" i="1" dirty="0" smtClean="0">
                              <a:latin typeface="Cambria Math" panose="02040503050406030204" pitchFamily="18" charset="0"/>
                              <a:ea typeface="Cambria Math" panose="02040503050406030204" pitchFamily="18" charset="0"/>
                            </a:rPr>
                            <m:t>=</m:t>
                          </m:r>
                          <m:r>
                            <a:rPr lang="en-US" sz="1100" b="0" i="1" dirty="0" smtClean="0">
                              <a:latin typeface="Cambria Math" panose="02040503050406030204" pitchFamily="18" charset="0"/>
                              <a:ea typeface="Cambria Math" panose="02040503050406030204" pitchFamily="18" charset="0"/>
                            </a:rPr>
                            <m:t>𝑞</m:t>
                          </m:r>
                          <m:d>
                            <m:dPr>
                              <m:ctrlPr>
                                <a:rPr lang="en-US" sz="1100" b="0" i="1" dirty="0" smtClean="0">
                                  <a:latin typeface="Cambria Math" panose="02040503050406030204" pitchFamily="18" charset="0"/>
                                  <a:ea typeface="Cambria Math" panose="02040503050406030204" pitchFamily="18" charset="0"/>
                                </a:rPr>
                              </m:ctrlPr>
                            </m:dPr>
                            <m:e>
                              <m:r>
                                <a:rPr lang="en-US" sz="1100" b="0" i="1" dirty="0" smtClean="0">
                                  <a:latin typeface="Cambria Math" panose="02040503050406030204" pitchFamily="18" charset="0"/>
                                  <a:ea typeface="Cambria Math" panose="02040503050406030204" pitchFamily="18" charset="0"/>
                                </a:rPr>
                                <m:t>0</m:t>
                              </m:r>
                            </m:e>
                          </m:d>
                        </m:oMath>
                      </m:oMathPara>
                    </a14:m>
                    <a:endParaRPr lang="en-US" sz="11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b="0" i="1" dirty="0" smtClean="0">
                              <a:latin typeface="Cambria Math" panose="02040503050406030204" pitchFamily="18" charset="0"/>
                              <a:ea typeface="Cambria Math" panose="02040503050406030204" pitchFamily="18" charset="0"/>
                            </a:rPr>
                            <m:t>=</m:t>
                          </m:r>
                          <m:r>
                            <a:rPr lang="en-US" sz="1100" b="0" i="1" dirty="0" smtClean="0">
                              <a:latin typeface="Cambria Math" panose="02040503050406030204" pitchFamily="18" charset="0"/>
                              <a:ea typeface="Cambria Math" panose="02040503050406030204" pitchFamily="18" charset="0"/>
                            </a:rPr>
                            <m:t>𝑤</m:t>
                          </m:r>
                          <m:r>
                            <a:rPr lang="en-US" sz="1100" b="0" i="1" dirty="0" smtClean="0">
                              <a:latin typeface="Cambria Math" panose="02040503050406030204" pitchFamily="18" charset="0"/>
                              <a:ea typeface="Cambria Math" panose="02040503050406030204" pitchFamily="18" charset="0"/>
                            </a:rPr>
                            <m:t>(0)= </m:t>
                          </m:r>
                          <m:sSup>
                            <m:sSupPr>
                              <m:ctrlPr>
                                <a:rPr lang="en-US" sz="1100" i="1" dirty="0" smtClean="0">
                                  <a:latin typeface="Cambria Math" panose="02040503050406030204" pitchFamily="18" charset="0"/>
                                  <a:ea typeface="Cambria Math" panose="02040503050406030204" pitchFamily="18" charset="0"/>
                                </a:rPr>
                              </m:ctrlPr>
                            </m:sSupPr>
                            <m:e>
                              <m:d>
                                <m:dPr>
                                  <m:begChr m:val="["/>
                                  <m:endChr m:val="]"/>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0 0 0</m:t>
                                  </m:r>
                                </m:e>
                              </m:d>
                            </m:e>
                            <m:sup>
                              <m:r>
                                <a:rPr lang="en-US" sz="1100" i="1" dirty="0" smtClean="0">
                                  <a:latin typeface="Cambria Math" panose="02040503050406030204" pitchFamily="18" charset="0"/>
                                  <a:ea typeface="Cambria Math" panose="02040503050406030204" pitchFamily="18" charset="0"/>
                                </a:rPr>
                                <m:t>𝑇</m:t>
                              </m:r>
                            </m:sup>
                          </m:sSup>
                          <m:r>
                            <a:rPr lang="en-US" sz="1100" i="1" dirty="0" smtClean="0">
                              <a:latin typeface="Cambria Math" panose="02040503050406030204" pitchFamily="18" charset="0"/>
                              <a:ea typeface="Cambria Math" panose="02040503050406030204" pitchFamily="18" charset="0"/>
                            </a:rPr>
                            <m:t> ; </m:t>
                          </m:r>
                        </m:oMath>
                      </m:oMathPara>
                    </a14:m>
                    <a:endParaRPr lang="en-US" sz="11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𝑅</m:t>
                          </m:r>
                          <m:r>
                            <a:rPr lang="en-US" sz="1100" i="1" dirty="0" smtClean="0">
                              <a:latin typeface="Cambria Math" panose="02040503050406030204" pitchFamily="18" charset="0"/>
                              <a:ea typeface="Cambria Math" panose="02040503050406030204" pitchFamily="18" charset="0"/>
                            </a:rPr>
                            <m:t>(0) = </m:t>
                          </m:r>
                          <m:r>
                            <a:rPr lang="en-US" sz="1100" i="1" dirty="0" smtClean="0">
                              <a:latin typeface="Cambria Math" panose="02040503050406030204" pitchFamily="18" charset="0"/>
                              <a:ea typeface="Cambria Math" panose="02040503050406030204" pitchFamily="18" charset="0"/>
                            </a:rPr>
                            <m:t>𝐼</m:t>
                          </m:r>
                        </m:oMath>
                      </m:oMathPara>
                    </a14:m>
                    <a:endParaRPr lang="en-US" sz="1100" i="1" dirty="0">
                      <a:latin typeface="Cambria Math" panose="02040503050406030204" pitchFamily="18" charset="0"/>
                      <a:ea typeface="Cambria Math" panose="02040503050406030204" pitchFamily="18" charset="0"/>
                    </a:endParaRPr>
                  </a:p>
                </p:txBody>
              </p:sp>
            </mc:Choice>
            <mc:Fallback xmlns="">
              <p:sp>
                <p:nvSpPr>
                  <p:cNvPr id="72" name="TextBox 71">
                    <a:extLst>
                      <a:ext uri="{FF2B5EF4-FFF2-40B4-BE49-F238E27FC236}">
                        <a16:creationId xmlns:a16="http://schemas.microsoft.com/office/drawing/2014/main" id="{6F3A5504-081A-684D-C92D-CBD83E558700}"/>
                      </a:ext>
                    </a:extLst>
                  </p:cNvPr>
                  <p:cNvSpPr txBox="1">
                    <a:spLocks noRot="1" noChangeAspect="1" noMove="1" noResize="1" noEditPoints="1" noAdjustHandles="1" noChangeArrowheads="1" noChangeShapeType="1" noTextEdit="1"/>
                  </p:cNvSpPr>
                  <p:nvPr/>
                </p:nvSpPr>
                <p:spPr>
                  <a:xfrm>
                    <a:off x="7313900" y="958557"/>
                    <a:ext cx="1537544" cy="600164"/>
                  </a:xfrm>
                  <a:prstGeom prst="rect">
                    <a:avLst/>
                  </a:prstGeom>
                  <a:blipFill>
                    <a:blip r:embed="rId5"/>
                    <a:stretch>
                      <a:fillRect b="-990"/>
                    </a:stretch>
                  </a:blipFill>
                  <a:ln>
                    <a:solidFill>
                      <a:schemeClr val="tx1"/>
                    </a:solidFill>
                  </a:ln>
                </p:spPr>
                <p:txBody>
                  <a:bodyPr/>
                  <a:lstStyle/>
                  <a:p>
                    <a:r>
                      <a:rPr lang="en-IN">
                        <a:noFill/>
                      </a:rPr>
                      <a:t> </a:t>
                    </a:r>
                  </a:p>
                </p:txBody>
              </p:sp>
            </mc:Fallback>
          </mc:AlternateContent>
        </p:grpSp>
      </p:grpSp>
      <p:sp>
        <p:nvSpPr>
          <p:cNvPr id="6" name="TextBox 5">
            <a:extLst>
              <a:ext uri="{FF2B5EF4-FFF2-40B4-BE49-F238E27FC236}">
                <a16:creationId xmlns:a16="http://schemas.microsoft.com/office/drawing/2014/main" id="{2BEF59BB-B6E7-19A2-E26C-0974B37434F0}"/>
              </a:ext>
            </a:extLst>
          </p:cNvPr>
          <p:cNvSpPr txBox="1"/>
          <p:nvPr/>
        </p:nvSpPr>
        <p:spPr>
          <a:xfrm>
            <a:off x="876314" y="753206"/>
            <a:ext cx="6096000" cy="584775"/>
          </a:xfrm>
          <a:prstGeom prst="rect">
            <a:avLst/>
          </a:prstGeom>
          <a:noFill/>
        </p:spPr>
        <p:txBody>
          <a:bodyPr wrap="square">
            <a:spAutoFit/>
          </a:bodyPr>
          <a:lstStyle/>
          <a:p>
            <a:pPr>
              <a:defRPr sz="2000">
                <a:solidFill>
                  <a:srgbClr val="142237"/>
                </a:solidFill>
              </a:defRPr>
            </a:pPr>
            <a:r>
              <a:rPr lang="en-US" sz="1600" i="1" dirty="0">
                <a:latin typeface="Cambria Math" panose="02040503050406030204" pitchFamily="18" charset="0"/>
                <a:ea typeface="Cambria Math" panose="02040503050406030204" pitchFamily="18" charset="0"/>
              </a:rPr>
              <a:t>Dynamic Equilibrium:</a:t>
            </a:r>
          </a:p>
          <a:p>
            <a:pPr>
              <a:defRPr sz="2000">
                <a:solidFill>
                  <a:srgbClr val="142237"/>
                </a:solidFill>
              </a:defRPr>
            </a:pPr>
            <a:r>
              <a:rPr lang="en-US" sz="1600" i="1" dirty="0">
                <a:latin typeface="Cambria Math" panose="02040503050406030204" pitchFamily="18" charset="0"/>
                <a:ea typeface="Cambria Math" panose="02040503050406030204" pitchFamily="18" charset="0"/>
              </a:rPr>
              <a:t>(t &gt; 0)</a:t>
            </a:r>
          </a:p>
        </p:txBody>
      </p:sp>
      <p:grpSp>
        <p:nvGrpSpPr>
          <p:cNvPr id="7" name="Group 6">
            <a:extLst>
              <a:ext uri="{FF2B5EF4-FFF2-40B4-BE49-F238E27FC236}">
                <a16:creationId xmlns:a16="http://schemas.microsoft.com/office/drawing/2014/main" id="{ACE2CBA2-FCDC-40C5-6C36-36BAE3C24A28}"/>
              </a:ext>
            </a:extLst>
          </p:cNvPr>
          <p:cNvGrpSpPr/>
          <p:nvPr/>
        </p:nvGrpSpPr>
        <p:grpSpPr>
          <a:xfrm>
            <a:off x="9634662" y="3517926"/>
            <a:ext cx="2353817" cy="2742829"/>
            <a:chOff x="9278673" y="3727441"/>
            <a:chExt cx="2353817" cy="2742829"/>
          </a:xfrm>
        </p:grpSpPr>
        <p:sp>
          <p:nvSpPr>
            <p:cNvPr id="9" name="Oval 8">
              <a:extLst>
                <a:ext uri="{FF2B5EF4-FFF2-40B4-BE49-F238E27FC236}">
                  <a16:creationId xmlns:a16="http://schemas.microsoft.com/office/drawing/2014/main" id="{E8EC95CA-7DAC-FD89-9F91-EEE6C989F169}"/>
                </a:ext>
              </a:extLst>
            </p:cNvPr>
            <p:cNvSpPr/>
            <p:nvPr/>
          </p:nvSpPr>
          <p:spPr>
            <a:xfrm rot="19251957">
              <a:off x="9657291" y="4652686"/>
              <a:ext cx="1523860" cy="74818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i="1">
                <a:latin typeface="Cambria Math" panose="02040503050406030204" pitchFamily="18" charset="0"/>
                <a:ea typeface="Cambria Math" panose="02040503050406030204" pitchFamily="18" charset="0"/>
              </a:endParaRPr>
            </a:p>
          </p:txBody>
        </p:sp>
        <p:cxnSp>
          <p:nvCxnSpPr>
            <p:cNvPr id="12" name="Connector: Curved 11">
              <a:extLst>
                <a:ext uri="{FF2B5EF4-FFF2-40B4-BE49-F238E27FC236}">
                  <a16:creationId xmlns:a16="http://schemas.microsoft.com/office/drawing/2014/main" id="{5590606E-659A-5636-6DD9-AA9AF33355BF}"/>
                </a:ext>
              </a:extLst>
            </p:cNvPr>
            <p:cNvCxnSpPr>
              <a:cxnSpLocks/>
            </p:cNvCxnSpPr>
            <p:nvPr/>
          </p:nvCxnSpPr>
          <p:spPr>
            <a:xfrm rot="16200000" flipH="1">
              <a:off x="9514041" y="4193177"/>
              <a:ext cx="1989000" cy="1667205"/>
            </a:xfrm>
            <a:prstGeom prst="curvedConnector3">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 name="Connector: Curved 12">
              <a:extLst>
                <a:ext uri="{FF2B5EF4-FFF2-40B4-BE49-F238E27FC236}">
                  <a16:creationId xmlns:a16="http://schemas.microsoft.com/office/drawing/2014/main" id="{AA9FD42F-0518-1755-5E5E-4BB559F85735}"/>
                </a:ext>
              </a:extLst>
            </p:cNvPr>
            <p:cNvCxnSpPr>
              <a:cxnSpLocks/>
            </p:cNvCxnSpPr>
            <p:nvPr/>
          </p:nvCxnSpPr>
          <p:spPr>
            <a:xfrm rot="16200000" flipH="1">
              <a:off x="9117776" y="4529394"/>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Connector: Curved 13">
              <a:extLst>
                <a:ext uri="{FF2B5EF4-FFF2-40B4-BE49-F238E27FC236}">
                  <a16:creationId xmlns:a16="http://schemas.microsoft.com/office/drawing/2014/main" id="{D35DA2B9-10F9-A179-5650-492A6689E621}"/>
                </a:ext>
              </a:extLst>
            </p:cNvPr>
            <p:cNvCxnSpPr>
              <a:cxnSpLocks/>
            </p:cNvCxnSpPr>
            <p:nvPr/>
          </p:nvCxnSpPr>
          <p:spPr>
            <a:xfrm rot="16200000" flipH="1">
              <a:off x="9804388" y="3888338"/>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BF4665B8-32E6-36F9-CE00-8E9046CAC87E}"/>
                </a:ext>
              </a:extLst>
            </p:cNvPr>
            <p:cNvSpPr/>
            <p:nvPr/>
          </p:nvSpPr>
          <p:spPr>
            <a:xfrm rot="19251957">
              <a:off x="10490860" y="510038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i="1">
                <a:latin typeface="Cambria Math" panose="02040503050406030204" pitchFamily="18" charset="0"/>
                <a:ea typeface="Cambria Math" panose="02040503050406030204" pitchFamily="18" charset="0"/>
              </a:endParaRPr>
            </a:p>
          </p:txBody>
        </p:sp>
        <p:sp>
          <p:nvSpPr>
            <p:cNvPr id="16" name="Oval 15">
              <a:extLst>
                <a:ext uri="{FF2B5EF4-FFF2-40B4-BE49-F238E27FC236}">
                  <a16:creationId xmlns:a16="http://schemas.microsoft.com/office/drawing/2014/main" id="{E9F9B519-D4AC-57A9-427A-0C4C1DA949B6}"/>
                </a:ext>
              </a:extLst>
            </p:cNvPr>
            <p:cNvSpPr/>
            <p:nvPr/>
          </p:nvSpPr>
          <p:spPr>
            <a:xfrm rot="19251957">
              <a:off x="10630895" y="467957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i="1">
                <a:latin typeface="Cambria Math" panose="02040503050406030204" pitchFamily="18" charset="0"/>
                <a:ea typeface="Cambria Math" panose="02040503050406030204" pitchFamily="18" charset="0"/>
              </a:endParaRPr>
            </a:p>
          </p:txBody>
        </p:sp>
        <p:sp>
          <p:nvSpPr>
            <p:cNvPr id="17" name="Oval 16">
              <a:extLst>
                <a:ext uri="{FF2B5EF4-FFF2-40B4-BE49-F238E27FC236}">
                  <a16:creationId xmlns:a16="http://schemas.microsoft.com/office/drawing/2014/main" id="{FB9414F0-AAEC-0356-277E-755E015006F7}"/>
                </a:ext>
              </a:extLst>
            </p:cNvPr>
            <p:cNvSpPr/>
            <p:nvPr/>
          </p:nvSpPr>
          <p:spPr>
            <a:xfrm rot="19251957">
              <a:off x="10037961" y="4892592"/>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i="1">
                <a:latin typeface="Cambria Math" panose="02040503050406030204" pitchFamily="18" charset="0"/>
                <a:ea typeface="Cambria Math" panose="02040503050406030204" pitchFamily="18" charset="0"/>
              </a:endParaRPr>
            </a:p>
          </p:txBody>
        </p:sp>
        <p:sp>
          <p:nvSpPr>
            <p:cNvPr id="18" name="Oval 17">
              <a:extLst>
                <a:ext uri="{FF2B5EF4-FFF2-40B4-BE49-F238E27FC236}">
                  <a16:creationId xmlns:a16="http://schemas.microsoft.com/office/drawing/2014/main" id="{A045F831-E286-9E60-184A-05E561FD0152}"/>
                </a:ext>
              </a:extLst>
            </p:cNvPr>
            <p:cNvSpPr/>
            <p:nvPr/>
          </p:nvSpPr>
          <p:spPr>
            <a:xfrm rot="19251957">
              <a:off x="9970227" y="5296104"/>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i="1">
                <a:latin typeface="Cambria Math" panose="02040503050406030204" pitchFamily="18" charset="0"/>
                <a:ea typeface="Cambria Math" panose="02040503050406030204" pitchFamily="18" charset="0"/>
              </a:endParaRPr>
            </a:p>
          </p:txBody>
        </p:sp>
        <p:cxnSp>
          <p:nvCxnSpPr>
            <p:cNvPr id="19" name="Connector: Elbow 18">
              <a:extLst>
                <a:ext uri="{FF2B5EF4-FFF2-40B4-BE49-F238E27FC236}">
                  <a16:creationId xmlns:a16="http://schemas.microsoft.com/office/drawing/2014/main" id="{ABA937DF-276B-2B9C-25C5-C874861B0509}"/>
                </a:ext>
              </a:extLst>
            </p:cNvPr>
            <p:cNvCxnSpPr>
              <a:cxnSpLocks/>
            </p:cNvCxnSpPr>
            <p:nvPr/>
          </p:nvCxnSpPr>
          <p:spPr>
            <a:xfrm>
              <a:off x="9496300" y="6134055"/>
              <a:ext cx="531594" cy="336215"/>
            </a:xfrm>
            <a:prstGeom prst="bentConnector3">
              <a:avLst>
                <a:gd name="adj1" fmla="val 626"/>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3AA18F58-94E1-7617-C980-9708C8341CC7}"/>
                </a:ext>
              </a:extLst>
            </p:cNvPr>
            <p:cNvCxnSpPr>
              <a:cxnSpLocks/>
            </p:cNvCxnSpPr>
            <p:nvPr/>
          </p:nvCxnSpPr>
          <p:spPr>
            <a:xfrm flipV="1">
              <a:off x="9505523" y="5026779"/>
              <a:ext cx="835807" cy="142356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597C4F1-F869-48C8-D84D-F30A4A5C97C1}"/>
                    </a:ext>
                  </a:extLst>
                </p:cNvPr>
                <p:cNvSpPr txBox="1"/>
                <p:nvPr/>
              </p:nvSpPr>
              <p:spPr>
                <a:xfrm>
                  <a:off x="9516126" y="5586775"/>
                  <a:ext cx="317623"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en-US" sz="1000" i="1" dirty="0" smtClean="0">
                            <a:latin typeface="Cambria Math" panose="02040503050406030204" pitchFamily="18" charset="0"/>
                            <a:ea typeface="Cambria Math" panose="02040503050406030204" pitchFamily="18" charset="0"/>
                          </a:rPr>
                          <m:t>𝑟</m:t>
                        </m:r>
                        <m:r>
                          <a:rPr lang="en-US" sz="1000" b="0" i="1" dirty="0" smtClean="0">
                            <a:latin typeface="Cambria Math" panose="02040503050406030204" pitchFamily="18" charset="0"/>
                            <a:ea typeface="Cambria Math" panose="02040503050406030204" pitchFamily="18" charset="0"/>
                          </a:rPr>
                          <m:t>, </m:t>
                        </m:r>
                        <m:r>
                          <a:rPr lang="en-US" sz="1000" b="0" i="1" dirty="0" smtClean="0">
                            <a:latin typeface="Cambria Math" panose="02040503050406030204" pitchFamily="18" charset="0"/>
                            <a:ea typeface="Cambria Math" panose="02040503050406030204" pitchFamily="18" charset="0"/>
                          </a:rPr>
                          <m:t>𝑅</m:t>
                        </m:r>
                      </m:oMath>
                    </m:oMathPara>
                  </a14:m>
                  <a:endParaRPr/>
                </a:p>
              </p:txBody>
            </p:sp>
          </mc:Choice>
          <mc:Fallback xmlns="">
            <p:sp>
              <p:nvSpPr>
                <p:cNvPr id="24" name="TextBox 23">
                  <a:extLst>
                    <a:ext uri="{FF2B5EF4-FFF2-40B4-BE49-F238E27FC236}">
                      <a16:creationId xmlns:a16="http://schemas.microsoft.com/office/drawing/2014/main" id="{B597C4F1-F869-48C8-D84D-F30A4A5C97C1}"/>
                    </a:ext>
                  </a:extLst>
                </p:cNvPr>
                <p:cNvSpPr txBox="1">
                  <a:spLocks noRot="1" noChangeAspect="1" noMove="1" noResize="1" noEditPoints="1" noAdjustHandles="1" noChangeArrowheads="1" noChangeShapeType="1" noTextEdit="1"/>
                </p:cNvSpPr>
                <p:nvPr/>
              </p:nvSpPr>
              <p:spPr>
                <a:xfrm>
                  <a:off x="9516126" y="5586775"/>
                  <a:ext cx="317623" cy="246221"/>
                </a:xfrm>
                <a:prstGeom prst="rect">
                  <a:avLst/>
                </a:prstGeom>
                <a:blipFill>
                  <a:blip r:embed="rId6"/>
                  <a:stretch>
                    <a:fillRect r="-20000" b="-11905"/>
                  </a:stretch>
                </a:blipFill>
                <a:ln>
                  <a:solidFill>
                    <a:schemeClr val="tx1"/>
                  </a:solidFill>
                </a:ln>
              </p:spPr>
              <p:txBody>
                <a:bodyPr/>
                <a:lstStyle/>
                <a:p>
                  <a:r>
                    <a:rPr lang="en-IN">
                      <a:noFill/>
                    </a:rPr>
                    <a:t> </a:t>
                  </a:r>
                </a:p>
              </p:txBody>
            </p:sp>
          </mc:Fallback>
        </mc:AlternateContent>
      </p:grpSp>
      <p:sp>
        <p:nvSpPr>
          <p:cNvPr id="21" name="TextBox 20">
            <a:extLst>
              <a:ext uri="{FF2B5EF4-FFF2-40B4-BE49-F238E27FC236}">
                <a16:creationId xmlns:a16="http://schemas.microsoft.com/office/drawing/2014/main" id="{FDE7251D-C7B9-7773-4995-4A5584EBAA9D}"/>
              </a:ext>
            </a:extLst>
          </p:cNvPr>
          <p:cNvSpPr txBox="1"/>
          <p:nvPr/>
        </p:nvSpPr>
        <p:spPr>
          <a:xfrm>
            <a:off x="9201712" y="2443117"/>
            <a:ext cx="2231701" cy="584775"/>
          </a:xfrm>
          <a:prstGeom prst="rect">
            <a:avLst/>
          </a:prstGeom>
          <a:noFill/>
        </p:spPr>
        <p:txBody>
          <a:bodyPr wrap="none" rtlCol="0">
            <a:spAutoFit/>
          </a:bodyPr>
          <a:lstStyle/>
          <a:p>
            <a:pPr marL="285750" indent="-285750">
              <a:buFont typeface="Arial" panose="020B0604020202020204" pitchFamily="34" charset="0"/>
              <a:buChar char="•"/>
            </a:pPr>
            <a:r>
              <a:rPr lang="en-US" sz="1600" i="1" dirty="0">
                <a:latin typeface="Cambria Math" panose="02040503050406030204" pitchFamily="18" charset="0"/>
                <a:ea typeface="Cambria Math" panose="02040503050406030204" pitchFamily="18" charset="0"/>
              </a:rPr>
              <a:t>No external loading</a:t>
            </a:r>
          </a:p>
          <a:p>
            <a:pPr marL="285750" indent="-285750">
              <a:buFont typeface="Arial" panose="020B0604020202020204" pitchFamily="34" charset="0"/>
              <a:buChar char="•"/>
            </a:pPr>
            <a:r>
              <a:rPr lang="en-US" sz="1600" i="1" dirty="0">
                <a:latin typeface="Cambria Math" panose="02040503050406030204" pitchFamily="18" charset="0"/>
                <a:ea typeface="Cambria Math" panose="02040503050406030204" pitchFamily="18" charset="0"/>
              </a:rPr>
              <a:t>Distributed loading</a:t>
            </a:r>
            <a:endParaRPr lang="en-IN" sz="1600" i="1" dirty="0">
              <a:latin typeface="Cambria Math" panose="02040503050406030204" pitchFamily="18" charset="0"/>
              <a:ea typeface="Cambria Math" panose="02040503050406030204" pitchFamily="18" charset="0"/>
            </a:endParaRPr>
          </a:p>
        </p:txBody>
      </p:sp>
      <p:pic>
        <p:nvPicPr>
          <p:cNvPr id="26" name="Picture 25"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F94AC844-60D4-6AF6-5E05-06D18206E7B2}"/>
              </a:ext>
            </a:extLst>
          </p:cNvPr>
          <p:cNvPicPr>
            <a:picLocks noChangeAspect="1"/>
          </p:cNvPicPr>
          <p:nvPr/>
        </p:nvPicPr>
        <p:blipFill>
          <a:blip r:embed="rId7"/>
          <a:srcRect r="45991"/>
          <a:stretch>
            <a:fillRect/>
          </a:stretch>
        </p:blipFill>
        <p:spPr>
          <a:xfrm>
            <a:off x="8858423" y="353501"/>
            <a:ext cx="2698758" cy="1983299"/>
          </a:xfrm>
          <a:prstGeom prst="rect">
            <a:avLst/>
          </a:prstGeom>
          <a:ln>
            <a:solidFill>
              <a:schemeClr val="tx1"/>
            </a:solidFill>
          </a:ln>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FEE77D0-FADC-44D6-3C3F-8D0608769706}"/>
                  </a:ext>
                </a:extLst>
              </p:cNvPr>
              <p:cNvSpPr txBox="1"/>
              <p:nvPr/>
            </p:nvSpPr>
            <p:spPr>
              <a:xfrm>
                <a:off x="124995" y="2792519"/>
                <a:ext cx="1649490" cy="1043491"/>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ea typeface="Cambria Math" panose="02040503050406030204" pitchFamily="18" charset="0"/>
                        </a:rPr>
                        <m:t>𝑛</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𝐿</m:t>
                          </m:r>
                        </m:e>
                      </m:d>
                      <m:r>
                        <a:rPr lang="en-US" sz="1400" b="0" i="1" smtClean="0">
                          <a:latin typeface="Cambria Math" panose="02040503050406030204" pitchFamily="18" charset="0"/>
                          <a:ea typeface="Cambria Math" panose="02040503050406030204" pitchFamily="18" charset="0"/>
                        </a:rPr>
                        <m:t>=</m:t>
                      </m:r>
                      <m:nary>
                        <m:naryPr>
                          <m:chr m:val="∑"/>
                          <m:subHide m:val="on"/>
                          <m:supHide m:val="on"/>
                          <m:ctrlPr>
                            <a:rPr lang="en-IN" sz="1400" i="1" dirty="0">
                              <a:latin typeface="Cambria Math" panose="02040503050406030204" pitchFamily="18" charset="0"/>
                              <a:ea typeface="Cambria Math" panose="02040503050406030204" pitchFamily="18" charset="0"/>
                            </a:rPr>
                          </m:ctrlPr>
                        </m:naryPr>
                        <m:sub/>
                        <m:sup/>
                        <m:e>
                          <m:sSub>
                            <m:sSubPr>
                              <m:ctrlPr>
                                <a:rPr lang="en-US" sz="1400" i="1" dirty="0">
                                  <a:latin typeface="Cambria Math" panose="02040503050406030204" pitchFamily="18" charset="0"/>
                                  <a:ea typeface="Cambria Math" panose="02040503050406030204" pitchFamily="18" charset="0"/>
                                </a:rPr>
                              </m:ctrlPr>
                            </m:sSubPr>
                            <m:e>
                              <m:r>
                                <a:rPr lang="en-US" sz="1400" i="1" dirty="0">
                                  <a:latin typeface="Cambria Math" panose="02040503050406030204" pitchFamily="18" charset="0"/>
                                  <a:ea typeface="Cambria Math" panose="02040503050406030204" pitchFamily="18" charset="0"/>
                                </a:rPr>
                                <m:t>𝐹</m:t>
                              </m:r>
                            </m:e>
                            <m:sub>
                              <m:r>
                                <a:rPr lang="en-US" sz="1400" i="1" dirty="0">
                                  <a:latin typeface="Cambria Math" panose="02040503050406030204" pitchFamily="18" charset="0"/>
                                  <a:ea typeface="Cambria Math" panose="02040503050406030204" pitchFamily="18" charset="0"/>
                                </a:rPr>
                                <m:t>𝑖</m:t>
                              </m:r>
                            </m:sub>
                          </m:sSub>
                        </m:e>
                      </m:nary>
                    </m:oMath>
                  </m:oMathPara>
                </a14:m>
                <a:endParaRPr lang="en-US" sz="14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IN" sz="1400" i="1" dirty="0" smtClean="0">
                          <a:latin typeface="Cambria Math" panose="02040503050406030204" pitchFamily="18" charset="0"/>
                          <a:ea typeface="Cambria Math" panose="02040503050406030204" pitchFamily="18" charset="0"/>
                        </a:rPr>
                        <m:t>𝑚</m:t>
                      </m:r>
                      <m:r>
                        <a:rPr lang="en-IN" sz="1400" i="1" dirty="0" smtClean="0">
                          <a:latin typeface="Cambria Math" panose="02040503050406030204" pitchFamily="18" charset="0"/>
                          <a:ea typeface="Cambria Math" panose="02040503050406030204" pitchFamily="18" charset="0"/>
                        </a:rPr>
                        <m:t>(</m:t>
                      </m:r>
                      <m:r>
                        <a:rPr lang="en-IN" sz="1400" i="1" dirty="0" smtClean="0">
                          <a:latin typeface="Cambria Math" panose="02040503050406030204" pitchFamily="18" charset="0"/>
                          <a:ea typeface="Cambria Math" panose="02040503050406030204" pitchFamily="18" charset="0"/>
                        </a:rPr>
                        <m:t>𝐿</m:t>
                      </m:r>
                      <m:r>
                        <a:rPr lang="en-IN" sz="1400" i="1" dirty="0" smtClean="0">
                          <a:latin typeface="Cambria Math" panose="02040503050406030204" pitchFamily="18" charset="0"/>
                          <a:ea typeface="Cambria Math" panose="02040503050406030204" pitchFamily="18" charset="0"/>
                        </a:rPr>
                        <m:t>) =</m:t>
                      </m:r>
                      <m:nary>
                        <m:naryPr>
                          <m:chr m:val="∑"/>
                          <m:subHide m:val="on"/>
                          <m:supHide m:val="on"/>
                          <m:ctrlPr>
                            <a:rPr lang="en-IN" sz="1400" i="1" dirty="0" smtClean="0">
                              <a:latin typeface="Cambria Math" panose="02040503050406030204" pitchFamily="18" charset="0"/>
                              <a:ea typeface="Cambria Math" panose="02040503050406030204" pitchFamily="18" charset="0"/>
                            </a:rPr>
                          </m:ctrlPr>
                        </m:naryPr>
                        <m:sub/>
                        <m:sup/>
                        <m:e>
                          <m:r>
                            <a:rPr lang="en-US" sz="1400" b="0" i="1" dirty="0" smtClean="0">
                              <a:latin typeface="Cambria Math" panose="02040503050406030204" pitchFamily="18" charset="0"/>
                              <a:ea typeface="Cambria Math" panose="02040503050406030204" pitchFamily="18" charset="0"/>
                            </a:rPr>
                            <m:t>𝑟ℎ</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𝑜</m:t>
                              </m:r>
                            </m:e>
                            <m:sub>
                              <m:r>
                                <a:rPr lang="en-US" sz="1400" b="0" i="1" dirty="0" smtClean="0">
                                  <a:latin typeface="Cambria Math" panose="02040503050406030204" pitchFamily="18" charset="0"/>
                                  <a:ea typeface="Cambria Math" panose="02040503050406030204" pitchFamily="18" charset="0"/>
                                </a:rPr>
                                <m:t>𝑖</m:t>
                              </m:r>
                            </m:sub>
                          </m:sSub>
                          <m:r>
                            <a:rPr lang="en-US" sz="1400" b="0" i="1" dirty="0" smtClean="0">
                              <a:latin typeface="Cambria Math" panose="02040503050406030204" pitchFamily="18" charset="0"/>
                              <a:ea typeface="Cambria Math" panose="02040503050406030204" pitchFamily="18" charset="0"/>
                            </a:rPr>
                            <m:t> </m:t>
                          </m:r>
                          <m:r>
                            <a:rPr lang="en-US" sz="1400" b="0" i="1" dirty="0" smtClean="0">
                              <a:latin typeface="Cambria Math" panose="02040503050406030204" pitchFamily="18" charset="0"/>
                              <a:ea typeface="Cambria Math" panose="02040503050406030204" pitchFamily="18" charset="0"/>
                            </a:rPr>
                            <m:t>𝑥</m:t>
                          </m:r>
                          <m:r>
                            <a:rPr lang="en-US" sz="1400" b="0" i="1" dirty="0" smtClean="0">
                              <a:latin typeface="Cambria Math" panose="02040503050406030204" pitchFamily="18" charset="0"/>
                              <a:ea typeface="Cambria Math" panose="02040503050406030204" pitchFamily="18" charset="0"/>
                            </a:rPr>
                            <m:t> </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𝐹</m:t>
                              </m:r>
                            </m:e>
                            <m:sub>
                              <m:r>
                                <a:rPr lang="en-US" sz="1400" b="0" i="1" dirty="0" smtClean="0">
                                  <a:latin typeface="Cambria Math" panose="02040503050406030204" pitchFamily="18" charset="0"/>
                                  <a:ea typeface="Cambria Math" panose="02040503050406030204" pitchFamily="18" charset="0"/>
                                </a:rPr>
                                <m:t>𝑖</m:t>
                              </m:r>
                            </m:sub>
                          </m:sSub>
                        </m:e>
                      </m:nary>
                    </m:oMath>
                  </m:oMathPara>
                </a14:m>
                <a:endParaRPr lang="en-IN" sz="1400" i="1" dirty="0">
                  <a:latin typeface="Cambria Math" panose="02040503050406030204" pitchFamily="18" charset="0"/>
                  <a:ea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4FEE77D0-FADC-44D6-3C3F-8D0608769706}"/>
                  </a:ext>
                </a:extLst>
              </p:cNvPr>
              <p:cNvSpPr txBox="1">
                <a:spLocks noRot="1" noChangeAspect="1" noMove="1" noResize="1" noEditPoints="1" noAdjustHandles="1" noChangeArrowheads="1" noChangeShapeType="1" noTextEdit="1"/>
              </p:cNvSpPr>
              <p:nvPr/>
            </p:nvSpPr>
            <p:spPr>
              <a:xfrm>
                <a:off x="124995" y="2792519"/>
                <a:ext cx="1649490" cy="1043491"/>
              </a:xfrm>
              <a:prstGeom prst="rect">
                <a:avLst/>
              </a:prstGeom>
              <a:blipFill>
                <a:blip r:embed="rId8"/>
                <a:stretch>
                  <a:fillRect l="-1111" t="-72515" r="-49259" b="-10233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17C07A6-5061-E5EF-3907-EA4E2EB49A5E}"/>
                  </a:ext>
                </a:extLst>
              </p:cNvPr>
              <p:cNvSpPr txBox="1"/>
              <p:nvPr/>
            </p:nvSpPr>
            <p:spPr>
              <a:xfrm>
                <a:off x="5478802" y="5259606"/>
                <a:ext cx="4069070" cy="938142"/>
              </a:xfrm>
              <a:prstGeom prst="rect">
                <a:avLst/>
              </a:prstGeom>
              <a:noFill/>
            </p:spPr>
            <p:txBody>
              <a:bodyPr wrap="square">
                <a:spAutoFit/>
              </a:bodyPr>
              <a:lstStyle/>
              <a:p>
                <a:pPr/>
                <a14:m>
                  <m:oMathPara xmlns:m="http://schemas.openxmlformats.org/officeDocument/2006/math">
                    <m:oMath>
                      <m:d>
                        <m:dPr>
                          <m:begChr m:val="["/>
                          <m:endChr m:val="]"/>
                          <m:ctrlPr>
                            <a:rPr lang="en-IN" sz="140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IN" sz="1400" i="1" smtClean="0">
                                  <a:solidFill>
                                    <a:schemeClr val="tx1"/>
                                  </a:solidFill>
                                  <a:latin typeface="Cambria Math" panose="02040503050406030204" pitchFamily="18" charset="0"/>
                                  <a:ea typeface="Cambria Math" panose="02040503050406030204" pitchFamily="18" charset="0"/>
                                </a:rPr>
                              </m:ctrlPr>
                            </m:mPr>
                            <m:mr>
                              <m:e>
                                <m:r>
                                  <m:rPr>
                                    <m:nor/>
                                  </m:rPr>
                                  <a:rPr lang="en-IN" sz="1400" i="1" dirty="0">
                                    <a:solidFill>
                                      <a:schemeClr val="tx1"/>
                                    </a:solidFill>
                                    <a:latin typeface="Cambria Math" panose="02040503050406030204" pitchFamily="18" charset="0"/>
                                    <a:ea typeface="Cambria Math" panose="02040503050406030204" pitchFamily="18" charset="0"/>
                                  </a:rPr>
                                  <m:t>I+Fn</m:t>
                                </m:r>
                              </m:e>
                              <m:e>
                                <m:r>
                                  <m:rPr>
                                    <m:nor/>
                                  </m:rPr>
                                  <a:rPr lang="en-IN" sz="1400" i="1" dirty="0">
                                    <a:solidFill>
                                      <a:schemeClr val="tx1"/>
                                    </a:solidFill>
                                    <a:latin typeface="Cambria Math" panose="02040503050406030204" pitchFamily="18" charset="0"/>
                                    <a:ea typeface="Cambria Math" panose="02040503050406030204" pitchFamily="18" charset="0"/>
                                  </a:rPr>
                                  <m:t>Ln</m:t>
                                </m:r>
                              </m:e>
                            </m:mr>
                            <m:mr>
                              <m:e>
                                <m:r>
                                  <m:rPr>
                                    <m:nor/>
                                  </m:rPr>
                                  <a:rPr lang="en-IN" sz="1400" i="1" dirty="0">
                                    <a:solidFill>
                                      <a:schemeClr val="tx1"/>
                                    </a:solidFill>
                                    <a:latin typeface="Cambria Math" panose="02040503050406030204" pitchFamily="18" charset="0"/>
                                    <a:ea typeface="Cambria Math" panose="02040503050406030204" pitchFamily="18" charset="0"/>
                                  </a:rPr>
                                  <m:t>Fm</m:t>
                                </m:r>
                              </m:e>
                              <m:e>
                                <m:r>
                                  <m:rPr>
                                    <m:nor/>
                                  </m:rPr>
                                  <a:rPr lang="en-IN" sz="1400" i="1" dirty="0">
                                    <a:solidFill>
                                      <a:schemeClr val="tx1"/>
                                    </a:solidFill>
                                    <a:latin typeface="Cambria Math" panose="02040503050406030204" pitchFamily="18" charset="0"/>
                                    <a:ea typeface="Cambria Math" panose="02040503050406030204" pitchFamily="18" charset="0"/>
                                  </a:rPr>
                                  <m:t>​​​​I+Lm</m:t>
                                </m:r>
                              </m:e>
                            </m:mr>
                          </m:m>
                        </m:e>
                      </m:d>
                      <m:r>
                        <a:rPr lang="en-US" sz="1400" b="0" i="1" smtClean="0">
                          <a:solidFill>
                            <a:schemeClr val="tx1"/>
                          </a:solidFill>
                          <a:latin typeface="Cambria Math" panose="02040503050406030204" pitchFamily="18" charset="0"/>
                          <a:ea typeface="Cambria Math" panose="02040503050406030204" pitchFamily="18" charset="0"/>
                        </a:rPr>
                        <m:t>(</m:t>
                      </m:r>
                      <m:m>
                        <m:mPr>
                          <m:mcs>
                            <m:mc>
                              <m:mcPr>
                                <m:count m:val="1"/>
                                <m:mcJc m:val="center"/>
                              </m:mcPr>
                            </m:mc>
                          </m:mcs>
                          <m:ctrlPr>
                            <a:rPr lang="en-IN" sz="1400" i="1" smtClean="0">
                              <a:solidFill>
                                <a:schemeClr val="tx1"/>
                              </a:solidFill>
                              <a:latin typeface="Cambria Math" panose="02040503050406030204" pitchFamily="18" charset="0"/>
                              <a:ea typeface="Cambria Math" panose="02040503050406030204" pitchFamily="18" charset="0"/>
                            </a:rPr>
                          </m:ctrlPr>
                        </m:mPr>
                        <m:mr>
                          <m:e>
                            <m:sSub>
                              <m:sSubPr>
                                <m:ctrlPr>
                                  <a:rPr lang="en-US" sz="1400" b="0" i="1" smtClean="0">
                                    <a:solidFill>
                                      <a:schemeClr val="tx1"/>
                                    </a:solidFill>
                                    <a:latin typeface="Cambria Math" panose="02040503050406030204" pitchFamily="18" charset="0"/>
                                    <a:ea typeface="Cambria Math" panose="02040503050406030204" pitchFamily="18" charset="0"/>
                                  </a:rPr>
                                </m:ctrlPr>
                              </m:sSubPr>
                              <m:e>
                                <m:r>
                                  <m:rPr>
                                    <m:brk m:alnAt="7"/>
                                  </m:rPr>
                                  <a:rPr lang="en-US" sz="1400" b="0" i="1" smtClean="0">
                                    <a:solidFill>
                                      <a:schemeClr val="tx1"/>
                                    </a:solidFill>
                                    <a:latin typeface="Cambria Math" panose="02040503050406030204" pitchFamily="18" charset="0"/>
                                    <a:ea typeface="Cambria Math" panose="02040503050406030204" pitchFamily="18" charset="0"/>
                                  </a:rPr>
                                  <m:t>𝑛</m:t>
                                </m:r>
                              </m:e>
                              <m:sub>
                                <m:r>
                                  <m:rPr>
                                    <m:brk m:alnAt="7"/>
                                  </m:rPr>
                                  <a:rPr lang="en-US" sz="1400" b="0" i="1" smtClean="0">
                                    <a:solidFill>
                                      <a:schemeClr val="tx1"/>
                                    </a:solidFill>
                                    <a:latin typeface="Cambria Math" panose="02040503050406030204" pitchFamily="18" charset="0"/>
                                    <a:ea typeface="Cambria Math" panose="02040503050406030204" pitchFamily="18" charset="0"/>
                                  </a:rPr>
                                  <m:t>𝑠</m:t>
                                </m:r>
                              </m:sub>
                            </m:sSub>
                          </m:e>
                        </m:mr>
                        <m:mr>
                          <m:e>
                            <m:sSub>
                              <m:sSubPr>
                                <m:ctrlPr>
                                  <a:rPr lang="en-US" sz="1400" b="0" i="1" smtClean="0">
                                    <a:solidFill>
                                      <a:schemeClr val="tx1"/>
                                    </a:solidFill>
                                    <a:latin typeface="Cambria Math" panose="02040503050406030204" pitchFamily="18" charset="0"/>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𝑚</m:t>
                                </m:r>
                              </m:e>
                              <m:sub>
                                <m:r>
                                  <a:rPr lang="en-US" sz="1400" b="0" i="1" smtClean="0">
                                    <a:solidFill>
                                      <a:schemeClr val="tx1"/>
                                    </a:solidFill>
                                    <a:latin typeface="Cambria Math" panose="02040503050406030204" pitchFamily="18" charset="0"/>
                                    <a:ea typeface="Cambria Math" panose="02040503050406030204" pitchFamily="18" charset="0"/>
                                  </a:rPr>
                                  <m:t>𝑠</m:t>
                                </m:r>
                              </m:sub>
                            </m:sSub>
                          </m:e>
                        </m:mr>
                      </m:m>
                      <m:r>
                        <a:rPr lang="en-US" sz="1400" b="0" i="1" smtClean="0">
                          <a:solidFill>
                            <a:schemeClr val="tx1"/>
                          </a:solidFill>
                          <a:latin typeface="Cambria Math" panose="02040503050406030204" pitchFamily="18" charset="0"/>
                          <a:ea typeface="Cambria Math" panose="02040503050406030204" pitchFamily="18" charset="0"/>
                        </a:rPr>
                        <m:t>)</m:t>
                      </m:r>
                      <m:r>
                        <m:rPr>
                          <m:nor/>
                        </m:rPr>
                        <a:rPr lang="en-IN" sz="1400" i="1" dirty="0">
                          <a:solidFill>
                            <a:schemeClr val="tx1"/>
                          </a:solidFill>
                          <a:latin typeface="Cambria Math" panose="02040503050406030204" pitchFamily="18" charset="0"/>
                          <a:ea typeface="Cambria Math" panose="02040503050406030204" pitchFamily="18" charset="0"/>
                        </a:rPr>
                        <m:t>=</m:t>
                      </m:r>
                      <m:r>
                        <a:rPr lang="en-US" sz="1400" i="1">
                          <a:solidFill>
                            <a:schemeClr val="tx1"/>
                          </a:solidFill>
                          <a:latin typeface="Cambria Math" panose="02040503050406030204" pitchFamily="18" charset="0"/>
                          <a:ea typeface="Cambria Math" panose="02040503050406030204" pitchFamily="18" charset="0"/>
                        </a:rPr>
                        <m:t>(</m:t>
                      </m:r>
                      <m:m>
                        <m:mPr>
                          <m:mcs>
                            <m:mc>
                              <m:mcPr>
                                <m:count m:val="1"/>
                                <m:mcJc m:val="center"/>
                              </m:mcPr>
                            </m:mc>
                          </m:mcs>
                          <m:ctrlPr>
                            <a:rPr lang="en-IN" sz="1400" i="1">
                              <a:solidFill>
                                <a:schemeClr val="tx1"/>
                              </a:solidFill>
                              <a:latin typeface="Cambria Math" panose="02040503050406030204" pitchFamily="18" charset="0"/>
                              <a:ea typeface="Cambria Math" panose="02040503050406030204" pitchFamily="18" charset="0"/>
                            </a:rPr>
                          </m:ctrlPr>
                        </m:mPr>
                        <m:mr>
                          <m:e>
                            <m:r>
                              <a:rPr lang="en-US" sz="1400" i="1" dirty="0">
                                <a:solidFill>
                                  <a:schemeClr val="tx1"/>
                                </a:solidFill>
                                <a:latin typeface="Cambria Math" panose="02040503050406030204" pitchFamily="18" charset="0"/>
                                <a:ea typeface="Cambria Math" panose="02040503050406030204" pitchFamily="18" charset="0"/>
                              </a:rPr>
                              <m:t>𝜌</m:t>
                            </m:r>
                            <m:sSub>
                              <m:sSubPr>
                                <m:ctrlPr>
                                  <a:rPr lang="en-US" sz="1400" b="0" i="1" smtClean="0">
                                    <a:solidFill>
                                      <a:schemeClr val="tx1"/>
                                    </a:solidFill>
                                    <a:latin typeface="Cambria Math" panose="02040503050406030204" pitchFamily="18" charset="0"/>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𝐴𝑟</m:t>
                                </m:r>
                              </m:e>
                              <m:sub>
                                <m:r>
                                  <a:rPr lang="en-US" sz="1400" b="0" i="1" smtClean="0">
                                    <a:solidFill>
                                      <a:schemeClr val="tx1"/>
                                    </a:solidFill>
                                    <a:latin typeface="Cambria Math" panose="02040503050406030204" pitchFamily="18" charset="0"/>
                                    <a:ea typeface="Cambria Math" panose="02040503050406030204" pitchFamily="18" charset="0"/>
                                  </a:rPr>
                                  <m:t>𝑡𝑡</m:t>
                                </m:r>
                              </m:sub>
                            </m:sSub>
                            <m:r>
                              <a:rPr lang="en-US" sz="1400" b="0" i="1" smtClean="0">
                                <a:solidFill>
                                  <a:schemeClr val="tx1"/>
                                </a:solidFill>
                                <a:latin typeface="Cambria Math" panose="02040503050406030204" pitchFamily="18" charset="0"/>
                                <a:ea typeface="Cambria Math" panose="02040503050406030204" pitchFamily="18" charset="0"/>
                              </a:rPr>
                              <m:t>−</m:t>
                            </m:r>
                            <m:sSub>
                              <m:sSubPr>
                                <m:ctrlPr>
                                  <a:rPr lang="en-US" sz="1400" b="0" i="1" smtClean="0">
                                    <a:solidFill>
                                      <a:schemeClr val="tx1"/>
                                    </a:solidFill>
                                    <a:latin typeface="Cambria Math" panose="02040503050406030204" pitchFamily="18" charset="0"/>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𝑓</m:t>
                                </m:r>
                              </m:e>
                              <m:sub>
                                <m:r>
                                  <a:rPr lang="en-US" sz="1400" b="0" i="1" smtClean="0">
                                    <a:solidFill>
                                      <a:schemeClr val="tx1"/>
                                    </a:solidFill>
                                    <a:latin typeface="Cambria Math" panose="02040503050406030204" pitchFamily="18" charset="0"/>
                                    <a:ea typeface="Cambria Math" panose="02040503050406030204" pitchFamily="18" charset="0"/>
                                  </a:rPr>
                                  <m:t>0</m:t>
                                </m:r>
                              </m:sub>
                            </m:sSub>
                          </m:e>
                        </m:mr>
                        <m:mr>
                          <m:e>
                            <m:sSub>
                              <m:sSubPr>
                                <m:ctrlPr>
                                  <a:rPr lang="en-US" sz="1400" b="0" i="1" smtClean="0">
                                    <a:solidFill>
                                      <a:schemeClr val="tx1"/>
                                    </a:solidFill>
                                    <a:latin typeface="Cambria Math" panose="02040503050406030204" pitchFamily="18" charset="0"/>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𝑅</m:t>
                                </m:r>
                                <m:r>
                                  <a:rPr lang="en-US" sz="1400" b="0" i="1" smtClean="0">
                                    <a:solidFill>
                                      <a:schemeClr val="tx1"/>
                                    </a:solidFill>
                                    <a:latin typeface="Cambria Math" panose="02040503050406030204" pitchFamily="18" charset="0"/>
                                    <a:ea typeface="Cambria Math" panose="02040503050406030204" pitchFamily="18" charset="0"/>
                                  </a:rPr>
                                  <m:t>(</m:t>
                                </m:r>
                                <m:r>
                                  <a:rPr lang="en-US" sz="1400" i="1" dirty="0">
                                    <a:solidFill>
                                      <a:schemeClr val="tx1"/>
                                    </a:solidFill>
                                    <a:latin typeface="Cambria Math" panose="02040503050406030204" pitchFamily="18" charset="0"/>
                                    <a:ea typeface="Cambria Math" panose="02040503050406030204" pitchFamily="18" charset="0"/>
                                  </a:rPr>
                                  <m:t>𝜌</m:t>
                                </m:r>
                                <m:r>
                                  <a:rPr lang="en-US" sz="1400" b="0" i="1" smtClean="0">
                                    <a:solidFill>
                                      <a:schemeClr val="tx1"/>
                                    </a:solidFill>
                                    <a:latin typeface="Cambria Math" panose="02040503050406030204" pitchFamily="18" charset="0"/>
                                    <a:ea typeface="Cambria Math" panose="02040503050406030204" pitchFamily="18" charset="0"/>
                                  </a:rPr>
                                  <m:t>𝐽𝑤</m:t>
                                </m:r>
                              </m:e>
                              <m:sub>
                                <m:r>
                                  <a:rPr lang="en-US" sz="1400" b="0" i="1" smtClean="0">
                                    <a:solidFill>
                                      <a:schemeClr val="tx1"/>
                                    </a:solidFill>
                                    <a:latin typeface="Cambria Math" panose="02040503050406030204" pitchFamily="18" charset="0"/>
                                    <a:ea typeface="Cambria Math" panose="02040503050406030204" pitchFamily="18" charset="0"/>
                                  </a:rPr>
                                  <m:t>𝑡</m:t>
                                </m:r>
                              </m:sub>
                            </m:sSub>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𝑤𝑥</m:t>
                            </m:r>
                            <m:r>
                              <a:rPr lang="en-US" sz="1400" b="0" i="1" smtClean="0">
                                <a:solidFill>
                                  <a:schemeClr val="tx1"/>
                                </a:solidFill>
                                <a:latin typeface="Cambria Math" panose="02040503050406030204" pitchFamily="18" charset="0"/>
                                <a:ea typeface="Cambria Math" panose="02040503050406030204" pitchFamily="18" charset="0"/>
                              </a:rPr>
                              <m:t>(</m:t>
                            </m:r>
                            <m:r>
                              <a:rPr lang="en-US" sz="1400" i="1" dirty="0">
                                <a:solidFill>
                                  <a:schemeClr val="tx1"/>
                                </a:solidFill>
                                <a:latin typeface="Cambria Math" panose="02040503050406030204" pitchFamily="18" charset="0"/>
                                <a:ea typeface="Cambria Math" panose="02040503050406030204" pitchFamily="18" charset="0"/>
                              </a:rPr>
                              <m:t>𝜌</m:t>
                            </m:r>
                            <m:r>
                              <a:rPr lang="en-US" sz="1400" b="0" i="1" smtClean="0">
                                <a:solidFill>
                                  <a:schemeClr val="tx1"/>
                                </a:solidFill>
                                <a:latin typeface="Cambria Math" panose="02040503050406030204" pitchFamily="18" charset="0"/>
                                <a:ea typeface="Cambria Math" panose="02040503050406030204" pitchFamily="18" charset="0"/>
                              </a:rPr>
                              <m:t>𝐽𝑤</m:t>
                            </m:r>
                            <m:r>
                              <a:rPr lang="en-US" sz="1400" b="0" i="1" smtClean="0">
                                <a:solidFill>
                                  <a:schemeClr val="tx1"/>
                                </a:solidFill>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𝑙</m:t>
                                </m:r>
                              </m:e>
                              <m:sub>
                                <m:r>
                                  <a:rPr lang="en-US" sz="1400" i="1">
                                    <a:latin typeface="Cambria Math" panose="02040503050406030204" pitchFamily="18" charset="0"/>
                                    <a:ea typeface="Cambria Math" panose="02040503050406030204" pitchFamily="18" charset="0"/>
                                  </a:rPr>
                                  <m:t>0</m:t>
                                </m:r>
                              </m:sub>
                            </m:sSub>
                          </m:e>
                        </m:mr>
                      </m:m>
                      <m:r>
                        <a:rPr lang="en-US" sz="1400" i="1">
                          <a:solidFill>
                            <a:schemeClr val="tx1"/>
                          </a:solidFill>
                          <a:latin typeface="Cambria Math" panose="02040503050406030204" pitchFamily="18" charset="0"/>
                          <a:ea typeface="Cambria Math" panose="02040503050406030204" pitchFamily="18" charset="0"/>
                        </a:rPr>
                        <m:t>)</m:t>
                      </m:r>
                    </m:oMath>
                  </m:oMathPara>
                </a14:m>
                <a:endParaRPr lang="en-IN" sz="1400" i="1" dirty="0">
                  <a:solidFill>
                    <a:schemeClr val="tx1"/>
                  </a:solidFill>
                  <a:latin typeface="Cambria Math" panose="02040503050406030204" pitchFamily="18" charset="0"/>
                  <a:ea typeface="Cambria Math" panose="02040503050406030204" pitchFamily="18" charset="0"/>
                </a:endParaRPr>
              </a:p>
              <a:p>
                <a:endParaRPr lang="en-US" sz="14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
                      <m:r>
                        <a:rPr lang="en-US" sz="1400" i="1" dirty="0" smtClean="0">
                          <a:solidFill>
                            <a:schemeClr val="tx1"/>
                          </a:solidFill>
                          <a:latin typeface="Cambria Math" panose="02040503050406030204" pitchFamily="18" charset="0"/>
                          <a:ea typeface="Cambria Math" panose="02040503050406030204" pitchFamily="18" charset="0"/>
                        </a:rPr>
                        <m:t>𝑓</m:t>
                      </m:r>
                      <m:r>
                        <a:rPr lang="en-US" sz="1400" b="0" i="1" dirty="0" smtClean="0">
                          <a:solidFill>
                            <a:schemeClr val="tx1"/>
                          </a:solidFill>
                          <a:latin typeface="Cambria Math" panose="02040503050406030204" pitchFamily="18" charset="0"/>
                          <a:ea typeface="Cambria Math" panose="02040503050406030204" pitchFamily="18" charset="0"/>
                        </a:rPr>
                        <m:t>,</m:t>
                      </m:r>
                      <m:r>
                        <a:rPr lang="en-US" sz="1400" b="0" i="1" dirty="0" smtClean="0">
                          <a:solidFill>
                            <a:schemeClr val="tx1"/>
                          </a:solidFill>
                          <a:latin typeface="Cambria Math" panose="02040503050406030204" pitchFamily="18" charset="0"/>
                          <a:ea typeface="Cambria Math" panose="02040503050406030204" pitchFamily="18" charset="0"/>
                        </a:rPr>
                        <m:t>𝑙</m:t>
                      </m:r>
                      <m:r>
                        <a:rPr lang="en-US" sz="1400" b="0" i="1" dirty="0" smtClean="0">
                          <a:solidFill>
                            <a:schemeClr val="tx1"/>
                          </a:solidFill>
                          <a:latin typeface="Cambria Math" panose="02040503050406030204" pitchFamily="18" charset="0"/>
                          <a:ea typeface="Cambria Math" panose="02040503050406030204" pitchFamily="18" charset="0"/>
                        </a:rPr>
                        <m:t> </m:t>
                      </m:r>
                      <m:r>
                        <a:rPr lang="en-US" sz="1400" b="0" i="1" dirty="0" smtClean="0">
                          <a:solidFill>
                            <a:schemeClr val="tx1"/>
                          </a:solidFill>
                          <a:latin typeface="Cambria Math" panose="02040503050406030204" pitchFamily="18" charset="0"/>
                          <a:ea typeface="Cambria Math" panose="02040503050406030204" pitchFamily="18" charset="0"/>
                        </a:rPr>
                        <m:t>𝑎𝑟𝑒</m:t>
                      </m:r>
                      <m:r>
                        <a:rPr lang="en-US" sz="1400" b="0" i="1" dirty="0" smtClean="0">
                          <a:solidFill>
                            <a:schemeClr val="tx1"/>
                          </a:solidFill>
                          <a:latin typeface="Cambria Math" panose="02040503050406030204" pitchFamily="18" charset="0"/>
                          <a:ea typeface="Cambria Math" panose="02040503050406030204" pitchFamily="18" charset="0"/>
                        </a:rPr>
                        <m:t> </m:t>
                      </m:r>
                      <m:r>
                        <a:rPr lang="en-US" sz="1400" b="0" i="1" dirty="0" smtClean="0">
                          <a:solidFill>
                            <a:schemeClr val="tx1"/>
                          </a:solidFill>
                          <a:latin typeface="Cambria Math" panose="02040503050406030204" pitchFamily="18" charset="0"/>
                          <a:ea typeface="Cambria Math" panose="02040503050406030204" pitchFamily="18" charset="0"/>
                        </a:rPr>
                        <m:t>𝑓𝑢𝑛𝑐</m:t>
                      </m:r>
                      <m:r>
                        <a:rPr lang="en-US" sz="1400" b="0" i="1" dirty="0" smtClean="0">
                          <a:solidFill>
                            <a:schemeClr val="tx1"/>
                          </a:solidFill>
                          <a:latin typeface="Cambria Math" panose="02040503050406030204" pitchFamily="18" charset="0"/>
                          <a:ea typeface="Cambria Math" panose="02040503050406030204" pitchFamily="18" charset="0"/>
                        </a:rPr>
                        <m:t>(</m:t>
                      </m:r>
                      <m:sSub>
                        <m:sSubPr>
                          <m:ctrlPr>
                            <a:rPr lang="en-US" sz="1400" b="0" i="1" dirty="0" smtClean="0">
                              <a:solidFill>
                                <a:schemeClr val="tx1"/>
                              </a:solidFill>
                              <a:latin typeface="Cambria Math" panose="02040503050406030204" pitchFamily="18" charset="0"/>
                              <a:ea typeface="Cambria Math" panose="02040503050406030204" pitchFamily="18" charset="0"/>
                            </a:rPr>
                          </m:ctrlPr>
                        </m:sSubPr>
                        <m:e>
                          <m:r>
                            <a:rPr lang="en-US" sz="1400" b="0" i="1" dirty="0" smtClean="0">
                              <a:solidFill>
                                <a:schemeClr val="tx1"/>
                              </a:solidFill>
                              <a:latin typeface="Cambria Math" panose="02040503050406030204" pitchFamily="18" charset="0"/>
                              <a:ea typeface="Cambria Math" panose="02040503050406030204" pitchFamily="18" charset="0"/>
                            </a:rPr>
                            <m:t>𝑛</m:t>
                          </m:r>
                        </m:e>
                        <m:sub>
                          <m:r>
                            <a:rPr lang="en-US" sz="1400" b="0" i="1" dirty="0" smtClean="0">
                              <a:solidFill>
                                <a:schemeClr val="tx1"/>
                              </a:solidFill>
                              <a:latin typeface="Cambria Math" panose="02040503050406030204" pitchFamily="18" charset="0"/>
                              <a:ea typeface="Cambria Math" panose="02040503050406030204" pitchFamily="18" charset="0"/>
                            </a:rPr>
                            <m:t>𝑠</m:t>
                          </m:r>
                        </m:sub>
                      </m:sSub>
                      <m:r>
                        <a:rPr lang="en-US" sz="1400" b="0" i="1" dirty="0" smtClean="0">
                          <a:solidFill>
                            <a:schemeClr val="tx1"/>
                          </a:solidFill>
                          <a:latin typeface="Cambria Math" panose="02040503050406030204" pitchFamily="18" charset="0"/>
                          <a:ea typeface="Cambria Math" panose="02040503050406030204" pitchFamily="18" charset="0"/>
                        </a:rPr>
                        <m:t>,</m:t>
                      </m:r>
                      <m:sSub>
                        <m:sSubPr>
                          <m:ctrlPr>
                            <a:rPr lang="en-US" sz="1400" b="0" i="1" dirty="0" smtClean="0">
                              <a:solidFill>
                                <a:schemeClr val="tx1"/>
                              </a:solidFill>
                              <a:latin typeface="Cambria Math" panose="02040503050406030204" pitchFamily="18" charset="0"/>
                              <a:ea typeface="Cambria Math" panose="02040503050406030204" pitchFamily="18" charset="0"/>
                            </a:rPr>
                          </m:ctrlPr>
                        </m:sSubPr>
                        <m:e>
                          <m:r>
                            <a:rPr lang="en-US" sz="1400" b="0" i="1" dirty="0" smtClean="0">
                              <a:solidFill>
                                <a:schemeClr val="tx1"/>
                              </a:solidFill>
                              <a:latin typeface="Cambria Math" panose="02040503050406030204" pitchFamily="18" charset="0"/>
                              <a:ea typeface="Cambria Math" panose="02040503050406030204" pitchFamily="18" charset="0"/>
                            </a:rPr>
                            <m:t>𝑚</m:t>
                          </m:r>
                        </m:e>
                        <m:sub>
                          <m:r>
                            <a:rPr lang="en-US" sz="1400" b="0" i="1" dirty="0" smtClean="0">
                              <a:solidFill>
                                <a:schemeClr val="tx1"/>
                              </a:solidFill>
                              <a:latin typeface="Cambria Math" panose="02040503050406030204" pitchFamily="18" charset="0"/>
                              <a:ea typeface="Cambria Math" panose="02040503050406030204" pitchFamily="18" charset="0"/>
                            </a:rPr>
                            <m:t>𝑠</m:t>
                          </m:r>
                        </m:sub>
                      </m:sSub>
                      <m:r>
                        <a:rPr lang="en-US" sz="1400" b="0" i="1" dirty="0" smtClean="0">
                          <a:solidFill>
                            <a:schemeClr val="tx1"/>
                          </a:solidFill>
                          <a:latin typeface="Cambria Math" panose="02040503050406030204" pitchFamily="18" charset="0"/>
                          <a:ea typeface="Cambria Math" panose="02040503050406030204" pitchFamily="18" charset="0"/>
                        </a:rPr>
                        <m:t>)</m:t>
                      </m:r>
                    </m:oMath>
                  </m:oMathPara>
                </a14:m>
                <a:endParaRPr lang="en-IN" sz="1400" i="1" dirty="0">
                  <a:solidFill>
                    <a:schemeClr val="tx1"/>
                  </a:solidFill>
                  <a:latin typeface="Cambria Math" panose="02040503050406030204" pitchFamily="18" charset="0"/>
                  <a:ea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817C07A6-5061-E5EF-3907-EA4E2EB49A5E}"/>
                  </a:ext>
                </a:extLst>
              </p:cNvPr>
              <p:cNvSpPr txBox="1">
                <a:spLocks noRot="1" noChangeAspect="1" noMove="1" noResize="1" noEditPoints="1" noAdjustHandles="1" noChangeArrowheads="1" noChangeShapeType="1" noTextEdit="1"/>
              </p:cNvSpPr>
              <p:nvPr/>
            </p:nvSpPr>
            <p:spPr>
              <a:xfrm>
                <a:off x="5478802" y="5259606"/>
                <a:ext cx="4069070" cy="938142"/>
              </a:xfrm>
              <a:prstGeom prst="rect">
                <a:avLst/>
              </a:prstGeom>
              <a:blipFill>
                <a:blip r:embed="rId9"/>
                <a:stretch>
                  <a:fillRect b="-2597"/>
                </a:stretch>
              </a:blipFill>
            </p:spPr>
            <p:txBody>
              <a:bodyPr/>
              <a:lstStyle/>
              <a:p>
                <a:r>
                  <a:rPr lang="en-IN">
                    <a:noFill/>
                  </a:rPr>
                  <a:t> </a:t>
                </a:r>
              </a:p>
            </p:txBody>
          </p:sp>
        </mc:Fallback>
      </mc:AlternateContent>
    </p:spTree>
    <p:extLst>
      <p:ext uri="{BB962C8B-B14F-4D97-AF65-F5344CB8AC3E}">
        <p14:creationId xmlns:p14="http://schemas.microsoft.com/office/powerpoint/2010/main" val="72620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6B15-B591-89C3-C530-5A965875B5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562136-1180-7AFD-3B23-B33341A7BBBB}"/>
              </a:ext>
            </a:extLst>
          </p:cNvPr>
          <p:cNvSpPr txBox="1"/>
          <p:nvPr/>
        </p:nvSpPr>
        <p:spPr>
          <a:xfrm>
            <a:off x="833120" y="370435"/>
            <a:ext cx="5564152"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coupled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6310B464-9F89-8C87-B8AD-65C0489396CC}"/>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7916450-8D3E-0A9F-BC9E-2C9707E911BB}"/>
                  </a:ext>
                </a:extLst>
              </p:cNvPr>
              <p:cNvSpPr txBox="1"/>
              <p:nvPr/>
            </p:nvSpPr>
            <p:spPr>
              <a:xfrm>
                <a:off x="8071775" y="1686746"/>
                <a:ext cx="3995229" cy="3981988"/>
              </a:xfrm>
              <a:prstGeom prst="rect">
                <a:avLst/>
              </a:prstGeom>
              <a:noFill/>
            </p:spPr>
            <p:txBody>
              <a:bodyPr wrap="square">
                <a:spAutoFit/>
              </a:bodyPr>
              <a:lstStyle/>
              <a:p>
                <a:pPr>
                  <a:defRPr sz="2000">
                    <a:solidFill>
                      <a:srgbClr val="142237"/>
                    </a:solidFill>
                  </a:defRPr>
                </a:pPr>
                <a:r>
                  <a:rPr lang="en-US" sz="14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400" i="1" dirty="0" smtClean="0">
                          <a:latin typeface="Cambria Math" panose="02040503050406030204" pitchFamily="18" charset="0"/>
                          <a:ea typeface="Cambria Math" panose="02040503050406030204" pitchFamily="18" charset="0"/>
                        </a:rPr>
                        <m:t> </m:t>
                      </m:r>
                      <m:r>
                        <a:rPr lang="en-US" sz="1400" b="0" i="1" dirty="0" smtClean="0">
                          <a:latin typeface="Cambria Math" panose="02040503050406030204" pitchFamily="18" charset="0"/>
                          <a:ea typeface="Cambria Math" panose="02040503050406030204" pitchFamily="18" charset="0"/>
                        </a:rPr>
                        <m:t>𝑣</m:t>
                      </m:r>
                      <m:r>
                        <a:rPr lang="en-US" sz="1400" i="1" dirty="0" smtClean="0">
                          <a:latin typeface="Cambria Math" panose="02040503050406030204" pitchFamily="18" charset="0"/>
                          <a:ea typeface="Cambria Math" panose="02040503050406030204" pitchFamily="18" charset="0"/>
                        </a:rPr>
                        <m:t> = </m:t>
                      </m:r>
                      <m:sSup>
                        <m:sSupPr>
                          <m:ctrlPr>
                            <a:rPr lang="pt-BR" sz="1400" i="1" dirty="0" smtClean="0">
                              <a:latin typeface="Cambria Math" panose="02040503050406030204" pitchFamily="18" charset="0"/>
                              <a:ea typeface="Cambria Math" panose="02040503050406030204" pitchFamily="18" charset="0"/>
                            </a:rPr>
                          </m:ctrlPr>
                        </m:sSupPr>
                        <m:e>
                          <m:sSubSup>
                            <m:sSubSupPr>
                              <m:ctrlPr>
                                <a:rPr lang="pt-BR" sz="1400" i="1" dirty="0" smtClean="0">
                                  <a:latin typeface="Cambria Math" panose="02040503050406030204" pitchFamily="18" charset="0"/>
                                  <a:ea typeface="Cambria Math" panose="02040503050406030204" pitchFamily="18" charset="0"/>
                                </a:rPr>
                              </m:ctrlPr>
                            </m:sSubSupPr>
                            <m:e>
                              <m:r>
                                <a:rPr lang="pt-BR" sz="1400" i="1" dirty="0" smtClean="0">
                                  <a:latin typeface="Cambria Math" panose="02040503050406030204" pitchFamily="18" charset="0"/>
                                  <a:ea typeface="Cambria Math" panose="02040503050406030204" pitchFamily="18" charset="0"/>
                                </a:rPr>
                                <m:t>𝐾</m:t>
                              </m:r>
                            </m:e>
                            <m:sub>
                              <m:r>
                                <a:rPr lang="en-US" sz="1400" b="0" i="1" dirty="0" smtClean="0">
                                  <a:latin typeface="Cambria Math" panose="02040503050406030204" pitchFamily="18" charset="0"/>
                                  <a:ea typeface="Cambria Math" panose="02040503050406030204" pitchFamily="18" charset="0"/>
                                </a:rPr>
                                <m:t>𝑠𝑒</m:t>
                              </m:r>
                            </m:sub>
                            <m:sup>
                              <m:r>
                                <a:rPr lang="en-US" sz="1400" b="0" i="1" dirty="0" smtClean="0">
                                  <a:latin typeface="Cambria Math" panose="02040503050406030204" pitchFamily="18" charset="0"/>
                                  <a:ea typeface="Cambria Math" panose="02040503050406030204" pitchFamily="18" charset="0"/>
                                </a:rPr>
                                <m:t>−1</m:t>
                              </m:r>
                            </m:sup>
                          </m:sSubSup>
                          <m:r>
                            <a:rPr lang="en-US" sz="1400" b="0" i="1" dirty="0" smtClean="0">
                              <a:latin typeface="Cambria Math" panose="02040503050406030204" pitchFamily="18" charset="0"/>
                              <a:ea typeface="Cambria Math" panose="02040503050406030204" pitchFamily="18" charset="0"/>
                            </a:rPr>
                            <m:t> </m:t>
                          </m:r>
                          <m:r>
                            <a:rPr lang="pt-BR" sz="1400" i="1" dirty="0" smtClean="0">
                              <a:latin typeface="Cambria Math" panose="02040503050406030204" pitchFamily="18" charset="0"/>
                              <a:ea typeface="Cambria Math" panose="02040503050406030204" pitchFamily="18" charset="0"/>
                            </a:rPr>
                            <m:t>𝑅</m:t>
                          </m:r>
                        </m:e>
                        <m:sup>
                          <m:r>
                            <a:rPr lang="en-US" sz="1400" b="0" i="1" dirty="0" smtClean="0">
                              <a:latin typeface="Cambria Math" panose="02040503050406030204" pitchFamily="18" charset="0"/>
                              <a:ea typeface="Cambria Math" panose="02040503050406030204" pitchFamily="18" charset="0"/>
                            </a:rPr>
                            <m:t>𝑇</m:t>
                          </m:r>
                        </m:sup>
                      </m:sSup>
                      <m:r>
                        <a:rPr lang="en-US" sz="1400" b="0" i="1" dirty="0" smtClean="0">
                          <a:latin typeface="Cambria Math" panose="02040503050406030204" pitchFamily="18" charset="0"/>
                          <a:ea typeface="Cambria Math" panose="02040503050406030204" pitchFamily="18" charset="0"/>
                        </a:rPr>
                        <m:t>𝑛</m:t>
                      </m:r>
                      <m:r>
                        <a:rPr lang="en-US" sz="1400" b="0" i="1" dirty="0" smtClean="0">
                          <a:latin typeface="Cambria Math" panose="02040503050406030204" pitchFamily="18" charset="0"/>
                          <a:ea typeface="Cambria Math" panose="02040503050406030204" pitchFamily="18" charset="0"/>
                        </a:rPr>
                        <m:t>+</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𝑣</m:t>
                          </m:r>
                        </m:e>
                        <m:sup>
                          <m:r>
                            <a:rPr lang="en-US" sz="1400" b="0" i="1" dirty="0" smtClean="0">
                              <a:latin typeface="Cambria Math" panose="02040503050406030204" pitchFamily="18" charset="0"/>
                              <a:ea typeface="Cambria Math" panose="02040503050406030204" pitchFamily="18" charset="0"/>
                            </a:rPr>
                            <m:t>∗</m:t>
                          </m:r>
                        </m:sup>
                      </m:sSup>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400" b="0" i="1" dirty="0" smtClean="0">
                          <a:latin typeface="Cambria Math" panose="02040503050406030204" pitchFamily="18" charset="0"/>
                          <a:ea typeface="Cambria Math" panose="02040503050406030204" pitchFamily="18" charset="0"/>
                        </a:rPr>
                        <m:t>𝑢</m:t>
                      </m:r>
                      <m:r>
                        <a:rPr lang="pt-BR" sz="1400" i="1" dirty="0" smtClean="0">
                          <a:latin typeface="Cambria Math" panose="02040503050406030204" pitchFamily="18" charset="0"/>
                          <a:ea typeface="Cambria Math" panose="02040503050406030204" pitchFamily="18" charset="0"/>
                        </a:rPr>
                        <m:t> =</m:t>
                      </m:r>
                      <m:sSup>
                        <m:sSupPr>
                          <m:ctrlPr>
                            <a:rPr lang="pt-BR" sz="1400" i="1" dirty="0" smtClean="0">
                              <a:latin typeface="Cambria Math" panose="02040503050406030204" pitchFamily="18" charset="0"/>
                              <a:ea typeface="Cambria Math" panose="02040503050406030204" pitchFamily="18" charset="0"/>
                            </a:rPr>
                          </m:ctrlPr>
                        </m:sSupPr>
                        <m:e>
                          <m:sSubSup>
                            <m:sSubSupPr>
                              <m:ctrlPr>
                                <a:rPr lang="pt-BR" sz="1400" i="1" dirty="0" smtClean="0">
                                  <a:latin typeface="Cambria Math" panose="02040503050406030204" pitchFamily="18" charset="0"/>
                                  <a:ea typeface="Cambria Math" panose="02040503050406030204" pitchFamily="18" charset="0"/>
                                </a:rPr>
                              </m:ctrlPr>
                            </m:sSubSupPr>
                            <m:e>
                              <m:r>
                                <a:rPr lang="pt-BR" sz="1400" i="1" dirty="0" smtClean="0">
                                  <a:latin typeface="Cambria Math" panose="02040503050406030204" pitchFamily="18" charset="0"/>
                                  <a:ea typeface="Cambria Math" panose="02040503050406030204" pitchFamily="18" charset="0"/>
                                </a:rPr>
                                <m:t>𝐾</m:t>
                              </m:r>
                            </m:e>
                            <m:sub>
                              <m:r>
                                <a:rPr lang="pt-BR" sz="1400" i="1" dirty="0" smtClean="0">
                                  <a:latin typeface="Cambria Math" panose="02040503050406030204" pitchFamily="18" charset="0"/>
                                  <a:ea typeface="Cambria Math" panose="02040503050406030204" pitchFamily="18" charset="0"/>
                                </a:rPr>
                                <m:t>𝑏</m:t>
                              </m:r>
                              <m:r>
                                <a:rPr lang="en-US" sz="1400" b="0" i="1" dirty="0" smtClean="0">
                                  <a:latin typeface="Cambria Math" panose="02040503050406030204" pitchFamily="18" charset="0"/>
                                  <a:ea typeface="Cambria Math" panose="02040503050406030204" pitchFamily="18" charset="0"/>
                                </a:rPr>
                                <m:t>𝑡</m:t>
                              </m:r>
                            </m:sub>
                            <m:sup>
                              <m:r>
                                <a:rPr lang="en-US" sz="1400" i="1" dirty="0" smtClean="0">
                                  <a:latin typeface="Cambria Math" panose="02040503050406030204" pitchFamily="18" charset="0"/>
                                  <a:ea typeface="Cambria Math" panose="02040503050406030204" pitchFamily="18" charset="0"/>
                                </a:rPr>
                                <m:t>−1</m:t>
                              </m:r>
                            </m:sup>
                          </m:sSubSup>
                          <m:r>
                            <a:rPr lang="en-US" sz="1400" i="1" dirty="0" smtClean="0">
                              <a:latin typeface="Cambria Math" panose="02040503050406030204" pitchFamily="18" charset="0"/>
                              <a:ea typeface="Cambria Math" panose="02040503050406030204" pitchFamily="18" charset="0"/>
                            </a:rPr>
                            <m:t> </m:t>
                          </m:r>
                          <m:r>
                            <a:rPr lang="pt-BR" sz="1400" i="1" dirty="0" smtClean="0">
                              <a:latin typeface="Cambria Math" panose="02040503050406030204" pitchFamily="18" charset="0"/>
                              <a:ea typeface="Cambria Math" panose="02040503050406030204" pitchFamily="18" charset="0"/>
                            </a:rPr>
                            <m:t>𝑅</m:t>
                          </m:r>
                        </m:e>
                        <m:sup>
                          <m:r>
                            <a:rPr lang="en-US" sz="1400" i="1" dirty="0" smtClean="0">
                              <a:latin typeface="Cambria Math" panose="02040503050406030204" pitchFamily="18" charset="0"/>
                              <a:ea typeface="Cambria Math" panose="02040503050406030204" pitchFamily="18" charset="0"/>
                            </a:rPr>
                            <m:t>𝑇</m:t>
                          </m:r>
                        </m:sup>
                      </m:sSup>
                      <m:r>
                        <a:rPr lang="en-US" sz="1400" b="0" i="1" dirty="0" smtClean="0">
                          <a:latin typeface="Cambria Math" panose="02040503050406030204" pitchFamily="18" charset="0"/>
                          <a:ea typeface="Cambria Math" panose="02040503050406030204" pitchFamily="18" charset="0"/>
                        </a:rPr>
                        <m:t>𝑚</m:t>
                      </m:r>
                      <m:r>
                        <a:rPr lang="en-US" sz="1400" b="0" i="1" dirty="0" smtClean="0">
                          <a:latin typeface="Cambria Math" panose="02040503050406030204" pitchFamily="18" charset="0"/>
                          <a:ea typeface="Cambria Math" panose="02040503050406030204" pitchFamily="18" charset="0"/>
                        </a:rPr>
                        <m:t>+</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𝑢</m:t>
                          </m:r>
                        </m:e>
                        <m:sup>
                          <m:r>
                            <a:rPr lang="en-US" sz="1400" b="0" i="1" dirty="0" smtClean="0">
                              <a:latin typeface="Cambria Math" panose="02040503050406030204" pitchFamily="18" charset="0"/>
                              <a:ea typeface="Cambria Math" panose="02040503050406030204" pitchFamily="18" charset="0"/>
                            </a:rPr>
                            <m:t>∗</m:t>
                          </m:r>
                        </m:sup>
                      </m:sSup>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400" i="1" dirty="0" smtClean="0">
                              <a:latin typeface="Cambria Math" panose="02040503050406030204" pitchFamily="18" charset="0"/>
                              <a:ea typeface="Cambria Math" panose="02040503050406030204" pitchFamily="18" charset="0"/>
                            </a:rPr>
                          </m:ctrlPr>
                        </m:sSubPr>
                        <m:e>
                          <m:r>
                            <a:rPr lang="en-IN" sz="1400" i="1" dirty="0" smtClean="0">
                              <a:latin typeface="Cambria Math" panose="02040503050406030204" pitchFamily="18" charset="0"/>
                              <a:ea typeface="Cambria Math" panose="02040503050406030204" pitchFamily="18" charset="0"/>
                            </a:rPr>
                            <m:t>𝐾</m:t>
                          </m:r>
                        </m:e>
                        <m:sub>
                          <m:r>
                            <a:rPr lang="en-IN" sz="1400" i="1" dirty="0" smtClean="0">
                              <a:latin typeface="Cambria Math" panose="02040503050406030204" pitchFamily="18" charset="0"/>
                              <a:ea typeface="Cambria Math" panose="02040503050406030204" pitchFamily="18" charset="0"/>
                            </a:rPr>
                            <m:t>𝑠𝑒</m:t>
                          </m:r>
                        </m:sub>
                      </m:sSub>
                      <m:r>
                        <a:rPr lang="en-IN" sz="1400" i="1" dirty="0" smtClean="0">
                          <a:latin typeface="Cambria Math" panose="02040503050406030204" pitchFamily="18" charset="0"/>
                          <a:ea typeface="Cambria Math" panose="02040503050406030204" pitchFamily="18" charset="0"/>
                        </a:rPr>
                        <m:t> = </m:t>
                      </m:r>
                      <m:r>
                        <a:rPr lang="en-IN" sz="1400" i="1" dirty="0" smtClean="0">
                          <a:latin typeface="Cambria Math" panose="02040503050406030204" pitchFamily="18" charset="0"/>
                          <a:ea typeface="Cambria Math" panose="02040503050406030204" pitchFamily="18" charset="0"/>
                        </a:rPr>
                        <m:t>𝑑𝑖𝑎𝑔</m:t>
                      </m:r>
                      <m:d>
                        <m:dPr>
                          <m:ctrlPr>
                            <a:rPr lang="en-IN" sz="1400" i="1" dirty="0" smtClean="0">
                              <a:latin typeface="Cambria Math" panose="02040503050406030204" pitchFamily="18" charset="0"/>
                              <a:ea typeface="Cambria Math" panose="02040503050406030204" pitchFamily="18" charset="0"/>
                            </a:rPr>
                          </m:ctrlPr>
                        </m:dPr>
                        <m:e>
                          <m:r>
                            <a:rPr lang="en-IN" sz="1400" i="1" dirty="0" smtClean="0">
                              <a:latin typeface="Cambria Math" panose="02040503050406030204" pitchFamily="18" charset="0"/>
                              <a:ea typeface="Cambria Math" panose="02040503050406030204" pitchFamily="18" charset="0"/>
                            </a:rPr>
                            <m:t>𝐺𝐴</m:t>
                          </m:r>
                          <m:r>
                            <a:rPr lang="en-IN" sz="140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𝐺𝐴</m:t>
                          </m:r>
                          <m:r>
                            <a:rPr lang="en-IN" sz="140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𝐸𝐴</m:t>
                          </m:r>
                        </m:e>
                      </m:d>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400" i="1" dirty="0" smtClean="0">
                              <a:latin typeface="Cambria Math" panose="02040503050406030204" pitchFamily="18" charset="0"/>
                              <a:ea typeface="Cambria Math" panose="02040503050406030204" pitchFamily="18" charset="0"/>
                            </a:rPr>
                          </m:ctrlPr>
                        </m:sSubPr>
                        <m:e>
                          <m:r>
                            <a:rPr lang="en-IN" sz="1400" i="1" dirty="0" smtClean="0">
                              <a:latin typeface="Cambria Math" panose="02040503050406030204" pitchFamily="18" charset="0"/>
                              <a:ea typeface="Cambria Math" panose="02040503050406030204" pitchFamily="18" charset="0"/>
                            </a:rPr>
                            <m:t>𝐾</m:t>
                          </m:r>
                        </m:e>
                        <m:sub>
                          <m:r>
                            <a:rPr lang="en-IN" sz="1400" i="1" dirty="0" smtClean="0">
                              <a:latin typeface="Cambria Math" panose="02040503050406030204" pitchFamily="18" charset="0"/>
                              <a:ea typeface="Cambria Math" panose="02040503050406030204" pitchFamily="18" charset="0"/>
                            </a:rPr>
                            <m:t>𝑏𝑡</m:t>
                          </m:r>
                        </m:sub>
                      </m:sSub>
                      <m:r>
                        <a:rPr lang="en-IN" sz="1400" i="1" dirty="0" smtClean="0">
                          <a:latin typeface="Cambria Math" panose="02040503050406030204" pitchFamily="18" charset="0"/>
                          <a:ea typeface="Cambria Math" panose="02040503050406030204" pitchFamily="18" charset="0"/>
                        </a:rPr>
                        <m:t> = </m:t>
                      </m:r>
                      <m:r>
                        <a:rPr lang="en-IN" sz="1400" i="1" dirty="0" smtClean="0">
                          <a:latin typeface="Cambria Math" panose="02040503050406030204" pitchFamily="18" charset="0"/>
                          <a:ea typeface="Cambria Math" panose="02040503050406030204" pitchFamily="18" charset="0"/>
                        </a:rPr>
                        <m:t>𝑑𝑖𝑎𝑔</m:t>
                      </m:r>
                      <m:r>
                        <a:rPr lang="en-IN" sz="1400" i="1" dirty="0" smtClean="0">
                          <a:latin typeface="Cambria Math" panose="02040503050406030204" pitchFamily="18" charset="0"/>
                          <a:ea typeface="Cambria Math" panose="02040503050406030204" pitchFamily="18" charset="0"/>
                        </a:rPr>
                        <m:t>(</m:t>
                      </m:r>
                      <m:r>
                        <a:rPr lang="en-IN" sz="1400" i="1" dirty="0" smtClean="0">
                          <a:latin typeface="Cambria Math" panose="02040503050406030204" pitchFamily="18" charset="0"/>
                          <a:ea typeface="Cambria Math" panose="02040503050406030204" pitchFamily="18" charset="0"/>
                        </a:rPr>
                        <m:t>𝐸𝐼</m:t>
                      </m:r>
                      <m:r>
                        <a:rPr lang="en-IN" sz="1400" i="1" dirty="0" smtClean="0">
                          <a:latin typeface="Cambria Math" panose="02040503050406030204" pitchFamily="18" charset="0"/>
                          <a:ea typeface="Cambria Math" panose="02040503050406030204" pitchFamily="18" charset="0"/>
                        </a:rPr>
                        <m:t>ₓₓ, </m:t>
                      </m:r>
                      <m:r>
                        <a:rPr lang="en-IN" sz="1400" i="1" dirty="0" smtClean="0">
                          <a:latin typeface="Cambria Math" panose="02040503050406030204" pitchFamily="18" charset="0"/>
                          <a:ea typeface="Cambria Math" panose="02040503050406030204" pitchFamily="18" charset="0"/>
                        </a:rPr>
                        <m:t>𝐸𝐼</m:t>
                      </m:r>
                      <m:r>
                        <a:rPr lang="el-GR" sz="1400" i="1" dirty="0" smtClean="0">
                          <a:latin typeface="Cambria Math" panose="02040503050406030204" pitchFamily="18" charset="0"/>
                          <a:ea typeface="Cambria Math" panose="02040503050406030204" pitchFamily="18" charset="0"/>
                        </a:rPr>
                        <m:t>ᵧᵧ, </m:t>
                      </m:r>
                      <m:r>
                        <a:rPr lang="el-GR" sz="1400" i="1" dirty="0" smtClean="0">
                          <a:latin typeface="Cambria Math" panose="02040503050406030204" pitchFamily="18" charset="0"/>
                          <a:ea typeface="Cambria Math" panose="02040503050406030204" pitchFamily="18" charset="0"/>
                        </a:rPr>
                        <m:t>𝐸</m:t>
                      </m:r>
                      <m:sSub>
                        <m:sSubPr>
                          <m:ctrlPr>
                            <a:rPr lang="el-GR" sz="1400" i="1" dirty="0" smtClean="0">
                              <a:latin typeface="Cambria Math" panose="02040503050406030204" pitchFamily="18" charset="0"/>
                              <a:ea typeface="Cambria Math" panose="02040503050406030204" pitchFamily="18" charset="0"/>
                            </a:rPr>
                          </m:ctrlPr>
                        </m:sSubPr>
                        <m:e>
                          <m:r>
                            <a:rPr lang="el-GR" sz="1400" i="1" dirty="0" smtClean="0">
                              <a:latin typeface="Cambria Math" panose="02040503050406030204" pitchFamily="18" charset="0"/>
                              <a:ea typeface="Cambria Math" panose="02040503050406030204" pitchFamily="18" charset="0"/>
                            </a:rPr>
                            <m:t>𝐼</m:t>
                          </m:r>
                        </m:e>
                        <m:sub>
                          <m:r>
                            <a:rPr lang="el-GR" sz="1400" i="1" dirty="0" smtClean="0">
                              <a:latin typeface="Cambria Math" panose="02040503050406030204" pitchFamily="18" charset="0"/>
                              <a:ea typeface="Cambria Math" panose="02040503050406030204" pitchFamily="18" charset="0"/>
                            </a:rPr>
                            <m:t>𝑧𝑧</m:t>
                          </m:r>
                        </m:sub>
                      </m:sSub>
                      <m:r>
                        <a:rPr lang="el-GR" sz="1400" i="1" dirty="0" smtClean="0">
                          <a:latin typeface="Cambria Math" panose="02040503050406030204" pitchFamily="18" charset="0"/>
                          <a:ea typeface="Cambria Math" panose="02040503050406030204" pitchFamily="18" charset="0"/>
                        </a:rPr>
                        <m:t>)</m:t>
                      </m:r>
                    </m:oMath>
                  </m:oMathPara>
                </a14:m>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r>
                  <a:rPr lang="en-US" sz="1400" i="1" dirty="0">
                    <a:latin typeface="Cambria Math" panose="02040503050406030204" pitchFamily="18" charset="0"/>
                    <a:ea typeface="Cambria Math" panose="02040503050406030204" pitchFamily="18" charset="0"/>
                  </a:rPr>
                  <a:t>3) Governing equations(</a:t>
                </a:r>
                <a:r>
                  <a:rPr lang="en-US" sz="1400" i="1" dirty="0">
                    <a:solidFill>
                      <a:schemeClr val="accent2">
                        <a:lumMod val="75000"/>
                      </a:schemeClr>
                    </a:solidFill>
                    <a:latin typeface="Cambria Math" panose="02040503050406030204" pitchFamily="18" charset="0"/>
                    <a:ea typeface="Cambria Math" panose="02040503050406030204" pitchFamily="18" charset="0"/>
                  </a:rPr>
                  <a:t>ODE</a:t>
                </a:r>
                <a:r>
                  <a:rPr lang="en-US" sz="1400" i="1" dirty="0">
                    <a:latin typeface="Cambria Math" panose="02040503050406030204" pitchFamily="18" charset="0"/>
                    <a:ea typeface="Cambria Math" panose="02040503050406030204" pitchFamily="18" charset="0"/>
                  </a:rPr>
                  <a:t>)</a:t>
                </a:r>
              </a:p>
              <a:p>
                <a:pPr>
                  <a:defRPr sz="2000">
                    <a:solidFill>
                      <a:srgbClr val="142237"/>
                    </a:solidFill>
                  </a:defRPr>
                </a:pPr>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𝑟</m:t>
                        </m:r>
                      </m:e>
                      <m:sub>
                        <m:r>
                          <a:rPr lang="en-IN" sz="1400" i="1" dirty="0" smtClean="0">
                            <a:latin typeface="Cambria Math" panose="02040503050406030204" pitchFamily="18" charset="0"/>
                            <a:ea typeface="Cambria Math" panose="02040503050406030204" pitchFamily="18" charset="0"/>
                          </a:rPr>
                          <m:t>𝑡</m:t>
                        </m:r>
                      </m:sub>
                    </m:sSub>
                    <m:r>
                      <a:rPr lang="en-IN"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𝑅𝑞</m:t>
                    </m:r>
                  </m:oMath>
                </a14:m>
                <a:r>
                  <a:rPr lang="en-US" sz="1400"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IN" sz="1400" i="1" dirty="0" smtClean="0">
                            <a:latin typeface="Cambria Math" panose="02040503050406030204" pitchFamily="18" charset="0"/>
                            <a:ea typeface="Cambria Math" panose="02040503050406030204" pitchFamily="18" charset="0"/>
                          </a:rPr>
                        </m:ctrlPr>
                      </m:sSubPr>
                      <m:e>
                        <m:r>
                          <a:rPr lang="en-IN" sz="1400" i="1" dirty="0" smtClean="0">
                            <a:latin typeface="Cambria Math" panose="02040503050406030204" pitchFamily="18" charset="0"/>
                            <a:ea typeface="Cambria Math" panose="02040503050406030204" pitchFamily="18" charset="0"/>
                          </a:rPr>
                          <m:t>𝑅</m:t>
                        </m:r>
                      </m:e>
                      <m:sub>
                        <m:r>
                          <a:rPr lang="en-IN" sz="1400" i="1" dirty="0" smtClean="0">
                            <a:latin typeface="Cambria Math" panose="02040503050406030204" pitchFamily="18" charset="0"/>
                            <a:ea typeface="Cambria Math" panose="02040503050406030204" pitchFamily="18" charset="0"/>
                          </a:rPr>
                          <m:t>𝑡</m:t>
                        </m:r>
                      </m:sub>
                    </m:sSub>
                    <m:r>
                      <a:rPr lang="en-US" sz="1400" i="1" dirty="0" smtClean="0">
                        <a:latin typeface="Cambria Math" panose="02040503050406030204" pitchFamily="18" charset="0"/>
                        <a:ea typeface="Cambria Math" panose="02040503050406030204" pitchFamily="18" charset="0"/>
                      </a:rPr>
                      <m:t>=</m:t>
                    </m:r>
                    <m:r>
                      <a:rPr lang="en-US" sz="1400" i="1" dirty="0" smtClean="0">
                        <a:latin typeface="Cambria Math" panose="02040503050406030204" pitchFamily="18" charset="0"/>
                        <a:ea typeface="Cambria Math" panose="02040503050406030204" pitchFamily="18" charset="0"/>
                      </a:rPr>
                      <m:t>𝑅</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𝑊𝑥</m:t>
                        </m:r>
                      </m:e>
                    </m:d>
                  </m:oMath>
                </a14:m>
                <a:r>
                  <a:rPr lang="en-US" sz="1400" i="1" dirty="0">
                    <a:latin typeface="Cambria Math" panose="02040503050406030204" pitchFamily="18" charset="0"/>
                    <a:ea typeface="Cambria Math" panose="02040503050406030204" pitchFamily="18" charset="0"/>
                  </a:rPr>
                  <a:t>,</a:t>
                </a:r>
              </a:p>
              <a:p>
                <a:pPr algn="ct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𝑟</m:t>
                          </m:r>
                        </m:e>
                        <m:sub>
                          <m:r>
                            <a:rPr lang="en-US" sz="1400" i="1" dirty="0" smtClean="0">
                              <a:latin typeface="Cambria Math" panose="02040503050406030204" pitchFamily="18" charset="0"/>
                              <a:ea typeface="Cambria Math" panose="02040503050406030204" pitchFamily="18" charset="0"/>
                            </a:rPr>
                            <m:t>𝑡𝑡</m:t>
                          </m:r>
                        </m:sub>
                      </m:sSub>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𝑅</m:t>
                      </m:r>
                      <m:d>
                        <m:dPr>
                          <m:ctrlPr>
                            <a:rPr lang="en-US" sz="1400" i="1" dirty="0" smtClean="0">
                              <a:solidFill>
                                <a:schemeClr val="accent5"/>
                              </a:solidFill>
                              <a:latin typeface="Cambria Math" panose="02040503050406030204" pitchFamily="18" charset="0"/>
                              <a:ea typeface="Cambria Math" panose="02040503050406030204" pitchFamily="18" charset="0"/>
                            </a:rPr>
                          </m:ctrlPr>
                        </m:dPr>
                        <m:e>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𝑞</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solidFill>
                                <a:schemeClr val="accent5"/>
                              </a:solidFill>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 + </m:t>
                          </m:r>
                          <m:r>
                            <a:rPr lang="en-US" sz="1400" i="1" dirty="0" smtClean="0">
                              <a:latin typeface="Cambria Math" panose="02040503050406030204" pitchFamily="18" charset="0"/>
                              <a:ea typeface="Cambria Math" panose="02040503050406030204" pitchFamily="18" charset="0"/>
                            </a:rPr>
                            <m:t>𝑤</m:t>
                          </m:r>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𝑥</m:t>
                          </m:r>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𝑞</m:t>
                          </m:r>
                        </m:e>
                      </m:d>
                      <m:r>
                        <a:rPr lang="en-US" sz="1400" i="1" dirty="0" smtClean="0">
                          <a:latin typeface="Cambria Math" panose="02040503050406030204" pitchFamily="18" charset="0"/>
                          <a:ea typeface="Cambria Math" panose="02040503050406030204" pitchFamily="18" charset="0"/>
                        </a:rPr>
                        <m:t>,</m:t>
                      </m:r>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endParaRPr lang="en-IN" sz="1400" i="1" dirty="0"/>
              </a:p>
              <a:p>
                <a:pPr algn="ct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𝑟</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𝑅𝑣</m:t>
                      </m:r>
                      <m:r>
                        <a:rPr lang="en-US" sz="1400" i="1" dirty="0" smtClean="0">
                          <a:latin typeface="Cambria Math" panose="02040503050406030204" pitchFamily="18" charset="0"/>
                          <a:ea typeface="Cambria Math" panose="02040503050406030204" pitchFamily="18" charset="0"/>
                        </a:rPr>
                        <m:t>, </m:t>
                      </m:r>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𝑅</m:t>
                          </m:r>
                        </m:e>
                        <m:sub>
                          <m:r>
                            <a:rPr lang="en-US" sz="1400" i="1" dirty="0" smtClean="0">
                              <a:latin typeface="Cambria Math" panose="02040503050406030204" pitchFamily="18" charset="0"/>
                              <a:ea typeface="Cambria Math" panose="02040503050406030204" pitchFamily="18" charset="0"/>
                            </a:rPr>
                            <m:t>𝑠</m:t>
                          </m:r>
                        </m:sub>
                      </m:sSub>
                      <m:r>
                        <a:rPr lang="en-IN" sz="1400" i="1" dirty="0" smtClean="0">
                          <a:latin typeface="Cambria Math" panose="02040503050406030204" pitchFamily="18" charset="0"/>
                          <a:ea typeface="Cambria Math" panose="02040503050406030204" pitchFamily="18" charset="0"/>
                        </a:rPr>
                        <m:t>=</m:t>
                      </m:r>
                      <m:r>
                        <a:rPr lang="en-US" sz="1400" i="1" dirty="0" smtClean="0">
                          <a:latin typeface="Cambria Math" panose="02040503050406030204" pitchFamily="18" charset="0"/>
                          <a:ea typeface="Cambria Math" panose="02040503050406030204" pitchFamily="18" charset="0"/>
                        </a:rPr>
                        <m:t>𝑅</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𝑈𝑥</m:t>
                          </m:r>
                        </m:e>
                      </m:d>
                      <m:r>
                        <a:rPr lang="en-US" sz="1400" i="1" dirty="0" smtClean="0">
                          <a:latin typeface="Cambria Math" panose="02040503050406030204" pitchFamily="18" charset="0"/>
                          <a:ea typeface="Cambria Math" panose="02040503050406030204" pitchFamily="18" charset="0"/>
                        </a:rPr>
                        <m:t>,</m:t>
                      </m:r>
                    </m:oMath>
                  </m:oMathPara>
                </a14:m>
                <a:endParaRPr lang="en-US" sz="14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𝑛</m:t>
                        </m:r>
                      </m:e>
                      <m:sub>
                        <m:r>
                          <a:rPr lang="en-US" sz="1400" i="1" dirty="0" smtClean="0">
                            <a:latin typeface="Cambria Math" panose="02040503050406030204" pitchFamily="18" charset="0"/>
                            <a:ea typeface="Cambria Math" panose="02040503050406030204" pitchFamily="18" charset="0"/>
                          </a:rPr>
                          <m:t>𝑠</m:t>
                        </m:r>
                      </m:sub>
                    </m:sSub>
                    <m:r>
                      <a:rPr lang="en-US" sz="1400" b="0" i="1" dirty="0" smtClean="0">
                        <a:solidFill>
                          <a:schemeClr val="accent6"/>
                        </a:solidFill>
                        <a:latin typeface="Cambria Math" panose="02040503050406030204" pitchFamily="18" charset="0"/>
                        <a:ea typeface="Cambria Math" panose="02040503050406030204" pitchFamily="18" charset="0"/>
                      </a:rPr>
                      <m:t>+</m:t>
                    </m:r>
                    <m:r>
                      <a:rPr lang="en-US" sz="1400" b="0" i="1" dirty="0" smtClean="0">
                        <a:solidFill>
                          <a:schemeClr val="accent6"/>
                        </a:solidFill>
                        <a:latin typeface="Cambria Math" panose="02040503050406030204" pitchFamily="18" charset="0"/>
                        <a:ea typeface="Cambria Math" panose="02040503050406030204" pitchFamily="18" charset="0"/>
                      </a:rPr>
                      <m:t>𝑓</m:t>
                    </m:r>
                    <m:r>
                      <a:rPr lang="en-US" sz="1400" b="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 </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𝑟</m:t>
                        </m:r>
                      </m:e>
                      <m:sub>
                        <m:r>
                          <a:rPr lang="en-US" sz="1400" i="1" dirty="0" smtClean="0">
                            <a:solidFill>
                              <a:schemeClr val="accent5"/>
                            </a:solidFill>
                            <a:latin typeface="Cambria Math" panose="02040503050406030204" pitchFamily="18" charset="0"/>
                            <a:ea typeface="Cambria Math" panose="02040503050406030204" pitchFamily="18" charset="0"/>
                          </a:rPr>
                          <m:t>𝑡𝑡</m:t>
                        </m:r>
                      </m:sub>
                    </m:sSub>
                  </m:oMath>
                </a14:m>
                <a:r>
                  <a:rPr lang="en-IN" sz="1400" i="1" dirty="0">
                    <a:latin typeface="Cambria Math" panose="02040503050406030204" pitchFamily="18" charset="0"/>
                    <a:ea typeface="Cambria Math" panose="02040503050406030204" pitchFamily="18" charset="0"/>
                  </a:rPr>
                  <a:t>,</a:t>
                </a:r>
              </a:p>
              <a:p>
                <a:pPr>
                  <a:defRPr sz="2000">
                    <a:solidFill>
                      <a:srgbClr val="142237"/>
                    </a:solidFill>
                  </a:defRPr>
                </a:pPr>
                <a14:m>
                  <m:oMath xmlns:m="http://schemas.openxmlformats.org/officeDocument/2006/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𝑚</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𝑟</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𝑥</m:t>
                    </m:r>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𝑛</m:t>
                    </m:r>
                    <m:r>
                      <m:rPr>
                        <m:nor/>
                      </m:rPr>
                      <a:rPr lang="en-US" sz="1400" b="0" i="1" dirty="0" smtClean="0">
                        <a:latin typeface="Cambria Math" panose="02040503050406030204" pitchFamily="18" charset="0"/>
                        <a:ea typeface="Cambria Math" panose="02040503050406030204" pitchFamily="18" charset="0"/>
                      </a:rPr>
                      <m:t> </m:t>
                    </m:r>
                    <m:r>
                      <m:rPr>
                        <m:nor/>
                      </m:rPr>
                      <a:rPr lang="en-US" sz="1400" b="0" i="1" dirty="0" smtClean="0">
                        <a:solidFill>
                          <a:schemeClr val="accent6"/>
                        </a:solidFill>
                        <a:latin typeface="Cambria Math" panose="02040503050406030204" pitchFamily="18" charset="0"/>
                        <a:ea typeface="Cambria Math" panose="02040503050406030204" pitchFamily="18" charset="0"/>
                      </a:rPr>
                      <m:t>+</m:t>
                    </m:r>
                    <m:r>
                      <m:rPr>
                        <m:nor/>
                      </m:rPr>
                      <a:rPr lang="en-US" sz="1400" i="1" dirty="0">
                        <a:solidFill>
                          <a:schemeClr val="accent6"/>
                        </a:solidFill>
                        <a:latin typeface="Cambria Math" panose="02040503050406030204" pitchFamily="18" charset="0"/>
                        <a:ea typeface="Cambria Math" panose="02040503050406030204" pitchFamily="18" charset="0"/>
                      </a:rPr>
                      <m:t>l</m:t>
                    </m:r>
                    <m:r>
                      <a:rPr lang="en-US" sz="1400" b="0" i="1" dirty="0" smtClean="0">
                        <a:solidFill>
                          <a:schemeClr val="accent6"/>
                        </a:solidFill>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m:t>
                    </m:r>
                    <m:r>
                      <a:rPr lang="en-US" sz="1400" b="0" i="1" dirty="0" smtClean="0">
                        <a:latin typeface="Cambria Math" panose="02040503050406030204" pitchFamily="18" charset="0"/>
                        <a:ea typeface="Cambria Math" panose="02040503050406030204" pitchFamily="18" charset="0"/>
                      </a:rPr>
                      <m:t>𝑅</m:t>
                    </m:r>
                    <m:r>
                      <a:rPr lang="en-US" sz="1400" b="0" i="1" dirty="0" smtClean="0">
                        <a:latin typeface="Cambria Math" panose="02040503050406030204" pitchFamily="18" charset="0"/>
                        <a:ea typeface="Cambria Math" panose="02040503050406030204" pitchFamily="18" charset="0"/>
                      </a:rPr>
                      <m:t>(</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400" b="0" i="1" dirty="0" smtClean="0">
                        <a:solidFill>
                          <a:schemeClr val="accent2">
                            <a:lumMod val="75000"/>
                          </a:schemeClr>
                        </a:solidFill>
                        <a:latin typeface="Cambria Math" panose="02040503050406030204" pitchFamily="18" charset="0"/>
                        <a:ea typeface="Cambria Math" panose="02040503050406030204" pitchFamily="18" charset="0"/>
                      </a:rPr>
                      <m:t>𝐽</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𝑤</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solidFill>
                          <a:schemeClr val="accent2">
                            <a:lumMod val="75000"/>
                          </a:schemeClr>
                        </a:solidFill>
                        <a:latin typeface="Cambria Math" panose="02040503050406030204" pitchFamily="18" charset="0"/>
                        <a:ea typeface="Cambria Math" panose="02040503050406030204" pitchFamily="18" charset="0"/>
                      </a:rPr>
                      <m:t>+</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𝑤</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𝑥</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 </m:t>
                    </m:r>
                    <m:d>
                      <m:dPr>
                        <m:ctrlPr>
                          <a:rPr lang="en-US" sz="1400" i="1" dirty="0" smtClean="0">
                            <a:solidFill>
                              <a:schemeClr val="accent2">
                                <a:lumMod val="75000"/>
                              </a:schemeClr>
                            </a:solidFill>
                            <a:latin typeface="Cambria Math" panose="02040503050406030204" pitchFamily="18" charset="0"/>
                            <a:ea typeface="Cambria Math" panose="02040503050406030204" pitchFamily="18" charset="0"/>
                          </a:rPr>
                        </m:ctrlPr>
                      </m:dPr>
                      <m:e>
                        <m:r>
                          <a:rPr lang="en-US" sz="14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400" i="1" dirty="0" smtClean="0">
                            <a:solidFill>
                              <a:schemeClr val="accent2">
                                <a:lumMod val="75000"/>
                              </a:schemeClr>
                            </a:solidFill>
                            <a:latin typeface="Cambria Math" panose="02040503050406030204" pitchFamily="18" charset="0"/>
                            <a:ea typeface="Cambria Math" panose="02040503050406030204" pitchFamily="18" charset="0"/>
                          </a:rPr>
                          <m:t>𝐽𝑤</m:t>
                        </m:r>
                      </m:e>
                    </m:d>
                  </m:oMath>
                </a14:m>
                <a:r>
                  <a:rPr lang="en-US" sz="1400" i="1" dirty="0">
                    <a:latin typeface="Cambria Math" panose="02040503050406030204" pitchFamily="18" charset="0"/>
                    <a:ea typeface="Cambria Math" panose="02040503050406030204" pitchFamily="18" charset="0"/>
                  </a:rPr>
                  <a:t>) </a:t>
                </a:r>
              </a:p>
              <a:p>
                <a:pP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𝑤</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  = </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𝑢</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solidFill>
                            <a:schemeClr val="accent5"/>
                          </a:solidFill>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𝑈𝑥</m:t>
                          </m:r>
                        </m:e>
                      </m:d>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𝑤</m:t>
                      </m:r>
                    </m:oMath>
                  </m:oMathPara>
                </a14:m>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400" i="1" dirty="0" smtClean="0">
                              <a:latin typeface="Cambria Math" panose="02040503050406030204" pitchFamily="18" charset="0"/>
                              <a:ea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𝑞</m:t>
                          </m:r>
                        </m:e>
                        <m:sub>
                          <m:r>
                            <a:rPr lang="en-US" sz="1400" i="1" dirty="0" smtClean="0">
                              <a:latin typeface="Cambria Math" panose="02040503050406030204" pitchFamily="18" charset="0"/>
                              <a:ea typeface="Cambria Math" panose="02040503050406030204" pitchFamily="18" charset="0"/>
                            </a:rPr>
                            <m:t>𝑠</m:t>
                          </m:r>
                        </m:sub>
                      </m:sSub>
                      <m:r>
                        <a:rPr lang="en-US" sz="1400" i="1" dirty="0" smtClean="0">
                          <a:latin typeface="Cambria Math" panose="02040503050406030204" pitchFamily="18" charset="0"/>
                          <a:ea typeface="Cambria Math" panose="02040503050406030204" pitchFamily="18" charset="0"/>
                        </a:rPr>
                        <m:t>=</m:t>
                      </m:r>
                      <m:sSub>
                        <m:sSubPr>
                          <m:ctrlPr>
                            <a:rPr lang="en-US" sz="1400" i="1" dirty="0" smtClean="0">
                              <a:solidFill>
                                <a:schemeClr val="accent5"/>
                              </a:solidFill>
                              <a:latin typeface="Cambria Math" panose="02040503050406030204" pitchFamily="18" charset="0"/>
                              <a:ea typeface="Cambria Math" panose="02040503050406030204" pitchFamily="18" charset="0"/>
                            </a:rPr>
                          </m:ctrlPr>
                        </m:sSubPr>
                        <m:e>
                          <m:r>
                            <a:rPr lang="en-US" sz="1400" i="1" dirty="0" smtClean="0">
                              <a:solidFill>
                                <a:schemeClr val="accent5"/>
                              </a:solidFill>
                              <a:latin typeface="Cambria Math" panose="02040503050406030204" pitchFamily="18" charset="0"/>
                              <a:ea typeface="Cambria Math" panose="02040503050406030204" pitchFamily="18" charset="0"/>
                            </a:rPr>
                            <m:t>𝑣</m:t>
                          </m:r>
                        </m:e>
                        <m:sub>
                          <m:r>
                            <a:rPr lang="en-US" sz="1400" i="1" dirty="0" smtClean="0">
                              <a:solidFill>
                                <a:schemeClr val="accent5"/>
                              </a:solidFill>
                              <a:latin typeface="Cambria Math" panose="02040503050406030204" pitchFamily="18" charset="0"/>
                              <a:ea typeface="Cambria Math" panose="02040503050406030204" pitchFamily="18" charset="0"/>
                            </a:rPr>
                            <m:t>𝑡</m:t>
                          </m:r>
                        </m:sub>
                      </m:sSub>
                      <m:r>
                        <a:rPr lang="en-US" sz="1400" i="1" dirty="0" smtClean="0">
                          <a:latin typeface="Cambria Math" panose="02040503050406030204" pitchFamily="18" charset="0"/>
                          <a:ea typeface="Cambria Math" panose="02040503050406030204" pitchFamily="18" charset="0"/>
                        </a:rPr>
                        <m:t>−</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𝑈𝑥</m:t>
                          </m:r>
                        </m:e>
                      </m:d>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𝑞</m:t>
                      </m:r>
                      <m:r>
                        <a:rPr lang="en-US" sz="1400" i="1" dirty="0" smtClean="0">
                          <a:latin typeface="Cambria Math" panose="02040503050406030204" pitchFamily="18" charset="0"/>
                          <a:ea typeface="Cambria Math" panose="02040503050406030204" pitchFamily="18" charset="0"/>
                        </a:rPr>
                        <m:t>+</m:t>
                      </m:r>
                      <m:d>
                        <m:dPr>
                          <m:begChr m:val="["/>
                          <m:endChr m:val="]"/>
                          <m:ctrlPr>
                            <a:rPr lang="en-US" sz="1400" i="1" dirty="0" smtClean="0">
                              <a:latin typeface="Cambria Math" panose="02040503050406030204" pitchFamily="18" charset="0"/>
                              <a:ea typeface="Cambria Math" panose="02040503050406030204" pitchFamily="18" charset="0"/>
                            </a:rPr>
                          </m:ctrlPr>
                        </m:dPr>
                        <m:e>
                          <m:r>
                            <a:rPr lang="en-US" sz="1400" i="1" dirty="0" smtClean="0">
                              <a:latin typeface="Cambria Math" panose="02040503050406030204" pitchFamily="18" charset="0"/>
                              <a:ea typeface="Cambria Math" panose="02040503050406030204" pitchFamily="18" charset="0"/>
                            </a:rPr>
                            <m:t>𝑊𝑥</m:t>
                          </m:r>
                        </m:e>
                      </m:d>
                      <m:r>
                        <a:rPr lang="en-US" sz="1400" i="1" dirty="0" smtClean="0">
                          <a:latin typeface="Cambria Math" panose="02040503050406030204" pitchFamily="18" charset="0"/>
                          <a:ea typeface="Cambria Math" panose="02040503050406030204" pitchFamily="18" charset="0"/>
                        </a:rPr>
                        <m:t> </m:t>
                      </m:r>
                      <m:r>
                        <a:rPr lang="en-US" sz="1400" i="1" dirty="0" smtClean="0">
                          <a:latin typeface="Cambria Math" panose="02040503050406030204" pitchFamily="18" charset="0"/>
                          <a:ea typeface="Cambria Math" panose="02040503050406030204" pitchFamily="18" charset="0"/>
                        </a:rPr>
                        <m:t>𝑣</m:t>
                      </m:r>
                    </m:oMath>
                  </m:oMathPara>
                </a14:m>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4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4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87916450-8D3E-0A9F-BC9E-2C9707E911BB}"/>
                  </a:ext>
                </a:extLst>
              </p:cNvPr>
              <p:cNvSpPr txBox="1">
                <a:spLocks noRot="1" noChangeAspect="1" noMove="1" noResize="1" noEditPoints="1" noAdjustHandles="1" noChangeArrowheads="1" noChangeShapeType="1" noTextEdit="1"/>
              </p:cNvSpPr>
              <p:nvPr/>
            </p:nvSpPr>
            <p:spPr>
              <a:xfrm>
                <a:off x="8071775" y="1686746"/>
                <a:ext cx="3995229" cy="3981988"/>
              </a:xfrm>
              <a:prstGeom prst="rect">
                <a:avLst/>
              </a:prstGeom>
              <a:blipFill>
                <a:blip r:embed="rId2"/>
                <a:stretch>
                  <a:fillRect l="-458" t="-4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33A3FD5-DAB7-E30D-58BD-73A267472552}"/>
                  </a:ext>
                </a:extLst>
              </p:cNvPr>
              <p:cNvSpPr txBox="1"/>
              <p:nvPr/>
            </p:nvSpPr>
            <p:spPr>
              <a:xfrm>
                <a:off x="8138394" y="6254761"/>
                <a:ext cx="6096000" cy="465256"/>
              </a:xfrm>
              <a:prstGeom prst="rect">
                <a:avLst/>
              </a:prstGeom>
              <a:noFill/>
            </p:spPr>
            <p:txBody>
              <a:bodyPr wrap="square">
                <a:spAutoFit/>
              </a:bodyPr>
              <a:lstStyle/>
              <a:p>
                <a:r>
                  <a:rPr lang="en-IN" sz="1200" dirty="0">
                    <a:latin typeface="Cambria Math" panose="02040503050406030204" pitchFamily="18" charset="0"/>
                    <a:ea typeface="Cambria Math" panose="02040503050406030204" pitchFamily="18" charset="0"/>
                  </a:rPr>
                  <a:t>For a straight undeformed rod: </a:t>
                </a:r>
                <a14:m>
                  <m:oMath xmlns:m="http://schemas.openxmlformats.org/officeDocument/2006/math">
                    <m:sSup>
                      <m:sSupPr>
                        <m:ctrlPr>
                          <a:rPr lang="en-US" sz="1200" b="0" i="0" dirty="0" smtClean="0">
                            <a:latin typeface="Cambria Math" panose="02040503050406030204" pitchFamily="18" charset="0"/>
                            <a:ea typeface="Cambria Math" panose="02040503050406030204" pitchFamily="18" charset="0"/>
                          </a:rPr>
                        </m:ctrlPr>
                      </m:sSupPr>
                      <m:e>
                        <m:r>
                          <m:rPr>
                            <m:sty m:val="p"/>
                          </m:rPr>
                          <a:rPr lang="en-US" sz="1200" b="0" i="0" dirty="0" smtClean="0">
                            <a:latin typeface="Cambria Math" panose="02040503050406030204" pitchFamily="18" charset="0"/>
                            <a:ea typeface="Cambria Math" panose="02040503050406030204" pitchFamily="18" charset="0"/>
                          </a:rPr>
                          <m:t>u</m:t>
                        </m:r>
                      </m:e>
                      <m:sup>
                        <m:r>
                          <a:rPr lang="en-US" sz="1200" b="0" i="0" dirty="0" smtClean="0">
                            <a:latin typeface="Cambria Math" panose="02040503050406030204" pitchFamily="18" charset="0"/>
                            <a:ea typeface="Cambria Math" panose="02040503050406030204" pitchFamily="18" charset="0"/>
                          </a:rPr>
                          <m:t>∗</m:t>
                        </m:r>
                      </m:sup>
                    </m:sSup>
                    <m:r>
                      <a:rPr lang="el-GR" sz="1200" i="0" dirty="0" smtClean="0">
                        <a:latin typeface="Cambria Math" panose="02040503050406030204" pitchFamily="18" charset="0"/>
                        <a:ea typeface="Cambria Math" panose="02040503050406030204" pitchFamily="18" charset="0"/>
                      </a:rPr>
                      <m:t> </m:t>
                    </m:r>
                    <m:r>
                      <a:rPr lang="el-GR" sz="1200" i="0" dirty="0">
                        <a:latin typeface="Cambria Math" panose="02040503050406030204" pitchFamily="18" charset="0"/>
                        <a:ea typeface="Cambria Math" panose="02040503050406030204" pitchFamily="18" charset="0"/>
                      </a:rPr>
                      <m:t>= </m:t>
                    </m:r>
                    <m:sSup>
                      <m:sSupPr>
                        <m:ctrlPr>
                          <a:rPr lang="el-GR" sz="1200" i="1" dirty="0" smtClean="0">
                            <a:latin typeface="Cambria Math" panose="02040503050406030204" pitchFamily="18" charset="0"/>
                            <a:ea typeface="Cambria Math" panose="02040503050406030204" pitchFamily="18" charset="0"/>
                          </a:rPr>
                        </m:ctrlPr>
                      </m:sSupPr>
                      <m:e>
                        <m:d>
                          <m:dPr>
                            <m:begChr m:val="["/>
                            <m:endChr m:val="]"/>
                            <m:ctrlPr>
                              <a:rPr lang="el-GR" sz="1200" i="0" dirty="0" smtClean="0">
                                <a:latin typeface="Cambria Math" panose="02040503050406030204" pitchFamily="18" charset="0"/>
                                <a:ea typeface="Cambria Math" panose="02040503050406030204" pitchFamily="18" charset="0"/>
                              </a:rPr>
                            </m:ctrlPr>
                          </m:dPr>
                          <m:e>
                            <m:r>
                              <a:rPr lang="el-GR" sz="1200" i="0" dirty="0" smtClean="0">
                                <a:latin typeface="Cambria Math" panose="02040503050406030204" pitchFamily="18" charset="0"/>
                                <a:ea typeface="Cambria Math" panose="02040503050406030204" pitchFamily="18" charset="0"/>
                              </a:rPr>
                              <m:t>0,0,0</m:t>
                            </m:r>
                          </m:e>
                        </m:d>
                      </m:e>
                      <m:sup>
                        <m:r>
                          <m:rPr>
                            <m:sty m:val="p"/>
                          </m:rPr>
                          <a:rPr lang="en-US" sz="1200" i="0" dirty="0" smtClean="0">
                            <a:latin typeface="Cambria Math" panose="02040503050406030204" pitchFamily="18" charset="0"/>
                            <a:ea typeface="Cambria Math" panose="02040503050406030204" pitchFamily="18" charset="0"/>
                          </a:rPr>
                          <m:t>T</m:t>
                        </m:r>
                      </m:sup>
                    </m:sSup>
                    <m:r>
                      <a:rPr lang="en-US" sz="1200" b="0" i="0" dirty="0" smtClean="0">
                        <a:latin typeface="Cambria Math" panose="02040503050406030204" pitchFamily="18" charset="0"/>
                        <a:ea typeface="Cambria Math" panose="02040503050406030204" pitchFamily="18" charset="0"/>
                      </a:rPr>
                      <m:t>,</m:t>
                    </m:r>
                    <m:r>
                      <a:rPr lang="en-US" sz="1200" i="0" dirty="0" smtClean="0">
                        <a:latin typeface="Cambria Math" panose="02040503050406030204" pitchFamily="18" charset="0"/>
                        <a:ea typeface="Cambria Math" panose="02040503050406030204" pitchFamily="18" charset="0"/>
                      </a:rPr>
                      <m:t> </m:t>
                    </m:r>
                    <m:sSup>
                      <m:sSupPr>
                        <m:ctrlPr>
                          <a:rPr lang="en-US" sz="1200" i="0" dirty="0" smtClean="0">
                            <a:latin typeface="Cambria Math" panose="02040503050406030204" pitchFamily="18" charset="0"/>
                            <a:ea typeface="Cambria Math" panose="02040503050406030204" pitchFamily="18" charset="0"/>
                          </a:rPr>
                        </m:ctrlPr>
                      </m:sSupPr>
                      <m:e>
                        <m:r>
                          <m:rPr>
                            <m:sty m:val="p"/>
                          </m:rPr>
                          <a:rPr lang="en-US" sz="1200" i="0" dirty="0" smtClean="0">
                            <a:latin typeface="Cambria Math" panose="02040503050406030204" pitchFamily="18" charset="0"/>
                            <a:ea typeface="Cambria Math" panose="02040503050406030204" pitchFamily="18" charset="0"/>
                          </a:rPr>
                          <m:t>v</m:t>
                        </m:r>
                      </m:e>
                      <m:sup>
                        <m:r>
                          <a:rPr lang="en-US" sz="1200" i="0" dirty="0" smtClean="0">
                            <a:latin typeface="Cambria Math" panose="02040503050406030204" pitchFamily="18" charset="0"/>
                            <a:ea typeface="Cambria Math" panose="02040503050406030204" pitchFamily="18" charset="0"/>
                          </a:rPr>
                          <m:t>∗</m:t>
                        </m:r>
                      </m:sup>
                    </m:sSup>
                    <m:r>
                      <a:rPr lang="en-US" sz="1200" i="0" dirty="0" smtClean="0">
                        <a:latin typeface="Cambria Math" panose="02040503050406030204" pitchFamily="18" charset="0"/>
                        <a:ea typeface="Cambria Math" panose="02040503050406030204" pitchFamily="18" charset="0"/>
                      </a:rPr>
                      <m:t>=[</m:t>
                    </m:r>
                    <m:r>
                      <a:rPr lang="el-GR" sz="1200" i="0" dirty="0" smtClean="0">
                        <a:latin typeface="Cambria Math" panose="02040503050406030204" pitchFamily="18" charset="0"/>
                        <a:ea typeface="Cambria Math" panose="02040503050406030204" pitchFamily="18" charset="0"/>
                      </a:rPr>
                      <m:t>0,0,1</m:t>
                    </m:r>
                    <m:r>
                      <a:rPr lang="el-GR" sz="1200" i="0" dirty="0">
                        <a:latin typeface="Cambria Math" panose="02040503050406030204" pitchFamily="18" charset="0"/>
                        <a:ea typeface="Cambria Math" panose="02040503050406030204" pitchFamily="18" charset="0"/>
                      </a:rPr>
                      <m:t>]</m:t>
                    </m:r>
                    <m:r>
                      <a:rPr lang="en-IN" sz="1200" i="0" dirty="0">
                        <a:latin typeface="Cambria Math" panose="02040503050406030204" pitchFamily="18" charset="0"/>
                        <a:ea typeface="Cambria Math" panose="02040503050406030204" pitchFamily="18" charset="0"/>
                      </a:rPr>
                      <m:t>ᵀ</m:t>
                    </m:r>
                  </m:oMath>
                </a14:m>
                <a:endParaRPr lang="en-IN" sz="1200" dirty="0">
                  <a:latin typeface="Cambria Math" panose="02040503050406030204" pitchFamily="18" charset="0"/>
                  <a:ea typeface="Cambria Math" panose="02040503050406030204" pitchFamily="18" charset="0"/>
                </a:endParaRPr>
              </a:p>
              <a:p>
                <a:r>
                  <a:rPr lang="en-IN" sz="1200" dirty="0">
                    <a:latin typeface="Cambria Math" panose="02040503050406030204" pitchFamily="18" charset="0"/>
                    <a:ea typeface="Cambria Math" panose="02040503050406030204" pitchFamily="18" charset="0"/>
                  </a:rPr>
                  <a:t>BDF, Backward differentiation formula</a:t>
                </a:r>
              </a:p>
            </p:txBody>
          </p:sp>
        </mc:Choice>
        <mc:Fallback xmlns="">
          <p:sp>
            <p:nvSpPr>
              <p:cNvPr id="8" name="TextBox 7">
                <a:extLst>
                  <a:ext uri="{FF2B5EF4-FFF2-40B4-BE49-F238E27FC236}">
                    <a16:creationId xmlns:a16="http://schemas.microsoft.com/office/drawing/2014/main" id="{933A3FD5-DAB7-E30D-58BD-73A267472552}"/>
                  </a:ext>
                </a:extLst>
              </p:cNvPr>
              <p:cNvSpPr txBox="1">
                <a:spLocks noRot="1" noChangeAspect="1" noMove="1" noResize="1" noEditPoints="1" noAdjustHandles="1" noChangeArrowheads="1" noChangeShapeType="1" noTextEdit="1"/>
              </p:cNvSpPr>
              <p:nvPr/>
            </p:nvSpPr>
            <p:spPr>
              <a:xfrm>
                <a:off x="8138394" y="6254761"/>
                <a:ext cx="6096000" cy="465256"/>
              </a:xfrm>
              <a:prstGeom prst="rect">
                <a:avLst/>
              </a:prstGeom>
              <a:blipFill>
                <a:blip r:embed="rId3"/>
                <a:stretch>
                  <a:fillRect b="-10526"/>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249D254C-A119-8ADA-A037-6F0BA5F345BB}"/>
              </a:ext>
            </a:extLst>
          </p:cNvPr>
          <p:cNvSpPr txBox="1"/>
          <p:nvPr/>
        </p:nvSpPr>
        <p:spPr>
          <a:xfrm>
            <a:off x="876314" y="848502"/>
            <a:ext cx="6096000" cy="584775"/>
          </a:xfrm>
          <a:prstGeom prst="rect">
            <a:avLst/>
          </a:prstGeom>
          <a:noFill/>
        </p:spPr>
        <p:txBody>
          <a:bodyPr wrap="squar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Dynamic Equilibrium:</a:t>
            </a:r>
          </a:p>
          <a:p>
            <a:pPr>
              <a:defRPr sz="2000">
                <a:solidFill>
                  <a:srgbClr val="142237"/>
                </a:solidFill>
              </a:defRPr>
            </a:pPr>
            <a:r>
              <a:rPr lang="en-US" sz="1600" dirty="0">
                <a:latin typeface="Cambria Math" panose="02040503050406030204" pitchFamily="18" charset="0"/>
                <a:ea typeface="Cambria Math" panose="02040503050406030204" pitchFamily="18" charset="0"/>
              </a:rPr>
              <a:t>(t &gt; 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E908C8F-7316-7644-A12F-8410188BAFD7}"/>
                  </a:ext>
                </a:extLst>
              </p:cNvPr>
              <p:cNvSpPr txBox="1"/>
              <p:nvPr/>
            </p:nvSpPr>
            <p:spPr>
              <a:xfrm>
                <a:off x="4856711" y="1289800"/>
                <a:ext cx="2666214" cy="3005438"/>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
                      <m:r>
                        <a:rPr lang="en-US" sz="1400" i="1" smtClean="0">
                          <a:latin typeface="Cambria Math" panose="02040503050406030204" pitchFamily="18" charset="0"/>
                          <a:ea typeface="Cambria Math" panose="02040503050406030204" pitchFamily="18" charset="0"/>
                        </a:rPr>
                        <m:t>𝑈𝑠𝑖𝑛𝑔</m:t>
                      </m:r>
                      <m:r>
                        <a:rPr lang="en-US" sz="1400" i="1"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𝐵𝐷𝐹</m:t>
                      </m:r>
                      <m:r>
                        <a:rPr lang="en-US" sz="1400" i="1"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𝑓𝑜𝑟</m:t>
                      </m:r>
                      <m:r>
                        <a:rPr lang="en-US" sz="1400" i="1" smtClean="0">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𝑢</m:t>
                          </m:r>
                        </m:e>
                        <m:sub>
                          <m:r>
                            <a:rPr lang="en-US" sz="1400" i="1">
                              <a:solidFill>
                                <a:schemeClr val="accent5"/>
                              </a:solidFill>
                              <a:latin typeface="Cambria Math" panose="02040503050406030204" pitchFamily="18" charset="0"/>
                              <a:ea typeface="Cambria Math" panose="02040503050406030204" pitchFamily="18" charset="0"/>
                            </a:rPr>
                            <m:t>𝑡</m:t>
                          </m:r>
                        </m:sub>
                      </m:sSub>
                      <m:r>
                        <a:rPr lang="en-US" sz="1400" i="1">
                          <a:solidFill>
                            <a:schemeClr val="accent5"/>
                          </a:solidFill>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𝑣</m:t>
                          </m:r>
                        </m:e>
                        <m:sub>
                          <m:r>
                            <a:rPr lang="en-US" sz="1400" i="1">
                              <a:solidFill>
                                <a:schemeClr val="accent5"/>
                              </a:solidFill>
                              <a:latin typeface="Cambria Math" panose="02040503050406030204" pitchFamily="18" charset="0"/>
                              <a:ea typeface="Cambria Math" panose="02040503050406030204" pitchFamily="18" charset="0"/>
                            </a:rPr>
                            <m:t>𝑡</m:t>
                          </m:r>
                        </m:sub>
                      </m:sSub>
                      <m:r>
                        <a:rPr lang="en-US" sz="1400" i="1">
                          <a:solidFill>
                            <a:schemeClr val="accent5"/>
                          </a:solidFill>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𝑞</m:t>
                          </m:r>
                        </m:e>
                        <m:sub>
                          <m:r>
                            <a:rPr lang="en-US" sz="1400" i="1">
                              <a:solidFill>
                                <a:schemeClr val="accent5"/>
                              </a:solidFill>
                              <a:latin typeface="Cambria Math" panose="02040503050406030204" pitchFamily="18" charset="0"/>
                              <a:ea typeface="Cambria Math" panose="02040503050406030204" pitchFamily="18" charset="0"/>
                            </a:rPr>
                            <m:t>𝑡</m:t>
                          </m:r>
                        </m:sub>
                      </m:sSub>
                      <m:r>
                        <a:rPr lang="en-US" sz="1400" i="1">
                          <a:solidFill>
                            <a:schemeClr val="accent5"/>
                          </a:solidFill>
                          <a:latin typeface="Cambria Math" panose="02040503050406030204" pitchFamily="18" charset="0"/>
                          <a:ea typeface="Cambria Math" panose="02040503050406030204" pitchFamily="18" charset="0"/>
                        </a:rPr>
                        <m:t>, </m:t>
                      </m:r>
                      <m:sSub>
                        <m:sSubPr>
                          <m:ctrlPr>
                            <a:rPr lang="en-US" sz="1400" i="1">
                              <a:solidFill>
                                <a:schemeClr val="accent5"/>
                              </a:solidFill>
                              <a:latin typeface="Cambria Math" panose="02040503050406030204" pitchFamily="18" charset="0"/>
                              <a:ea typeface="Cambria Math" panose="02040503050406030204" pitchFamily="18" charset="0"/>
                            </a:rPr>
                          </m:ctrlPr>
                        </m:sSubPr>
                        <m:e>
                          <m:r>
                            <a:rPr lang="en-US" sz="1400" i="1">
                              <a:solidFill>
                                <a:schemeClr val="accent5"/>
                              </a:solidFill>
                              <a:latin typeface="Cambria Math" panose="02040503050406030204" pitchFamily="18" charset="0"/>
                              <a:ea typeface="Cambria Math" panose="02040503050406030204" pitchFamily="18" charset="0"/>
                            </a:rPr>
                            <m:t>𝑤</m:t>
                          </m:r>
                        </m:e>
                        <m:sub>
                          <m:r>
                            <a:rPr lang="en-US" sz="1400" i="1">
                              <a:solidFill>
                                <a:schemeClr val="accent5"/>
                              </a:solidFill>
                              <a:latin typeface="Cambria Math" panose="02040503050406030204" pitchFamily="18" charset="0"/>
                              <a:ea typeface="Cambria Math" panose="02040503050406030204" pitchFamily="18" charset="0"/>
                            </a:rPr>
                            <m:t>𝑡</m:t>
                          </m:r>
                        </m:sub>
                      </m:sSub>
                    </m:oMath>
                  </m:oMathPara>
                </a14:m>
                <a:endParaRPr lang="en-US" sz="1400" i="1" dirty="0">
                  <a:latin typeface="Cambria Math" panose="02040503050406030204" pitchFamily="18" charset="0"/>
                  <a:ea typeface="Cambria Math" panose="02040503050406030204" pitchFamily="18" charset="0"/>
                </a:endParaRPr>
              </a:p>
              <a:p>
                <a:endParaRPr lang="en-US" sz="1400" i="1" dirty="0">
                  <a:latin typeface="Cambria Math" panose="02040503050406030204" pitchFamily="18" charset="0"/>
                  <a:ea typeface="Cambria Math" panose="02040503050406030204" pitchFamily="18" charset="0"/>
                </a:endParaRPr>
              </a:p>
              <a:p>
                <a:r>
                  <a:rPr lang="en-US" sz="1400" i="1" dirty="0">
                    <a:latin typeface="Cambria Math" panose="02040503050406030204" pitchFamily="18" charset="0"/>
                    <a:ea typeface="Cambria Math" panose="02040503050406030204" pitchFamily="18" charset="0"/>
                  </a:rPr>
                  <a:t>At t=1,</a:t>
                </a:r>
                <a:endParaRPr lang="en-US" sz="14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400" b="0" i="1" smtClean="0">
                          <a:latin typeface="Cambria Math" panose="02040503050406030204" pitchFamily="18" charset="0"/>
                          <a:ea typeface="Cambria Math" panose="02040503050406030204" pitchFamily="18" charset="0"/>
                        </a:rPr>
                        <m:t>𝐵𝐷𝐹</m:t>
                      </m:r>
                      <m:r>
                        <a:rPr lang="en-US" sz="1400" b="0" i="1" smtClean="0">
                          <a:latin typeface="Cambria Math" panose="02040503050406030204" pitchFamily="18" charset="0"/>
                          <a:ea typeface="Cambria Math" panose="02040503050406030204" pitchFamily="18" charset="0"/>
                        </a:rPr>
                        <m:t> 1 </m:t>
                      </m:r>
                      <m:r>
                        <a:rPr lang="en-US" sz="1400" b="0" i="1" dirty="0" smtClean="0">
                          <a:latin typeface="Cambria Math" panose="02040503050406030204" pitchFamily="18" charset="0"/>
                          <a:ea typeface="Cambria Math" panose="02040503050406030204" pitchFamily="18" charset="0"/>
                        </a:rPr>
                        <m:t>𝑜𝑟</m:t>
                      </m:r>
                      <m:r>
                        <a:rPr lang="en-US" sz="1400" b="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𝐵𝑎𝑐𝑘𝑤𝑎𝑟𝑑</m:t>
                      </m:r>
                      <m:r>
                        <a:rPr lang="en-IN" sz="1400" i="1" dirty="0" smtClean="0">
                          <a:latin typeface="Cambria Math" panose="02040503050406030204" pitchFamily="18" charset="0"/>
                          <a:ea typeface="Cambria Math" panose="02040503050406030204" pitchFamily="18" charset="0"/>
                        </a:rPr>
                        <m:t> </m:t>
                      </m:r>
                      <m:r>
                        <a:rPr lang="en-IN" sz="1400" i="1" dirty="0" smtClean="0">
                          <a:latin typeface="Cambria Math" panose="02040503050406030204" pitchFamily="18" charset="0"/>
                          <a:ea typeface="Cambria Math" panose="02040503050406030204" pitchFamily="18" charset="0"/>
                        </a:rPr>
                        <m:t>𝐸𝑢𝑙𝑒𝑟</m:t>
                      </m:r>
                    </m:oMath>
                  </m:oMathPara>
                </a14:m>
                <a:endParaRPr lang="en-US" sz="1400" b="0" i="1" dirty="0">
                  <a:latin typeface="Cambria Math" panose="02040503050406030204" pitchFamily="18" charset="0"/>
                  <a:ea typeface="Cambria Math" panose="02040503050406030204" pitchFamily="18" charset="0"/>
                </a:endParaRPr>
              </a:p>
              <a:p>
                <a:endParaRPr lang="en-US" sz="1400" b="0" dirty="0">
                  <a:latin typeface="Cambria Math" panose="02040503050406030204" pitchFamily="18" charset="0"/>
                  <a:ea typeface="Cambria Math" panose="02040503050406030204" pitchFamily="18" charset="0"/>
                </a:endParaRPr>
              </a:p>
              <a:p>
                <a:pPr/>
                <a14:m>
                  <m:oMathPara xmlns:m="http://schemas.openxmlformats.org/officeDocument/2006/math">
                    <m:oMath>
                      <m:f>
                        <m:fPr>
                          <m:ctrlPr>
                            <a:rPr lang="en-IN" sz="1400" i="1" dirty="0">
                              <a:latin typeface="Cambria Math" panose="02040503050406030204" pitchFamily="18" charset="0"/>
                              <a:ea typeface="Cambria Math" panose="02040503050406030204" pitchFamily="18" charset="0"/>
                            </a:rPr>
                          </m:ctrlPr>
                        </m:fPr>
                        <m:num>
                          <m:r>
                            <a:rPr lang="en-IN" sz="1400" i="1" dirty="0">
                              <a:latin typeface="Cambria Math" panose="02040503050406030204" pitchFamily="18" charset="0"/>
                              <a:ea typeface="Cambria Math" panose="02040503050406030204" pitchFamily="18" charset="0"/>
                            </a:rPr>
                            <m:t>𝑑𝑓</m:t>
                          </m:r>
                        </m:num>
                        <m:den>
                          <m:r>
                            <a:rPr lang="en-IN" sz="1400" i="1" dirty="0">
                              <a:latin typeface="Cambria Math" panose="02040503050406030204" pitchFamily="18" charset="0"/>
                              <a:ea typeface="Cambria Math" panose="02040503050406030204" pitchFamily="18" charset="0"/>
                            </a:rPr>
                            <m:t>𝑑</m:t>
                          </m:r>
                          <m:sSub>
                            <m:sSubPr>
                              <m:ctrlPr>
                                <a:rPr lang="en-IN" sz="1400" i="1" dirty="0">
                                  <a:latin typeface="Cambria Math" panose="02040503050406030204" pitchFamily="18" charset="0"/>
                                  <a:ea typeface="Cambria Math" panose="02040503050406030204" pitchFamily="18" charset="0"/>
                                </a:rPr>
                              </m:ctrlPr>
                            </m:sSubPr>
                            <m:e>
                              <m:r>
                                <a:rPr lang="en-IN" sz="1400" i="1" dirty="0">
                                  <a:latin typeface="Cambria Math" panose="02040503050406030204" pitchFamily="18" charset="0"/>
                                  <a:ea typeface="Cambria Math" panose="02040503050406030204" pitchFamily="18" charset="0"/>
                                </a:rPr>
                                <m:t>𝑡</m:t>
                              </m:r>
                            </m:e>
                            <m:sub>
                              <m:r>
                                <a:rPr lang="en-US" sz="1400" i="1" dirty="0">
                                  <a:latin typeface="Cambria Math" panose="02040503050406030204" pitchFamily="18" charset="0"/>
                                  <a:ea typeface="Cambria Math" panose="02040503050406030204" pitchFamily="18" charset="0"/>
                                </a:rPr>
                                <m:t>𝑘</m:t>
                              </m:r>
                              <m:r>
                                <a:rPr lang="en-US" sz="1400" i="1" dirty="0">
                                  <a:latin typeface="Cambria Math" panose="02040503050406030204" pitchFamily="18" charset="0"/>
                                  <a:ea typeface="Cambria Math" panose="02040503050406030204" pitchFamily="18" charset="0"/>
                                </a:rPr>
                                <m:t>+1</m:t>
                              </m:r>
                            </m:sub>
                          </m:sSub>
                        </m:den>
                      </m:f>
                      <m:r>
                        <a:rPr lang="en-IN" sz="1400" i="1" dirty="0">
                          <a:latin typeface="Cambria Math" panose="02040503050406030204" pitchFamily="18" charset="0"/>
                          <a:ea typeface="Cambria Math" panose="02040503050406030204" pitchFamily="18" charset="0"/>
                        </a:rPr>
                        <m:t> =</m:t>
                      </m:r>
                      <m:f>
                        <m:fPr>
                          <m:ctrlPr>
                            <a:rPr lang="en-US" sz="1400" i="1" dirty="0">
                              <a:latin typeface="Cambria Math" panose="02040503050406030204" pitchFamily="18" charset="0"/>
                              <a:ea typeface="Cambria Math" panose="02040503050406030204" pitchFamily="18" charset="0"/>
                            </a:rPr>
                          </m:ctrlPr>
                        </m:fPr>
                        <m:num>
                          <m:d>
                            <m:dPr>
                              <m:ctrlPr>
                                <a:rPr lang="en-US" sz="1400" i="1" dirty="0">
                                  <a:latin typeface="Cambria Math" panose="02040503050406030204" pitchFamily="18" charset="0"/>
                                  <a:ea typeface="Cambria Math" panose="02040503050406030204" pitchFamily="18" charset="0"/>
                                </a:rPr>
                              </m:ctrlPr>
                            </m:dPr>
                            <m:e>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IN" sz="1400" dirty="0">
                                      <a:latin typeface="Cambria Math" panose="02040503050406030204" pitchFamily="18" charset="0"/>
                                      <a:ea typeface="Cambria Math" panose="02040503050406030204" pitchFamily="18" charset="0"/>
                                    </a:rPr>
                                    <m:t>k</m:t>
                                  </m:r>
                                  <m:r>
                                    <a:rPr lang="en-IN" sz="1400" dirty="0">
                                      <a:latin typeface="Cambria Math" panose="02040503050406030204" pitchFamily="18" charset="0"/>
                                      <a:ea typeface="Cambria Math" panose="02040503050406030204" pitchFamily="18" charset="0"/>
                                    </a:rPr>
                                    <m:t>+1</m:t>
                                  </m:r>
                                </m:sub>
                              </m:sSub>
                              <m:r>
                                <a:rPr lang="en-IN" sz="1400" dirty="0">
                                  <a:latin typeface="Cambria Math" panose="02040503050406030204" pitchFamily="18" charset="0"/>
                                  <a:ea typeface="Cambria Math" panose="02040503050406030204" pitchFamily="18" charset="0"/>
                                </a:rPr>
                                <m:t> − </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US" sz="1400" dirty="0">
                                      <a:latin typeface="Cambria Math" panose="02040503050406030204" pitchFamily="18" charset="0"/>
                                      <a:ea typeface="Cambria Math" panose="02040503050406030204" pitchFamily="18" charset="0"/>
                                    </a:rPr>
                                    <m:t>k</m:t>
                                  </m:r>
                                </m:sub>
                              </m:sSub>
                            </m:e>
                          </m:d>
                        </m:num>
                        <m:den>
                          <m:r>
                            <m:rPr>
                              <m:sty m:val="p"/>
                            </m:rPr>
                            <a:rPr lang="el-GR" sz="1400" dirty="0">
                              <a:latin typeface="Cambria Math" panose="02040503050406030204" pitchFamily="18" charset="0"/>
                              <a:ea typeface="Cambria Math" panose="02040503050406030204" pitchFamily="18" charset="0"/>
                            </a:rPr>
                            <m:t>Δ</m:t>
                          </m:r>
                          <m:r>
                            <m:rPr>
                              <m:sty m:val="p"/>
                            </m:rPr>
                            <a:rPr lang="en-IN" sz="1400" dirty="0">
                              <a:latin typeface="Cambria Math" panose="02040503050406030204" pitchFamily="18" charset="0"/>
                              <a:ea typeface="Cambria Math" panose="02040503050406030204" pitchFamily="18" charset="0"/>
                            </a:rPr>
                            <m:t>t</m:t>
                          </m:r>
                        </m:den>
                      </m:f>
                    </m:oMath>
                  </m:oMathPara>
                </a14:m>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At t&gt;1</a:t>
                </a:r>
              </a:p>
              <a:p>
                <a:endParaRPr lang="en-US" sz="1400" dirty="0">
                  <a:latin typeface="Cambria Math" panose="02040503050406030204" pitchFamily="18" charset="0"/>
                  <a:ea typeface="Cambria Math" panose="02040503050406030204" pitchFamily="18" charset="0"/>
                </a:endParaRPr>
              </a:p>
              <a:p>
                <a:pPr/>
                <a14:m>
                  <m:oMathPara xmlns:m="http://schemas.openxmlformats.org/officeDocument/2006/math">
                    <m:oMath>
                      <m:f>
                        <m:fPr>
                          <m:ctrlPr>
                            <a:rPr lang="en-IN" sz="1400" i="1" dirty="0">
                              <a:latin typeface="Cambria Math" panose="02040503050406030204" pitchFamily="18" charset="0"/>
                              <a:ea typeface="Cambria Math" panose="02040503050406030204" pitchFamily="18" charset="0"/>
                            </a:rPr>
                          </m:ctrlPr>
                        </m:fPr>
                        <m:num>
                          <m:r>
                            <a:rPr lang="en-IN" sz="1400" i="1" dirty="0">
                              <a:latin typeface="Cambria Math" panose="02040503050406030204" pitchFamily="18" charset="0"/>
                              <a:ea typeface="Cambria Math" panose="02040503050406030204" pitchFamily="18" charset="0"/>
                            </a:rPr>
                            <m:t>𝑑𝑓</m:t>
                          </m:r>
                        </m:num>
                        <m:den>
                          <m:r>
                            <a:rPr lang="en-IN" sz="1400" i="1" dirty="0">
                              <a:latin typeface="Cambria Math" panose="02040503050406030204" pitchFamily="18" charset="0"/>
                              <a:ea typeface="Cambria Math" panose="02040503050406030204" pitchFamily="18" charset="0"/>
                            </a:rPr>
                            <m:t>𝑑</m:t>
                          </m:r>
                          <m:sSub>
                            <m:sSubPr>
                              <m:ctrlPr>
                                <a:rPr lang="en-IN" sz="1400" i="1" dirty="0">
                                  <a:latin typeface="Cambria Math" panose="02040503050406030204" pitchFamily="18" charset="0"/>
                                  <a:ea typeface="Cambria Math" panose="02040503050406030204" pitchFamily="18" charset="0"/>
                                </a:rPr>
                              </m:ctrlPr>
                            </m:sSubPr>
                            <m:e>
                              <m:r>
                                <a:rPr lang="en-IN" sz="1400" i="1" dirty="0">
                                  <a:latin typeface="Cambria Math" panose="02040503050406030204" pitchFamily="18" charset="0"/>
                                  <a:ea typeface="Cambria Math" panose="02040503050406030204" pitchFamily="18" charset="0"/>
                                </a:rPr>
                                <m:t>𝑡</m:t>
                              </m:r>
                            </m:e>
                            <m:sub>
                              <m:r>
                                <a:rPr lang="en-US" sz="1400" i="1" dirty="0">
                                  <a:latin typeface="Cambria Math" panose="02040503050406030204" pitchFamily="18" charset="0"/>
                                  <a:ea typeface="Cambria Math" panose="02040503050406030204" pitchFamily="18" charset="0"/>
                                </a:rPr>
                                <m:t>𝑘</m:t>
                              </m:r>
                              <m:r>
                                <a:rPr lang="en-US" sz="1400" i="1" dirty="0">
                                  <a:latin typeface="Cambria Math" panose="02040503050406030204" pitchFamily="18" charset="0"/>
                                  <a:ea typeface="Cambria Math" panose="02040503050406030204" pitchFamily="18" charset="0"/>
                                </a:rPr>
                                <m:t>+1</m:t>
                              </m:r>
                            </m:sub>
                          </m:sSub>
                        </m:den>
                      </m:f>
                      <m:r>
                        <a:rPr lang="en-IN" sz="1400" i="1" dirty="0">
                          <a:latin typeface="Cambria Math" panose="02040503050406030204" pitchFamily="18" charset="0"/>
                          <a:ea typeface="Cambria Math" panose="02040503050406030204" pitchFamily="18" charset="0"/>
                        </a:rPr>
                        <m:t> =</m:t>
                      </m:r>
                      <m:f>
                        <m:fPr>
                          <m:ctrlPr>
                            <a:rPr lang="en-IN" sz="1400" i="1" dirty="0">
                              <a:latin typeface="Cambria Math" panose="02040503050406030204" pitchFamily="18" charset="0"/>
                              <a:ea typeface="Cambria Math" panose="02040503050406030204" pitchFamily="18" charset="0"/>
                            </a:rPr>
                          </m:ctrlPr>
                        </m:fPr>
                        <m:num>
                          <m:d>
                            <m:dPr>
                              <m:ctrlPr>
                                <a:rPr lang="en-IN" sz="1400" i="1" dirty="0">
                                  <a:latin typeface="Cambria Math" panose="02040503050406030204" pitchFamily="18" charset="0"/>
                                  <a:ea typeface="Cambria Math" panose="02040503050406030204" pitchFamily="18" charset="0"/>
                                </a:rPr>
                              </m:ctrlPr>
                            </m:dPr>
                            <m:e>
                              <m:r>
                                <a:rPr lang="en-IN" sz="1400" i="1" dirty="0">
                                  <a:latin typeface="Cambria Math" panose="02040503050406030204" pitchFamily="18" charset="0"/>
                                  <a:ea typeface="Cambria Math" panose="02040503050406030204" pitchFamily="18" charset="0"/>
                                </a:rPr>
                                <m:t>3</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IN" sz="1400" dirty="0">
                                      <a:latin typeface="Cambria Math" panose="02040503050406030204" pitchFamily="18" charset="0"/>
                                      <a:ea typeface="Cambria Math" panose="02040503050406030204" pitchFamily="18" charset="0"/>
                                    </a:rPr>
                                    <m:t>k</m:t>
                                  </m:r>
                                  <m:r>
                                    <a:rPr lang="en-IN" sz="1400" dirty="0">
                                      <a:latin typeface="Cambria Math" panose="02040503050406030204" pitchFamily="18" charset="0"/>
                                      <a:ea typeface="Cambria Math" panose="02040503050406030204" pitchFamily="18" charset="0"/>
                                    </a:rPr>
                                    <m:t>+1</m:t>
                                  </m:r>
                                </m:sub>
                              </m:sSub>
                              <m:r>
                                <a:rPr lang="en-IN" sz="1400" dirty="0">
                                  <a:latin typeface="Cambria Math" panose="02040503050406030204" pitchFamily="18" charset="0"/>
                                  <a:ea typeface="Cambria Math" panose="02040503050406030204" pitchFamily="18" charset="0"/>
                                </a:rPr>
                                <m:t> − 4</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US" sz="1400" dirty="0">
                                      <a:latin typeface="Cambria Math" panose="02040503050406030204" pitchFamily="18" charset="0"/>
                                      <a:ea typeface="Cambria Math" panose="02040503050406030204" pitchFamily="18" charset="0"/>
                                    </a:rPr>
                                    <m:t>k</m:t>
                                  </m:r>
                                </m:sub>
                              </m:sSub>
                              <m:r>
                                <a:rPr lang="en-IN" sz="1400" dirty="0">
                                  <a:latin typeface="Cambria Math" panose="02040503050406030204" pitchFamily="18" charset="0"/>
                                  <a:ea typeface="Cambria Math" panose="02040503050406030204" pitchFamily="18" charset="0"/>
                                </a:rPr>
                                <m:t> +</m:t>
                              </m:r>
                              <m:sSub>
                                <m:sSubPr>
                                  <m:ctrlPr>
                                    <a:rPr lang="en-US" sz="1400" dirty="0">
                                      <a:latin typeface="Cambria Math" panose="02040503050406030204" pitchFamily="18" charset="0"/>
                                      <a:ea typeface="Cambria Math" panose="02040503050406030204" pitchFamily="18" charset="0"/>
                                    </a:rPr>
                                  </m:ctrlPr>
                                </m:sSubPr>
                                <m:e>
                                  <m:r>
                                    <m:rPr>
                                      <m:sty m:val="p"/>
                                    </m:rPr>
                                    <a:rPr lang="en-US" sz="1400" dirty="0">
                                      <a:latin typeface="Cambria Math" panose="02040503050406030204" pitchFamily="18" charset="0"/>
                                      <a:ea typeface="Cambria Math" panose="02040503050406030204" pitchFamily="18" charset="0"/>
                                    </a:rPr>
                                    <m:t>f</m:t>
                                  </m:r>
                                </m:e>
                                <m:sub>
                                  <m:r>
                                    <m:rPr>
                                      <m:sty m:val="p"/>
                                    </m:rPr>
                                    <a:rPr lang="en-US" sz="1400" dirty="0">
                                      <a:latin typeface="Cambria Math" panose="02040503050406030204" pitchFamily="18" charset="0"/>
                                      <a:ea typeface="Cambria Math" panose="02040503050406030204" pitchFamily="18" charset="0"/>
                                    </a:rPr>
                                    <m:t>k</m:t>
                                  </m:r>
                                  <m:r>
                                    <a:rPr lang="en-US" sz="1400" dirty="0">
                                      <a:latin typeface="Cambria Math" panose="02040503050406030204" pitchFamily="18" charset="0"/>
                                      <a:ea typeface="Cambria Math" panose="02040503050406030204" pitchFamily="18" charset="0"/>
                                    </a:rPr>
                                    <m:t>−1</m:t>
                                  </m:r>
                                </m:sub>
                              </m:sSub>
                            </m:e>
                          </m:d>
                        </m:num>
                        <m:den>
                          <m:r>
                            <a:rPr lang="en-IN" sz="1400" dirty="0">
                              <a:latin typeface="Cambria Math" panose="02040503050406030204" pitchFamily="18" charset="0"/>
                              <a:ea typeface="Cambria Math" panose="02040503050406030204" pitchFamily="18" charset="0"/>
                            </a:rPr>
                            <m:t>2</m:t>
                          </m:r>
                          <m:r>
                            <m:rPr>
                              <m:sty m:val="p"/>
                            </m:rPr>
                            <a:rPr lang="el-GR" sz="1400" dirty="0">
                              <a:latin typeface="Cambria Math" panose="02040503050406030204" pitchFamily="18" charset="0"/>
                              <a:ea typeface="Cambria Math" panose="02040503050406030204" pitchFamily="18" charset="0"/>
                            </a:rPr>
                            <m:t>Δ</m:t>
                          </m:r>
                          <m:r>
                            <m:rPr>
                              <m:sty m:val="p"/>
                            </m:rPr>
                            <a:rPr lang="en-IN" sz="1400" dirty="0">
                              <a:latin typeface="Cambria Math" panose="02040503050406030204" pitchFamily="18" charset="0"/>
                              <a:ea typeface="Cambria Math" panose="02040503050406030204" pitchFamily="18" charset="0"/>
                            </a:rPr>
                            <m:t>t</m:t>
                          </m:r>
                        </m:den>
                      </m:f>
                    </m:oMath>
                  </m:oMathPara>
                </a14:m>
                <a:endParaRPr lang="en-IN" sz="1400" dirty="0">
                  <a:latin typeface="Cambria Math" panose="02040503050406030204" pitchFamily="18" charset="0"/>
                  <a:ea typeface="Cambria Math" panose="02040503050406030204" pitchFamily="18" charset="0"/>
                </a:endParaRPr>
              </a:p>
              <a:p>
                <a:pPr/>
                <a14:m>
                  <m:oMathPara xmlns:m="http://schemas.openxmlformats.org/officeDocument/2006/math">
                    <m:oMath>
                      <m:f>
                        <m:fPr>
                          <m:ctrlPr>
                            <a:rPr lang="en-US" sz="1400" b="0" i="1" dirty="0" smtClean="0">
                              <a:latin typeface="Cambria Math" panose="02040503050406030204" pitchFamily="18" charset="0"/>
                            </a:rPr>
                          </m:ctrlPr>
                        </m:fPr>
                        <m:num>
                          <m:r>
                            <a:rPr lang="en-US" sz="1400" b="0" i="1" dirty="0" smtClean="0">
                              <a:latin typeface="Cambria Math" panose="02040503050406030204" pitchFamily="18" charset="0"/>
                            </a:rPr>
                            <m:t>𝑑𝑓</m:t>
                          </m:r>
                        </m:num>
                        <m:den>
                          <m:r>
                            <a:rPr lang="en-US" sz="1400" b="0" i="1" dirty="0" smtClean="0">
                              <a:latin typeface="Cambria Math" panose="02040503050406030204" pitchFamily="18" charset="0"/>
                            </a:rPr>
                            <m:t>𝑑</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𝑡</m:t>
                              </m:r>
                            </m:e>
                            <m:sub>
                              <m:r>
                                <a:rPr lang="en-US" sz="1400" b="0" i="1" dirty="0" smtClean="0">
                                  <a:latin typeface="Cambria Math" panose="02040503050406030204" pitchFamily="18" charset="0"/>
                                </a:rPr>
                                <m:t>𝑘</m:t>
                              </m:r>
                              <m:r>
                                <a:rPr lang="en-US" sz="1400" b="0" i="1" dirty="0" smtClean="0">
                                  <a:latin typeface="Cambria Math" panose="02040503050406030204" pitchFamily="18" charset="0"/>
                                </a:rPr>
                                <m:t>+1</m:t>
                              </m:r>
                            </m:sub>
                          </m:sSub>
                        </m:den>
                      </m:f>
                      <m:r>
                        <a:rPr lang="en-IN" sz="1400">
                          <a:latin typeface="Cambria Math" panose="02040503050406030204" pitchFamily="18" charset="0"/>
                        </a:rPr>
                        <m:t>=</m:t>
                      </m:r>
                      <m:f>
                        <m:fPr>
                          <m:ctrlPr>
                            <a:rPr lang="en-IN" sz="1400">
                              <a:latin typeface="Cambria Math" panose="02040503050406030204" pitchFamily="18" charset="0"/>
                            </a:rPr>
                          </m:ctrlPr>
                        </m:fPr>
                        <m:num>
                          <m:r>
                            <a:rPr lang="en-IN" sz="1400">
                              <a:latin typeface="Cambria Math" panose="02040503050406030204" pitchFamily="18" charset="0"/>
                            </a:rPr>
                            <m:t>1</m:t>
                          </m:r>
                        </m:num>
                        <m:den>
                          <m:r>
                            <m:rPr>
                              <m:sty m:val="p"/>
                            </m:rPr>
                            <a:rPr lang="en-IN" sz="1400">
                              <a:latin typeface="Cambria Math" panose="02040503050406030204" pitchFamily="18" charset="0"/>
                            </a:rPr>
                            <m:t>Δ</m:t>
                          </m:r>
                          <m:r>
                            <a:rPr lang="en-IN" sz="1400" i="1">
                              <a:latin typeface="Cambria Math" panose="02040503050406030204" pitchFamily="18" charset="0"/>
                            </a:rPr>
                            <m:t>𝑡</m:t>
                          </m:r>
                        </m:den>
                      </m:f>
                      <m:nary>
                        <m:naryPr>
                          <m:chr m:val="∑"/>
                          <m:limLoc m:val="undOvr"/>
                          <m:ctrlPr>
                            <a:rPr lang="en-IN" sz="1400" i="1">
                              <a:latin typeface="Cambria Math" panose="02040503050406030204" pitchFamily="18" charset="0"/>
                            </a:rPr>
                          </m:ctrlPr>
                        </m:naryPr>
                        <m:sub>
                          <m:r>
                            <a:rPr lang="en-IN" sz="1400" i="1">
                              <a:latin typeface="Cambria Math" panose="02040503050406030204" pitchFamily="18" charset="0"/>
                            </a:rPr>
                            <m:t>𝑘</m:t>
                          </m:r>
                          <m:r>
                            <a:rPr lang="en-IN" sz="1400">
                              <a:latin typeface="Cambria Math" panose="02040503050406030204" pitchFamily="18" charset="0"/>
                            </a:rPr>
                            <m:t>=0</m:t>
                          </m:r>
                        </m:sub>
                        <m:sup>
                          <m:r>
                            <a:rPr lang="en-IN" sz="1400" i="1">
                              <a:latin typeface="Cambria Math" panose="02040503050406030204" pitchFamily="18" charset="0"/>
                            </a:rPr>
                            <m:t>𝑠</m:t>
                          </m:r>
                        </m:sup>
                        <m:e>
                          <m:sSub>
                            <m:sSubPr>
                              <m:ctrlPr>
                                <a:rPr lang="en-IN" sz="1400" i="1">
                                  <a:latin typeface="Cambria Math" panose="02040503050406030204" pitchFamily="18" charset="0"/>
                                </a:rPr>
                              </m:ctrlPr>
                            </m:sSubPr>
                            <m:e>
                              <m:r>
                                <a:rPr lang="en-IN" sz="1400" i="1">
                                  <a:latin typeface="Cambria Math" panose="02040503050406030204" pitchFamily="18" charset="0"/>
                                </a:rPr>
                                <m:t>𝛼</m:t>
                              </m:r>
                            </m:e>
                            <m:sub>
                              <m:r>
                                <a:rPr lang="en-IN" sz="1400" i="1">
                                  <a:latin typeface="Cambria Math" panose="02040503050406030204" pitchFamily="18" charset="0"/>
                                </a:rPr>
                                <m:t>𝑘</m:t>
                              </m:r>
                            </m:sub>
                          </m:sSub>
                        </m:e>
                      </m:nary>
                      <m:sSub>
                        <m:sSubPr>
                          <m:ctrlPr>
                            <a:rPr lang="en-IN" sz="1400" i="1">
                              <a:latin typeface="Cambria Math" panose="02040503050406030204" pitchFamily="18" charset="0"/>
                            </a:rPr>
                          </m:ctrlPr>
                        </m:sSubPr>
                        <m:e>
                          <m:r>
                            <a:rPr lang="en-IN" sz="1400" i="1">
                              <a:latin typeface="Cambria Math" panose="02040503050406030204" pitchFamily="18" charset="0"/>
                            </a:rPr>
                            <m:t>𝑓</m:t>
                          </m:r>
                        </m:e>
                        <m:sub>
                          <m:r>
                            <a:rPr lang="en-IN" sz="1400" i="1">
                              <a:latin typeface="Cambria Math" panose="02040503050406030204" pitchFamily="18" charset="0"/>
                            </a:rPr>
                            <m:t>𝑛</m:t>
                          </m:r>
                          <m:r>
                            <a:rPr lang="en-IN" sz="1400">
                              <a:latin typeface="Cambria Math" panose="02040503050406030204" pitchFamily="18" charset="0"/>
                            </a:rPr>
                            <m:t>+1−</m:t>
                          </m:r>
                          <m:r>
                            <a:rPr lang="en-IN" sz="1400" i="1">
                              <a:latin typeface="Cambria Math" panose="02040503050406030204" pitchFamily="18" charset="0"/>
                            </a:rPr>
                            <m:t>𝑘</m:t>
                          </m:r>
                        </m:sub>
                      </m:sSub>
                    </m:oMath>
                  </m:oMathPara>
                </a14:m>
                <a:endParaRPr lang="en-IN" sz="1400" dirty="0"/>
              </a:p>
            </p:txBody>
          </p:sp>
        </mc:Choice>
        <mc:Fallback xmlns="">
          <p:sp>
            <p:nvSpPr>
              <p:cNvPr id="4" name="TextBox 3">
                <a:extLst>
                  <a:ext uri="{FF2B5EF4-FFF2-40B4-BE49-F238E27FC236}">
                    <a16:creationId xmlns:a16="http://schemas.microsoft.com/office/drawing/2014/main" id="{9E908C8F-7316-7644-A12F-8410188BAFD7}"/>
                  </a:ext>
                </a:extLst>
              </p:cNvPr>
              <p:cNvSpPr txBox="1">
                <a:spLocks noRot="1" noChangeAspect="1" noMove="1" noResize="1" noEditPoints="1" noAdjustHandles="1" noChangeArrowheads="1" noChangeShapeType="1" noTextEdit="1"/>
              </p:cNvSpPr>
              <p:nvPr/>
            </p:nvSpPr>
            <p:spPr>
              <a:xfrm>
                <a:off x="4856711" y="1289800"/>
                <a:ext cx="2666214" cy="3005438"/>
              </a:xfrm>
              <a:prstGeom prst="rect">
                <a:avLst/>
              </a:prstGeom>
              <a:blipFill>
                <a:blip r:embed="rId4"/>
                <a:stretch>
                  <a:fillRect l="-3872"/>
                </a:stretch>
              </a:blipFill>
              <a:ln>
                <a:solidFill>
                  <a:schemeClr val="tx1"/>
                </a:solidFill>
              </a:ln>
            </p:spPr>
            <p:txBody>
              <a:bodyPr/>
              <a:lstStyle/>
              <a:p>
                <a:r>
                  <a:rPr lang="en-IN">
                    <a:noFill/>
                  </a:rPr>
                  <a:t> </a:t>
                </a:r>
              </a:p>
            </p:txBody>
          </p:sp>
        </mc:Fallback>
      </mc:AlternateContent>
      <p:sp>
        <p:nvSpPr>
          <p:cNvPr id="81" name="TextBox 80">
            <a:extLst>
              <a:ext uri="{FF2B5EF4-FFF2-40B4-BE49-F238E27FC236}">
                <a16:creationId xmlns:a16="http://schemas.microsoft.com/office/drawing/2014/main" id="{17C959C0-6C6D-4B3A-4FFA-9BD5F940AEC4}"/>
              </a:ext>
            </a:extLst>
          </p:cNvPr>
          <p:cNvSpPr txBox="1"/>
          <p:nvPr/>
        </p:nvSpPr>
        <p:spPr>
          <a:xfrm>
            <a:off x="4856711" y="910877"/>
            <a:ext cx="1663212" cy="307777"/>
          </a:xfrm>
          <a:prstGeom prst="rect">
            <a:avLst/>
          </a:prstGeom>
          <a:no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Time </a:t>
            </a:r>
            <a:r>
              <a:rPr lang="en-US" sz="1400" dirty="0" err="1">
                <a:latin typeface="Cambria Math" panose="02040503050406030204" pitchFamily="18" charset="0"/>
                <a:ea typeface="Cambria Math" panose="02040503050406030204" pitchFamily="18" charset="0"/>
              </a:rPr>
              <a:t>discretisation</a:t>
            </a:r>
            <a:endParaRPr lang="en-IN" sz="1400" dirty="0">
              <a:latin typeface="Cambria Math" panose="02040503050406030204" pitchFamily="18" charset="0"/>
              <a:ea typeface="Cambria Math" panose="02040503050406030204" pitchFamily="18" charset="0"/>
            </a:endParaRPr>
          </a:p>
        </p:txBody>
      </p:sp>
      <p:pic>
        <p:nvPicPr>
          <p:cNvPr id="100" name="Picture 99" descr="The diagram illustrates a numerical solution process for a boundary value problem (BVP) using the Runge-Kutta 4th order method (RK4), with initial guesses for variables n0 and m0, and includes steps for checking the error and known values for later time points.&#10;&#10;AI-generated content may be incorrect.">
            <a:extLst>
              <a:ext uri="{FF2B5EF4-FFF2-40B4-BE49-F238E27FC236}">
                <a16:creationId xmlns:a16="http://schemas.microsoft.com/office/drawing/2014/main" id="{ACD54CB6-7C7F-EAD1-36DF-6957E60C9316}"/>
              </a:ext>
            </a:extLst>
          </p:cNvPr>
          <p:cNvPicPr>
            <a:picLocks noChangeAspect="1"/>
          </p:cNvPicPr>
          <p:nvPr/>
        </p:nvPicPr>
        <p:blipFill>
          <a:blip r:embed="rId5"/>
          <a:stretch>
            <a:fillRect/>
          </a:stretch>
        </p:blipFill>
        <p:spPr>
          <a:xfrm>
            <a:off x="559247" y="1782373"/>
            <a:ext cx="3560979" cy="3971862"/>
          </a:xfrm>
          <a:prstGeom prst="rect">
            <a:avLst/>
          </a:prstGeom>
        </p:spPr>
      </p:pic>
      <p:sp>
        <p:nvSpPr>
          <p:cNvPr id="102" name="TextBox 101">
            <a:extLst>
              <a:ext uri="{FF2B5EF4-FFF2-40B4-BE49-F238E27FC236}">
                <a16:creationId xmlns:a16="http://schemas.microsoft.com/office/drawing/2014/main" id="{2402F73E-DB41-4838-BE83-DCF832C15426}"/>
              </a:ext>
            </a:extLst>
          </p:cNvPr>
          <p:cNvSpPr txBox="1"/>
          <p:nvPr/>
        </p:nvSpPr>
        <p:spPr>
          <a:xfrm>
            <a:off x="3715918" y="3580147"/>
            <a:ext cx="808616" cy="523220"/>
          </a:xfrm>
          <a:prstGeom prst="rect">
            <a:avLst/>
          </a:prstGeom>
          <a:noFill/>
          <a:ln>
            <a:solidFill>
              <a:schemeClr val="tx1"/>
            </a:solidFill>
          </a:ln>
        </p:spPr>
        <p:txBody>
          <a:bodyPr wrap="square" rtlCol="0">
            <a:spAutoFit/>
          </a:bodyPr>
          <a:lstStyle/>
          <a:p>
            <a:r>
              <a:rPr lang="en-US" sz="1400" dirty="0">
                <a:latin typeface="Cambria Math" panose="02040503050406030204" pitchFamily="18" charset="0"/>
                <a:ea typeface="Cambria Math" panose="02040503050406030204" pitchFamily="18" charset="0"/>
              </a:rPr>
              <a:t>Space integral</a:t>
            </a:r>
            <a:endParaRPr lang="en-IN" sz="14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5B6D22E-7688-2DA8-8664-F439B1E1122C}"/>
                  </a:ext>
                </a:extLst>
              </p:cNvPr>
              <p:cNvSpPr txBox="1"/>
              <p:nvPr/>
            </p:nvSpPr>
            <p:spPr>
              <a:xfrm>
                <a:off x="124995" y="2792519"/>
                <a:ext cx="1649490" cy="1043491"/>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𝑛</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r>
                        <a:rPr lang="en-US" sz="1400" b="0" i="1" smtClean="0">
                          <a:latin typeface="Cambria Math" panose="02040503050406030204" pitchFamily="18" charset="0"/>
                        </a:rPr>
                        <m:t>=</m:t>
                      </m:r>
                      <m:nary>
                        <m:naryPr>
                          <m:chr m:val="∑"/>
                          <m:subHide m:val="on"/>
                          <m:supHide m:val="on"/>
                          <m:ctrlPr>
                            <a:rPr lang="en-IN" sz="1400" i="1" dirty="0">
                              <a:latin typeface="Cambria Math" panose="02040503050406030204" pitchFamily="18" charset="0"/>
                            </a:rPr>
                          </m:ctrlPr>
                        </m:naryPr>
                        <m:sub/>
                        <m:sup/>
                        <m:e>
                          <m:sSub>
                            <m:sSubPr>
                              <m:ctrlPr>
                                <a:rPr lang="en-US" sz="1400" i="1" dirty="0">
                                  <a:latin typeface="Cambria Math" panose="02040503050406030204" pitchFamily="18" charset="0"/>
                                </a:rPr>
                              </m:ctrlPr>
                            </m:sSubPr>
                            <m:e>
                              <m:r>
                                <a:rPr lang="en-US" sz="1400" i="1" dirty="0">
                                  <a:latin typeface="Cambria Math" panose="02040503050406030204" pitchFamily="18" charset="0"/>
                                </a:rPr>
                                <m:t>𝐹</m:t>
                              </m:r>
                            </m:e>
                            <m:sub>
                              <m:r>
                                <a:rPr lang="en-US" sz="1400" i="1" dirty="0">
                                  <a:latin typeface="Cambria Math" panose="02040503050406030204" pitchFamily="18" charset="0"/>
                                </a:rPr>
                                <m:t>𝑖</m:t>
                              </m:r>
                            </m:sub>
                          </m:sSub>
                        </m:e>
                      </m:nary>
                    </m:oMath>
                  </m:oMathPara>
                </a14:m>
                <a:endParaRPr lang="en-US" sz="1400" b="0" dirty="0"/>
              </a:p>
              <a:p>
                <a:pPr/>
                <a14:m>
                  <m:oMathPara xmlns:m="http://schemas.openxmlformats.org/officeDocument/2006/math">
                    <m:oMath>
                      <m:r>
                        <a:rPr lang="en-IN" sz="1400" i="1" dirty="0" smtClean="0">
                          <a:latin typeface="Cambria Math" panose="02040503050406030204" pitchFamily="18" charset="0"/>
                        </a:rPr>
                        <m:t>𝑚</m:t>
                      </m:r>
                      <m:r>
                        <a:rPr lang="en-IN" sz="1400" i="1" dirty="0" smtClean="0">
                          <a:latin typeface="Cambria Math" panose="02040503050406030204" pitchFamily="18" charset="0"/>
                        </a:rPr>
                        <m:t>(</m:t>
                      </m:r>
                      <m:r>
                        <a:rPr lang="en-IN" sz="1400" i="1" dirty="0" smtClean="0">
                          <a:latin typeface="Cambria Math" panose="02040503050406030204" pitchFamily="18" charset="0"/>
                        </a:rPr>
                        <m:t>𝐿</m:t>
                      </m:r>
                      <m:r>
                        <a:rPr lang="en-IN" sz="1400" i="1" dirty="0" smtClean="0">
                          <a:latin typeface="Cambria Math" panose="02040503050406030204" pitchFamily="18" charset="0"/>
                        </a:rPr>
                        <m:t>) =</m:t>
                      </m:r>
                      <m:nary>
                        <m:naryPr>
                          <m:chr m:val="∑"/>
                          <m:subHide m:val="on"/>
                          <m:supHide m:val="on"/>
                          <m:ctrlPr>
                            <a:rPr lang="en-IN" sz="1400" i="1" dirty="0" smtClean="0">
                              <a:latin typeface="Cambria Math" panose="02040503050406030204" pitchFamily="18" charset="0"/>
                            </a:rPr>
                          </m:ctrlPr>
                        </m:naryPr>
                        <m:sub/>
                        <m:sup/>
                        <m:e>
                          <m:r>
                            <a:rPr lang="en-US" sz="1400" b="0" i="1" dirty="0" smtClean="0">
                              <a:latin typeface="Cambria Math" panose="02040503050406030204" pitchFamily="18" charset="0"/>
                            </a:rPr>
                            <m:t>𝑟ℎ</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𝑜</m:t>
                              </m:r>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rPr>
                            <m:t>𝑥</m:t>
                          </m:r>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𝑖</m:t>
                              </m:r>
                            </m:sub>
                          </m:sSub>
                        </m:e>
                      </m:nary>
                    </m:oMath>
                  </m:oMathPara>
                </a14:m>
                <a:endParaRPr lang="en-IN" sz="1400" dirty="0"/>
              </a:p>
            </p:txBody>
          </p:sp>
        </mc:Choice>
        <mc:Fallback xmlns="">
          <p:sp>
            <p:nvSpPr>
              <p:cNvPr id="7" name="TextBox 6">
                <a:extLst>
                  <a:ext uri="{FF2B5EF4-FFF2-40B4-BE49-F238E27FC236}">
                    <a16:creationId xmlns:a16="http://schemas.microsoft.com/office/drawing/2014/main" id="{A5B6D22E-7688-2DA8-8664-F439B1E1122C}"/>
                  </a:ext>
                </a:extLst>
              </p:cNvPr>
              <p:cNvSpPr txBox="1">
                <a:spLocks noRot="1" noChangeAspect="1" noMove="1" noResize="1" noEditPoints="1" noAdjustHandles="1" noChangeArrowheads="1" noChangeShapeType="1" noTextEdit="1"/>
              </p:cNvSpPr>
              <p:nvPr/>
            </p:nvSpPr>
            <p:spPr>
              <a:xfrm>
                <a:off x="124995" y="2792519"/>
                <a:ext cx="1649490" cy="1043491"/>
              </a:xfrm>
              <a:prstGeom prst="rect">
                <a:avLst/>
              </a:prstGeom>
              <a:blipFill>
                <a:blip r:embed="rId6"/>
                <a:stretch>
                  <a:fillRect l="-1111" t="-72515" r="-49259" b="-102339"/>
                </a:stretch>
              </a:blipFill>
            </p:spPr>
            <p:txBody>
              <a:bodyPr/>
              <a:lstStyle/>
              <a:p>
                <a:r>
                  <a:rPr lang="en-IN">
                    <a:noFill/>
                  </a:rPr>
                  <a:t> </a:t>
                </a:r>
              </a:p>
            </p:txBody>
          </p:sp>
        </mc:Fallback>
      </mc:AlternateContent>
      <p:pic>
        <p:nvPicPr>
          <p:cNvPr id="13" name="Picture 12"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5249E4C0-D0F9-BF2D-C1BB-CA2E29278C1A}"/>
              </a:ext>
            </a:extLst>
          </p:cNvPr>
          <p:cNvPicPr>
            <a:picLocks noChangeAspect="1"/>
          </p:cNvPicPr>
          <p:nvPr/>
        </p:nvPicPr>
        <p:blipFill>
          <a:blip r:embed="rId7"/>
          <a:srcRect r="45991"/>
          <a:stretch>
            <a:fillRect/>
          </a:stretch>
        </p:blipFill>
        <p:spPr>
          <a:xfrm>
            <a:off x="9742979" y="353501"/>
            <a:ext cx="1814202" cy="1333245"/>
          </a:xfrm>
          <a:prstGeom prst="rect">
            <a:avLst/>
          </a:prstGeom>
          <a:ln>
            <a:solidFill>
              <a:schemeClr val="tx1"/>
            </a:solidFill>
          </a:ln>
        </p:spPr>
      </p:pic>
    </p:spTree>
    <p:extLst>
      <p:ext uri="{BB962C8B-B14F-4D97-AF65-F5344CB8AC3E}">
        <p14:creationId xmlns:p14="http://schemas.microsoft.com/office/powerpoint/2010/main" val="1178071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B1EF-633E-C978-71EB-047B746028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076D63-BAC9-192D-D325-F5EE939C1B78}"/>
              </a:ext>
            </a:extLst>
          </p:cNvPr>
          <p:cNvSpPr txBox="1"/>
          <p:nvPr/>
        </p:nvSpPr>
        <p:spPr>
          <a:xfrm>
            <a:off x="833120" y="370435"/>
            <a:ext cx="5564152" cy="523220"/>
          </a:xfrm>
          <a:prstGeom prst="rect">
            <a:avLst/>
          </a:prstGeom>
          <a:noFill/>
        </p:spPr>
        <p:txBody>
          <a:bodyPr wrap="none">
            <a:spAutoFit/>
          </a:bodyPr>
          <a:lstStyle/>
          <a:p>
            <a:pPr>
              <a:defRPr sz="2800" b="1">
                <a:solidFill>
                  <a:srgbClr val="142237"/>
                </a:solidFill>
              </a:defRPr>
            </a:pPr>
            <a:r>
              <a:rPr dirty="0" err="1">
                <a:latin typeface="Cambria Math" panose="02040503050406030204" pitchFamily="18" charset="0"/>
                <a:ea typeface="Cambria Math" panose="02040503050406030204" pitchFamily="18" charset="0"/>
              </a:rPr>
              <a:t>Cosserat</a:t>
            </a:r>
            <a:r>
              <a:rPr dirty="0">
                <a:latin typeface="Cambria Math" panose="02040503050406030204" pitchFamily="18" charset="0"/>
                <a:ea typeface="Cambria Math" panose="02040503050406030204" pitchFamily="18" charset="0"/>
              </a:rPr>
              <a:t> 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With coupled loading</a:t>
            </a:r>
            <a:endParaRPr lang="en-US"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5C977F09-1B41-0E50-F0ED-B0DB54330FC7}"/>
              </a:ext>
            </a:extLst>
          </p:cNvPr>
          <p:cNvSpPr txBox="1"/>
          <p:nvPr/>
        </p:nvSpPr>
        <p:spPr>
          <a:xfrm>
            <a:off x="11405840" y="6473952"/>
            <a:ext cx="298480" cy="338554"/>
          </a:xfrm>
          <a:prstGeom prst="rect">
            <a:avLst/>
          </a:prstGeom>
          <a:noFill/>
        </p:spPr>
        <p:txBody>
          <a:bodyPr wrap="none">
            <a:spAutoFit/>
          </a:bodyPr>
          <a:lstStyle/>
          <a:p>
            <a:pPr algn="r">
              <a:defRPr sz="900">
                <a:solidFill>
                  <a:srgbClr val="5A6978"/>
                </a:solidFill>
              </a:defRPr>
            </a:pPr>
            <a:r>
              <a:rPr sz="1600">
                <a:latin typeface="Cambria Math" panose="02040503050406030204" pitchFamily="18" charset="0"/>
                <a:ea typeface="Cambria Math" panose="02040503050406030204" pitchFamily="18" charset="0"/>
              </a:rPr>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3AA2C31-2586-F657-7AD2-D5ECD375EE71}"/>
                  </a:ext>
                </a:extLst>
              </p:cNvPr>
              <p:cNvSpPr txBox="1"/>
              <p:nvPr/>
            </p:nvSpPr>
            <p:spPr>
              <a:xfrm>
                <a:off x="5650150" y="1123786"/>
                <a:ext cx="3649461" cy="4353115"/>
              </a:xfrm>
              <a:prstGeom prst="rect">
                <a:avLst/>
              </a:prstGeom>
              <a:noFill/>
            </p:spPr>
            <p:txBody>
              <a:bodyPr wrap="none">
                <a:spAutoFit/>
              </a:bodyPr>
              <a:lstStyle/>
              <a:p>
                <a:pPr>
                  <a:defRPr sz="2000">
                    <a:solidFill>
                      <a:srgbClr val="142237"/>
                    </a:solidFill>
                  </a:defRPr>
                </a:pPr>
                <a:r>
                  <a:rPr lang="en-US" sz="1600" i="1" dirty="0">
                    <a:latin typeface="Cambria Math" panose="02040503050406030204" pitchFamily="18" charset="0"/>
                    <a:ea typeface="Cambria Math" panose="02040503050406030204" pitchFamily="18" charset="0"/>
                  </a:rPr>
                  <a:t>2) Constitutive Relation</a:t>
                </a:r>
              </a:p>
              <a:p>
                <a:pPr>
                  <a:defRPr sz="2000">
                    <a:solidFill>
                      <a:srgbClr val="142237"/>
                    </a:solidFill>
                  </a:defRPr>
                </a:pPr>
                <a14:m>
                  <m:oMathPara xmlns:m="http://schemas.openxmlformats.org/officeDocument/2006/math">
                    <m:oMath>
                      <m:r>
                        <a:rPr lang="pt-BR" sz="160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𝑣</m:t>
                      </m:r>
                      <m:r>
                        <a:rPr lang="en-US" sz="1600" i="1" dirty="0" smtClean="0">
                          <a:latin typeface="Cambria Math" panose="02040503050406030204" pitchFamily="18" charset="0"/>
                          <a:ea typeface="Cambria Math" panose="02040503050406030204" pitchFamily="18" charset="0"/>
                        </a:rPr>
                        <m:t> =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en-US" sz="1600" b="0" i="1" dirty="0" smtClean="0">
                                  <a:latin typeface="Cambria Math" panose="02040503050406030204" pitchFamily="18" charset="0"/>
                                  <a:ea typeface="Cambria Math" panose="02040503050406030204" pitchFamily="18" charset="0"/>
                                </a:rPr>
                                <m:t>𝑠𝑒</m:t>
                              </m:r>
                            </m:sub>
                            <m:sup>
                              <m:r>
                                <a:rPr lang="en-US" sz="1600" b="0" i="1" dirty="0" smtClean="0">
                                  <a:latin typeface="Cambria Math" panose="02040503050406030204" pitchFamily="18" charset="0"/>
                                  <a:ea typeface="Cambria Math" panose="02040503050406030204" pitchFamily="18" charset="0"/>
                                </a:rPr>
                                <m:t>−1</m:t>
                              </m:r>
                            </m:sup>
                          </m:sSubSup>
                          <m:r>
                            <a:rPr lang="en-US" sz="1600" b="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b="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𝑛</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𝑣</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US" sz="1600" b="0" i="1" dirty="0" smtClean="0">
                          <a:latin typeface="Cambria Math" panose="02040503050406030204" pitchFamily="18" charset="0"/>
                          <a:ea typeface="Cambria Math" panose="02040503050406030204" pitchFamily="18" charset="0"/>
                        </a:rPr>
                        <m:t>𝑢</m:t>
                      </m:r>
                      <m:r>
                        <a:rPr lang="pt-BR" sz="1600" i="1" dirty="0" smtClean="0">
                          <a:latin typeface="Cambria Math" panose="02040503050406030204" pitchFamily="18" charset="0"/>
                          <a:ea typeface="Cambria Math" panose="02040503050406030204" pitchFamily="18" charset="0"/>
                        </a:rPr>
                        <m:t> =</m:t>
                      </m:r>
                      <m:sSup>
                        <m:sSupPr>
                          <m:ctrlPr>
                            <a:rPr lang="pt-BR" sz="1600" i="1" dirty="0" smtClean="0">
                              <a:latin typeface="Cambria Math" panose="02040503050406030204" pitchFamily="18" charset="0"/>
                              <a:ea typeface="Cambria Math" panose="02040503050406030204" pitchFamily="18" charset="0"/>
                            </a:rPr>
                          </m:ctrlPr>
                        </m:sSupPr>
                        <m:e>
                          <m:sSubSup>
                            <m:sSubSupPr>
                              <m:ctrlPr>
                                <a:rPr lang="pt-BR" sz="1600" i="1" dirty="0" smtClean="0">
                                  <a:latin typeface="Cambria Math" panose="02040503050406030204" pitchFamily="18" charset="0"/>
                                  <a:ea typeface="Cambria Math" panose="02040503050406030204" pitchFamily="18" charset="0"/>
                                </a:rPr>
                              </m:ctrlPr>
                            </m:sSubSupPr>
                            <m:e>
                              <m:r>
                                <a:rPr lang="pt-BR" sz="1600" i="1" dirty="0" smtClean="0">
                                  <a:latin typeface="Cambria Math" panose="02040503050406030204" pitchFamily="18" charset="0"/>
                                  <a:ea typeface="Cambria Math" panose="02040503050406030204" pitchFamily="18" charset="0"/>
                                </a:rPr>
                                <m:t>𝐾</m:t>
                              </m:r>
                            </m:e>
                            <m:sub>
                              <m:r>
                                <a:rPr lang="pt-BR" sz="1600" i="1" dirty="0" smtClean="0">
                                  <a:latin typeface="Cambria Math" panose="02040503050406030204" pitchFamily="18" charset="0"/>
                                  <a:ea typeface="Cambria Math" panose="02040503050406030204" pitchFamily="18" charset="0"/>
                                </a:rPr>
                                <m:t>𝑏</m:t>
                              </m:r>
                              <m:r>
                                <a:rPr lang="en-US" sz="1600" b="0" i="1" dirty="0" smtClean="0">
                                  <a:latin typeface="Cambria Math" panose="02040503050406030204" pitchFamily="18" charset="0"/>
                                  <a:ea typeface="Cambria Math" panose="02040503050406030204" pitchFamily="18" charset="0"/>
                                </a:rPr>
                                <m:t>𝑡</m:t>
                              </m:r>
                            </m:sub>
                            <m:sup>
                              <m:r>
                                <a:rPr lang="en-US" sz="1600" i="1" dirty="0" smtClean="0">
                                  <a:latin typeface="Cambria Math" panose="02040503050406030204" pitchFamily="18" charset="0"/>
                                  <a:ea typeface="Cambria Math" panose="02040503050406030204" pitchFamily="18" charset="0"/>
                                </a:rPr>
                                <m:t>−1</m:t>
                              </m:r>
                            </m:sup>
                          </m:sSubSup>
                          <m:r>
                            <a:rPr lang="en-US" sz="1600" i="1" dirty="0" smtClean="0">
                              <a:latin typeface="Cambria Math" panose="02040503050406030204" pitchFamily="18" charset="0"/>
                              <a:ea typeface="Cambria Math" panose="02040503050406030204" pitchFamily="18" charset="0"/>
                            </a:rPr>
                            <m:t> </m:t>
                          </m:r>
                          <m:r>
                            <a:rPr lang="pt-BR" sz="1600" i="1" dirty="0" smtClean="0">
                              <a:latin typeface="Cambria Math" panose="02040503050406030204" pitchFamily="18" charset="0"/>
                              <a:ea typeface="Cambria Math" panose="02040503050406030204" pitchFamily="18" charset="0"/>
                            </a:rPr>
                            <m:t>𝑅</m:t>
                          </m:r>
                        </m:e>
                        <m:sup>
                          <m:r>
                            <a:rPr lang="en-US" sz="1600" i="1" dirty="0" smtClean="0">
                              <a:latin typeface="Cambria Math" panose="02040503050406030204" pitchFamily="18" charset="0"/>
                              <a:ea typeface="Cambria Math" panose="02040503050406030204" pitchFamily="18" charset="0"/>
                            </a:rPr>
                            <m:t>𝑇</m:t>
                          </m:r>
                        </m:sup>
                      </m:sSup>
                      <m:r>
                        <a:rPr lang="en-US" sz="1600" b="0" i="1" dirty="0" smtClean="0">
                          <a:latin typeface="Cambria Math" panose="02040503050406030204" pitchFamily="18" charset="0"/>
                          <a:ea typeface="Cambria Math" panose="02040503050406030204" pitchFamily="18" charset="0"/>
                        </a:rPr>
                        <m:t>𝑚</m:t>
                      </m:r>
                      <m:r>
                        <a:rPr lang="en-US" sz="1600" b="0" i="1" dirty="0" smtClean="0">
                          <a:latin typeface="Cambria Math" panose="02040503050406030204" pitchFamily="18" charset="0"/>
                          <a:ea typeface="Cambria Math" panose="02040503050406030204" pitchFamily="18" charset="0"/>
                        </a:rPr>
                        <m:t>+</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𝑢</m:t>
                          </m:r>
                        </m:e>
                        <m:sup>
                          <m:r>
                            <a:rPr lang="en-US" sz="1600" b="0" i="1" dirty="0" smtClean="0">
                              <a:latin typeface="Cambria Math" panose="02040503050406030204" pitchFamily="18" charset="0"/>
                              <a:ea typeface="Cambria Math" panose="02040503050406030204" pitchFamily="18" charset="0"/>
                            </a:rPr>
                            <m:t>∗</m:t>
                          </m:r>
                        </m:sup>
                      </m:sSup>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𝑠𝑒</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d>
                        <m:dPr>
                          <m:ctrlPr>
                            <a:rPr lang="en-IN" sz="1600" i="1" dirty="0" smtClean="0">
                              <a:latin typeface="Cambria Math" panose="02040503050406030204" pitchFamily="18" charset="0"/>
                              <a:ea typeface="Cambria Math" panose="02040503050406030204" pitchFamily="18" charset="0"/>
                            </a:rPr>
                          </m:ctrlPr>
                        </m:dPr>
                        <m:e>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𝐺𝐴</m:t>
                          </m:r>
                          <m:r>
                            <a:rPr lang="en-IN" sz="1600" i="1" dirty="0" smtClean="0">
                              <a:latin typeface="Cambria Math" panose="02040503050406030204" pitchFamily="18" charset="0"/>
                              <a:ea typeface="Cambria Math" panose="02040503050406030204" pitchFamily="18" charset="0"/>
                            </a:rPr>
                            <m:t>, </m:t>
                          </m:r>
                          <m:r>
                            <a:rPr lang="en-IN" sz="1600" i="1" dirty="0" smtClean="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𝐾</m:t>
                          </m:r>
                        </m:e>
                        <m:sub>
                          <m:r>
                            <a:rPr lang="en-IN" sz="1600" i="1" dirty="0" smtClean="0">
                              <a:latin typeface="Cambria Math" panose="02040503050406030204" pitchFamily="18" charset="0"/>
                              <a:ea typeface="Cambria Math" panose="02040503050406030204" pitchFamily="18" charset="0"/>
                            </a:rPr>
                            <m:t>𝑏𝑡</m:t>
                          </m:r>
                        </m:sub>
                      </m:sSub>
                      <m:r>
                        <a:rPr lang="en-IN" sz="1600" i="1" dirty="0" smtClean="0">
                          <a:latin typeface="Cambria Math" panose="02040503050406030204" pitchFamily="18" charset="0"/>
                          <a:ea typeface="Cambria Math" panose="02040503050406030204" pitchFamily="18" charset="0"/>
                        </a:rPr>
                        <m:t> = </m:t>
                      </m:r>
                      <m:r>
                        <a:rPr lang="en-IN" sz="1600" i="1" dirty="0" smtClean="0">
                          <a:latin typeface="Cambria Math" panose="02040503050406030204" pitchFamily="18" charset="0"/>
                          <a:ea typeface="Cambria Math" panose="02040503050406030204" pitchFamily="18" charset="0"/>
                        </a:rPr>
                        <m:t>𝑑𝑖𝑎𝑔</m:t>
                      </m:r>
                      <m:r>
                        <a:rPr lang="en-IN" sz="1600" i="1" dirty="0" smtClean="0">
                          <a:latin typeface="Cambria Math" panose="02040503050406030204" pitchFamily="18" charset="0"/>
                          <a:ea typeface="Cambria Math" panose="02040503050406030204" pitchFamily="18" charset="0"/>
                        </a:rPr>
                        <m:t>(</m:t>
                      </m:r>
                      <m:r>
                        <a:rPr lang="en-IN" sz="1600" i="1" dirty="0" smtClean="0">
                          <a:latin typeface="Cambria Math" panose="02040503050406030204" pitchFamily="18" charset="0"/>
                          <a:ea typeface="Cambria Math" panose="02040503050406030204" pitchFamily="18" charset="0"/>
                        </a:rPr>
                        <m:t>𝐸𝐼</m:t>
                      </m:r>
                      <m:r>
                        <a:rPr lang="en-IN" sz="1600" i="1" dirty="0" smtClean="0">
                          <a:latin typeface="Cambria Math" panose="02040503050406030204" pitchFamily="18" charset="0"/>
                          <a:ea typeface="Cambria Math" panose="02040503050406030204" pitchFamily="18" charset="0"/>
                        </a:rPr>
                        <m:t>ₓₓ, </m:t>
                      </m:r>
                      <m:r>
                        <a:rPr lang="en-IN" sz="1600" i="1" dirty="0" smtClean="0">
                          <a:latin typeface="Cambria Math" panose="02040503050406030204" pitchFamily="18" charset="0"/>
                          <a:ea typeface="Cambria Math" panose="02040503050406030204" pitchFamily="18" charset="0"/>
                        </a:rPr>
                        <m:t>𝐸𝐼</m:t>
                      </m:r>
                      <m:r>
                        <a:rPr lang="el-GR" sz="1600" i="1" dirty="0" smtClean="0">
                          <a:latin typeface="Cambria Math" panose="02040503050406030204" pitchFamily="18" charset="0"/>
                          <a:ea typeface="Cambria Math" panose="02040503050406030204" pitchFamily="18" charset="0"/>
                        </a:rPr>
                        <m:t>ᵧᵧ, </m:t>
                      </m:r>
                      <m:r>
                        <a:rPr lang="el-GR" sz="1600" i="1" dirty="0" smtClean="0">
                          <a:latin typeface="Cambria Math" panose="02040503050406030204" pitchFamily="18" charset="0"/>
                          <a:ea typeface="Cambria Math" panose="02040503050406030204" pitchFamily="18" charset="0"/>
                        </a:rPr>
                        <m:t>𝐸</m:t>
                      </m:r>
                      <m:sSub>
                        <m:sSubPr>
                          <m:ctrlPr>
                            <a:rPr lang="el-GR" sz="1600" i="1" dirty="0" smtClean="0">
                              <a:latin typeface="Cambria Math" panose="02040503050406030204" pitchFamily="18" charset="0"/>
                              <a:ea typeface="Cambria Math" panose="02040503050406030204" pitchFamily="18" charset="0"/>
                            </a:rPr>
                          </m:ctrlPr>
                        </m:sSubPr>
                        <m:e>
                          <m:r>
                            <a:rPr lang="el-GR" sz="1600" i="1" dirty="0" smtClean="0">
                              <a:latin typeface="Cambria Math" panose="02040503050406030204" pitchFamily="18" charset="0"/>
                              <a:ea typeface="Cambria Math" panose="02040503050406030204" pitchFamily="18" charset="0"/>
                            </a:rPr>
                            <m:t>𝐼</m:t>
                          </m:r>
                        </m:e>
                        <m:sub>
                          <m:r>
                            <a:rPr lang="el-GR" sz="1600" i="1" dirty="0" smtClean="0">
                              <a:latin typeface="Cambria Math" panose="02040503050406030204" pitchFamily="18" charset="0"/>
                              <a:ea typeface="Cambria Math" panose="02040503050406030204" pitchFamily="18" charset="0"/>
                            </a:rPr>
                            <m:t>𝑧𝑧</m:t>
                          </m:r>
                        </m:sub>
                      </m:sSub>
                      <m:r>
                        <a:rPr lang="el-GR" sz="1600" i="1" dirty="0"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i="1" dirty="0">
                    <a:latin typeface="Cambria Math" panose="02040503050406030204" pitchFamily="18" charset="0"/>
                    <a:ea typeface="Cambria Math" panose="02040503050406030204" pitchFamily="18" charset="0"/>
                  </a:rPr>
                  <a:t>3) Governing equations</a:t>
                </a:r>
              </a:p>
              <a:p>
                <a:pPr>
                  <a:defRPr sz="2000">
                    <a:solidFill>
                      <a:srgbClr val="142237"/>
                    </a:solidFill>
                  </a:defRPr>
                </a:pPr>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IN" sz="1600" i="1" dirty="0" smtClean="0">
                            <a:latin typeface="Cambria Math" panose="02040503050406030204" pitchFamily="18" charset="0"/>
                            <a:ea typeface="Cambria Math" panose="02040503050406030204" pitchFamily="18" charset="0"/>
                          </a:rPr>
                          <m:t>𝑡</m:t>
                        </m:r>
                      </m:sub>
                    </m:sSub>
                    <m:r>
                      <a:rPr lang="en-IN"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𝑅𝑞</m:t>
                    </m:r>
                  </m:oMath>
                </a14:m>
                <a:r>
                  <a:rPr lang="en-US" sz="1600"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IN" sz="1600" i="1" dirty="0" smtClean="0">
                            <a:latin typeface="Cambria Math" panose="02040503050406030204" pitchFamily="18" charset="0"/>
                            <a:ea typeface="Cambria Math" panose="02040503050406030204" pitchFamily="18" charset="0"/>
                          </a:rPr>
                        </m:ctrlPr>
                      </m:sSubPr>
                      <m:e>
                        <m:r>
                          <a:rPr lang="en-IN" sz="1600" i="1" dirty="0" smtClean="0">
                            <a:latin typeface="Cambria Math" panose="02040503050406030204" pitchFamily="18" charset="0"/>
                            <a:ea typeface="Cambria Math" panose="02040503050406030204" pitchFamily="18" charset="0"/>
                          </a:rPr>
                          <m:t>𝑅</m:t>
                        </m:r>
                      </m:e>
                      <m:sub>
                        <m:r>
                          <a:rPr lang="en-IN"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𝑅</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𝑊𝑥</m:t>
                        </m:r>
                      </m:e>
                    </m:d>
                  </m:oMath>
                </a14:m>
                <a:r>
                  <a:rPr lang="en-US" sz="1600" i="1" dirty="0">
                    <a:latin typeface="Cambria Math" panose="02040503050406030204" pitchFamily="18" charset="0"/>
                    <a:ea typeface="Cambria Math" panose="02040503050406030204" pitchFamily="18" charset="0"/>
                  </a:rPr>
                  <a:t>,</a:t>
                </a:r>
              </a:p>
              <a:p>
                <a:pPr algn="ctr">
                  <a:defRPr sz="2000">
                    <a:solidFill>
                      <a:srgbClr val="142237"/>
                    </a:solidFill>
                  </a:defRPr>
                </a:pPr>
                <a14:m>
                  <m:oMathPara xmlns:m="http://schemas.openxmlformats.org/officeDocument/2006/math">
                    <m:oMath>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𝑟</m:t>
                          </m:r>
                        </m:e>
                        <m:sub>
                          <m:r>
                            <a:rPr lang="en-US" sz="1600" i="1" dirty="0" smtClean="0">
                              <a:solidFill>
                                <a:schemeClr val="tx1"/>
                              </a:solidFill>
                              <a:latin typeface="Cambria Math" panose="02040503050406030204" pitchFamily="18" charset="0"/>
                              <a:ea typeface="Cambria Math" panose="02040503050406030204" pitchFamily="18" charset="0"/>
                            </a:rPr>
                            <m:t>𝑡𝑡</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m:t>
                      </m:r>
                      <m:d>
                        <m:dPr>
                          <m:ctrlPr>
                            <a:rPr lang="en-US" sz="1600" i="1" dirty="0" smtClean="0">
                              <a:latin typeface="Cambria Math" panose="02040503050406030204" pitchFamily="18" charset="0"/>
                              <a:ea typeface="Cambria Math" panose="02040503050406030204" pitchFamily="18" charset="0"/>
                            </a:rPr>
                          </m:ctrlPr>
                        </m:dPr>
                        <m:e>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𝑞</m:t>
                              </m:r>
                            </m:e>
                            <m:sub>
                              <m:r>
                                <a:rPr lang="en-US" sz="1600" i="1" dirty="0" smtClean="0">
                                  <a:latin typeface="Cambria Math" panose="02040503050406030204" pitchFamily="18" charset="0"/>
                                  <a:ea typeface="Cambria Math" panose="02040503050406030204" pitchFamily="18" charset="0"/>
                                </a:rPr>
                                <m:t>𝑡</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𝑤</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𝑞</m:t>
                          </m:r>
                        </m:e>
                      </m:d>
                      <m:r>
                        <a:rPr lang="en-US" sz="1600" b="0" i="1" dirty="0" smtClean="0">
                          <a:latin typeface="Cambria Math" panose="02040503050406030204" pitchFamily="18" charset="0"/>
                          <a:ea typeface="Cambria Math" panose="02040503050406030204" pitchFamily="18" charset="0"/>
                        </a:rPr>
                        <m:t>,</m:t>
                      </m:r>
                    </m:oMath>
                  </m:oMathPara>
                </a14:m>
                <a:endParaRPr lang="en-US" sz="1600" b="0" i="1" dirty="0">
                  <a:latin typeface="Cambria Math" panose="02040503050406030204" pitchFamily="18" charset="0"/>
                  <a:ea typeface="Cambria Math" panose="02040503050406030204" pitchFamily="18" charset="0"/>
                </a:endParaRPr>
              </a:p>
              <a:p>
                <a:pPr algn="ctr">
                  <a:defRPr sz="2000">
                    <a:solidFill>
                      <a:srgbClr val="142237"/>
                    </a:solidFill>
                  </a:defRPr>
                </a:pPr>
                <a:endParaRPr lang="en-IN" dirty="0"/>
              </a:p>
              <a:p>
                <a:pPr algn="ct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𝑅𝑣</m:t>
                      </m:r>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𝑅</m:t>
                          </m:r>
                        </m:e>
                        <m:sub>
                          <m:r>
                            <a:rPr lang="en-US" sz="1600" i="1" dirty="0" smtClean="0">
                              <a:latin typeface="Cambria Math" panose="02040503050406030204" pitchFamily="18" charset="0"/>
                              <a:ea typeface="Cambria Math" panose="02040503050406030204" pitchFamily="18" charset="0"/>
                            </a:rPr>
                            <m:t>𝑠</m:t>
                          </m:r>
                        </m:sub>
                      </m:sSub>
                      <m:r>
                        <a:rPr lang="en-IN" sz="1600" i="1" dirty="0" smtClean="0">
                          <a:latin typeface="Cambria Math" panose="02040503050406030204" pitchFamily="18" charset="0"/>
                          <a:ea typeface="Cambria Math" panose="02040503050406030204" pitchFamily="18" charset="0"/>
                        </a:rPr>
                        <m:t>=</m:t>
                      </m:r>
                      <m:r>
                        <a:rPr lang="en-US" sz="1600" i="1" dirty="0" smtClean="0">
                          <a:latin typeface="Cambria Math" panose="02040503050406030204" pitchFamily="18" charset="0"/>
                          <a:ea typeface="Cambria Math" panose="02040503050406030204" pitchFamily="18" charset="0"/>
                        </a:rPr>
                        <m:t>𝑅</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b="0" i="1" dirty="0" smtClean="0">
                          <a:latin typeface="Cambria Math" panose="02040503050406030204" pitchFamily="18" charset="0"/>
                          <a:ea typeface="Cambria Math" panose="02040503050406030204" pitchFamily="18" charset="0"/>
                        </a:rPr>
                        <m:t>,</m:t>
                      </m:r>
                    </m:oMath>
                  </m:oMathPara>
                </a14:m>
                <a:endParaRPr lang="en-US" sz="1600" b="0" i="1" dirty="0">
                  <a:latin typeface="Cambria Math" panose="02040503050406030204" pitchFamily="18" charset="0"/>
                  <a:ea typeface="Cambria Math" panose="02040503050406030204" pitchFamily="18" charset="0"/>
                </a:endParaRPr>
              </a:p>
              <a:p>
                <a:pPr algn="ctr">
                  <a:defRPr sz="2000">
                    <a:solidFill>
                      <a:srgbClr val="142237"/>
                    </a:solidFill>
                  </a:defRPr>
                </a:pPr>
                <a14:m>
                  <m:oMath xmlns:m="http://schemas.openxmlformats.org/officeDocument/2006/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smtClean="0">
                            <a:latin typeface="Cambria Math" panose="02040503050406030204" pitchFamily="18" charset="0"/>
                            <a:ea typeface="Cambria Math" panose="02040503050406030204" pitchFamily="18" charset="0"/>
                          </a:rPr>
                          <m:t>𝑠</m:t>
                        </m:r>
                      </m:sub>
                    </m:sSub>
                    <m:r>
                      <a:rPr lang="en-US" sz="1600" i="1" dirty="0">
                        <a:solidFill>
                          <a:schemeClr val="accent6">
                            <a:lumMod val="75000"/>
                          </a:schemeClr>
                        </a:solidFill>
                        <a:latin typeface="Cambria Math" panose="02040503050406030204" pitchFamily="18" charset="0"/>
                        <a:ea typeface="Cambria Math" panose="02040503050406030204" pitchFamily="18" charset="0"/>
                      </a:rPr>
                      <m:t>+ </m:t>
                    </m:r>
                    <m:r>
                      <a:rPr lang="en-US" sz="1600" i="1" dirty="0">
                        <a:solidFill>
                          <a:schemeClr val="accent6">
                            <a:lumMod val="75000"/>
                          </a:schemeClr>
                        </a:solidFill>
                        <a:latin typeface="Cambria Math" panose="02040503050406030204" pitchFamily="18" charset="0"/>
                        <a:ea typeface="Cambria Math" panose="02040503050406030204" pitchFamily="18" charset="0"/>
                      </a:rPr>
                      <m:t>𝑓</m:t>
                    </m:r>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𝑟</m:t>
                        </m:r>
                      </m:e>
                      <m: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𝑡𝑡</m:t>
                        </m:r>
                      </m:sub>
                    </m:sSub>
                  </m:oMath>
                </a14:m>
                <a:r>
                  <a:rPr lang="en-IN" sz="1600" i="1" dirty="0">
                    <a:latin typeface="Cambria Math" panose="02040503050406030204" pitchFamily="18" charset="0"/>
                    <a:ea typeface="Cambria Math" panose="02040503050406030204" pitchFamily="18" charset="0"/>
                  </a:rPr>
                  <a:t>,</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𝑟</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a:solidFill>
                            <a:schemeClr val="accent6">
                              <a:lumMod val="75000"/>
                            </a:schemeClr>
                          </a:solidFill>
                          <a:latin typeface="Cambria Math" panose="02040503050406030204" pitchFamily="18" charset="0"/>
                          <a:ea typeface="Cambria Math" panose="02040503050406030204" pitchFamily="18" charset="0"/>
                        </a:rPr>
                        <m:t>+</m:t>
                      </m:r>
                      <m:r>
                        <a:rPr lang="en-US" sz="1600" b="0" i="1" dirty="0" smtClean="0">
                          <a:solidFill>
                            <a:schemeClr val="accent6">
                              <a:lumMod val="75000"/>
                            </a:schemeClr>
                          </a:solidFill>
                          <a:latin typeface="Cambria Math" panose="02040503050406030204" pitchFamily="18" charset="0"/>
                          <a:ea typeface="Cambria Math" panose="02040503050406030204" pitchFamily="18" charset="0"/>
                        </a:rPr>
                        <m:t>𝑙</m:t>
                      </m:r>
                      <m:r>
                        <a:rPr lang="en-US" sz="1600" i="1" dirty="0" smtClean="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𝑇</m:t>
                      </m:r>
                      <m:sSub>
                        <m:sSub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𝑤</m:t>
                          </m:r>
                        </m:e>
                        <m: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𝑡</m:t>
                          </m:r>
                        </m:sub>
                      </m:sSub>
                      <m:r>
                        <a:rPr lang="en-US" sz="1600" i="1" dirty="0" smtClean="0">
                          <a:solidFill>
                            <a:schemeClr val="accent2">
                              <a:lumMod val="75000"/>
                            </a:schemeClr>
                          </a:solidFill>
                          <a:latin typeface="Cambria Math" panose="02040503050406030204" pitchFamily="18" charset="0"/>
                          <a:ea typeface="Cambria Math" panose="02040503050406030204" pitchFamily="18" charset="0"/>
                        </a:rPr>
                        <m:t>+</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𝑤</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𝑥</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 </m:t>
                      </m:r>
                      <m:d>
                        <m:dPr>
                          <m:ctrlPr>
                            <a:rPr lang="en-US" sz="1600" i="1" dirty="0" smtClean="0">
                              <a:solidFill>
                                <a:schemeClr val="accent2">
                                  <a:lumMod val="75000"/>
                                </a:schemeClr>
                              </a:solidFill>
                              <a:latin typeface="Cambria Math" panose="02040503050406030204" pitchFamily="18" charset="0"/>
                              <a:ea typeface="Cambria Math" panose="02040503050406030204" pitchFamily="18" charset="0"/>
                            </a:rPr>
                          </m:ctrlPr>
                        </m:dPr>
                        <m:e>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𝐽𝑤</m:t>
                          </m:r>
                        </m:e>
                      </m:d>
                    </m:oMath>
                  </m:oMathPara>
                </a14:m>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𝑤</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 </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𝑢</m:t>
                          </m:r>
                        </m:e>
                        <m:sub>
                          <m:r>
                            <a:rPr lang="en-US"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 –</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𝑤</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𝑞</m:t>
                          </m:r>
                        </m:e>
                        <m:sub>
                          <m:r>
                            <a:rPr lang="en-US" sz="1600" i="1" dirty="0"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m:t>
                      </m:r>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𝑣</m:t>
                          </m:r>
                        </m:e>
                        <m:sub>
                          <m:r>
                            <a:rPr lang="en-US" sz="1600" i="1" dirty="0" smtClean="0">
                              <a:latin typeface="Cambria Math" panose="02040503050406030204" pitchFamily="18" charset="0"/>
                              <a:ea typeface="Cambria Math" panose="02040503050406030204" pitchFamily="18" charset="0"/>
                            </a:rPr>
                            <m:t>𝑡</m:t>
                          </m:r>
                        </m:sub>
                      </m:sSub>
                      <m:r>
                        <a:rPr lang="en-US" sz="1600" i="1" dirty="0" smtClean="0">
                          <a:latin typeface="Cambria Math" panose="02040503050406030204" pitchFamily="18" charset="0"/>
                          <a:ea typeface="Cambria Math" panose="02040503050406030204" pitchFamily="18" charset="0"/>
                        </a:rPr>
                        <m:t>−</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𝑈𝑥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𝑞</m:t>
                      </m:r>
                      <m:r>
                        <a:rPr lang="en-US" sz="1600" i="1" dirty="0" smtClean="0">
                          <a:latin typeface="Cambria Math" panose="02040503050406030204" pitchFamily="18" charset="0"/>
                          <a:ea typeface="Cambria Math" panose="02040503050406030204" pitchFamily="18" charset="0"/>
                        </a:rPr>
                        <m:t>+</m:t>
                      </m:r>
                      <m:d>
                        <m:dPr>
                          <m:begChr m:val="["/>
                          <m:endChr m:val="]"/>
                          <m:ctrlPr>
                            <a:rPr lang="en-US" sz="1600" i="1" dirty="0" smtClean="0">
                              <a:latin typeface="Cambria Math" panose="02040503050406030204" pitchFamily="18" charset="0"/>
                              <a:ea typeface="Cambria Math" panose="02040503050406030204" pitchFamily="18" charset="0"/>
                            </a:rPr>
                          </m:ctrlPr>
                        </m:dPr>
                        <m:e>
                          <m:r>
                            <a:rPr lang="en-US" sz="1600" i="1" dirty="0" smtClean="0">
                              <a:latin typeface="Cambria Math" panose="02040503050406030204" pitchFamily="18" charset="0"/>
                              <a:ea typeface="Cambria Math" panose="02040503050406030204" pitchFamily="18" charset="0"/>
                            </a:rPr>
                            <m:t>𝑊𝑥</m:t>
                          </m:r>
                        </m:e>
                      </m:d>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𝑣</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b="0" i="1"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43AA2C31-2586-F657-7AD2-D5ECD375EE71}"/>
                  </a:ext>
                </a:extLst>
              </p:cNvPr>
              <p:cNvSpPr txBox="1">
                <a:spLocks noRot="1" noChangeAspect="1" noMove="1" noResize="1" noEditPoints="1" noAdjustHandles="1" noChangeArrowheads="1" noChangeShapeType="1" noTextEdit="1"/>
              </p:cNvSpPr>
              <p:nvPr/>
            </p:nvSpPr>
            <p:spPr>
              <a:xfrm>
                <a:off x="5650150" y="1123786"/>
                <a:ext cx="3649461" cy="4353115"/>
              </a:xfrm>
              <a:prstGeom prst="rect">
                <a:avLst/>
              </a:prstGeom>
              <a:blipFill>
                <a:blip r:embed="rId2"/>
                <a:stretch>
                  <a:fillRect l="-1002" t="-56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9F6A6F-C04C-C03B-5AF4-11A53BFB1E24}"/>
                  </a:ext>
                </a:extLst>
              </p:cNvPr>
              <p:cNvSpPr txBox="1"/>
              <p:nvPr/>
            </p:nvSpPr>
            <p:spPr>
              <a:xfrm>
                <a:off x="5246144" y="6131340"/>
                <a:ext cx="6096000" cy="280590"/>
              </a:xfrm>
              <a:prstGeom prst="rect">
                <a:avLst/>
              </a:prstGeom>
              <a:noFill/>
            </p:spPr>
            <p:txBody>
              <a:bodyPr wrap="square">
                <a:spAutoFit/>
              </a:bodyPr>
              <a:lstStyle/>
              <a:p>
                <a:r>
                  <a:rPr lang="en-IN" sz="1200" dirty="0">
                    <a:latin typeface="Cambria Math" panose="02040503050406030204" pitchFamily="18" charset="0"/>
                    <a:ea typeface="Cambria Math" panose="02040503050406030204" pitchFamily="18" charset="0"/>
                  </a:rPr>
                  <a:t>For a straight undeformed rod: </a:t>
                </a:r>
                <a14:m>
                  <m:oMath xmlns:m="http://schemas.openxmlformats.org/officeDocument/2006/math">
                    <m:sSup>
                      <m:sSupPr>
                        <m:ctrlPr>
                          <a:rPr lang="en-US" sz="1200" b="0" i="0" dirty="0" smtClean="0">
                            <a:latin typeface="Cambria Math" panose="02040503050406030204" pitchFamily="18" charset="0"/>
                            <a:ea typeface="Cambria Math" panose="02040503050406030204" pitchFamily="18" charset="0"/>
                          </a:rPr>
                        </m:ctrlPr>
                      </m:sSupPr>
                      <m:e>
                        <m:r>
                          <m:rPr>
                            <m:sty m:val="p"/>
                          </m:rPr>
                          <a:rPr lang="en-US" sz="1200" b="0" i="0" dirty="0" smtClean="0">
                            <a:latin typeface="Cambria Math" panose="02040503050406030204" pitchFamily="18" charset="0"/>
                            <a:ea typeface="Cambria Math" panose="02040503050406030204" pitchFamily="18" charset="0"/>
                          </a:rPr>
                          <m:t>u</m:t>
                        </m:r>
                      </m:e>
                      <m:sup>
                        <m:r>
                          <a:rPr lang="en-US" sz="1200" b="0" i="0" dirty="0" smtClean="0">
                            <a:latin typeface="Cambria Math" panose="02040503050406030204" pitchFamily="18" charset="0"/>
                            <a:ea typeface="Cambria Math" panose="02040503050406030204" pitchFamily="18" charset="0"/>
                          </a:rPr>
                          <m:t>∗</m:t>
                        </m:r>
                      </m:sup>
                    </m:sSup>
                    <m:r>
                      <a:rPr lang="el-GR" sz="1200" i="0" dirty="0" smtClean="0">
                        <a:latin typeface="Cambria Math" panose="02040503050406030204" pitchFamily="18" charset="0"/>
                        <a:ea typeface="Cambria Math" panose="02040503050406030204" pitchFamily="18" charset="0"/>
                      </a:rPr>
                      <m:t> </m:t>
                    </m:r>
                    <m:r>
                      <a:rPr lang="el-GR" sz="1200" i="0" dirty="0">
                        <a:latin typeface="Cambria Math" panose="02040503050406030204" pitchFamily="18" charset="0"/>
                        <a:ea typeface="Cambria Math" panose="02040503050406030204" pitchFamily="18" charset="0"/>
                      </a:rPr>
                      <m:t>= </m:t>
                    </m:r>
                    <m:sSup>
                      <m:sSupPr>
                        <m:ctrlPr>
                          <a:rPr lang="el-GR" sz="1200" i="1" dirty="0" smtClean="0">
                            <a:latin typeface="Cambria Math" panose="02040503050406030204" pitchFamily="18" charset="0"/>
                            <a:ea typeface="Cambria Math" panose="02040503050406030204" pitchFamily="18" charset="0"/>
                          </a:rPr>
                        </m:ctrlPr>
                      </m:sSupPr>
                      <m:e>
                        <m:d>
                          <m:dPr>
                            <m:begChr m:val="["/>
                            <m:endChr m:val="]"/>
                            <m:ctrlPr>
                              <a:rPr lang="el-GR" sz="1200" i="0" dirty="0" smtClean="0">
                                <a:latin typeface="Cambria Math" panose="02040503050406030204" pitchFamily="18" charset="0"/>
                                <a:ea typeface="Cambria Math" panose="02040503050406030204" pitchFamily="18" charset="0"/>
                              </a:rPr>
                            </m:ctrlPr>
                          </m:dPr>
                          <m:e>
                            <m:r>
                              <a:rPr lang="el-GR" sz="1200" i="0" dirty="0" smtClean="0">
                                <a:latin typeface="Cambria Math" panose="02040503050406030204" pitchFamily="18" charset="0"/>
                                <a:ea typeface="Cambria Math" panose="02040503050406030204" pitchFamily="18" charset="0"/>
                              </a:rPr>
                              <m:t>0,0,0</m:t>
                            </m:r>
                          </m:e>
                        </m:d>
                      </m:e>
                      <m:sup>
                        <m:r>
                          <m:rPr>
                            <m:sty m:val="p"/>
                          </m:rPr>
                          <a:rPr lang="en-US" sz="1200" i="0" dirty="0" smtClean="0">
                            <a:latin typeface="Cambria Math" panose="02040503050406030204" pitchFamily="18" charset="0"/>
                            <a:ea typeface="Cambria Math" panose="02040503050406030204" pitchFamily="18" charset="0"/>
                          </a:rPr>
                          <m:t>T</m:t>
                        </m:r>
                      </m:sup>
                    </m:sSup>
                    <m:r>
                      <a:rPr lang="en-US" sz="1200" b="0" i="0" dirty="0" smtClean="0">
                        <a:latin typeface="Cambria Math" panose="02040503050406030204" pitchFamily="18" charset="0"/>
                        <a:ea typeface="Cambria Math" panose="02040503050406030204" pitchFamily="18" charset="0"/>
                      </a:rPr>
                      <m:t>,</m:t>
                    </m:r>
                    <m:r>
                      <a:rPr lang="en-US" sz="1200" i="0" dirty="0" smtClean="0">
                        <a:latin typeface="Cambria Math" panose="02040503050406030204" pitchFamily="18" charset="0"/>
                        <a:ea typeface="Cambria Math" panose="02040503050406030204" pitchFamily="18" charset="0"/>
                      </a:rPr>
                      <m:t> </m:t>
                    </m:r>
                    <m:sSup>
                      <m:sSupPr>
                        <m:ctrlPr>
                          <a:rPr lang="en-US" sz="1200" i="0" dirty="0" smtClean="0">
                            <a:latin typeface="Cambria Math" panose="02040503050406030204" pitchFamily="18" charset="0"/>
                            <a:ea typeface="Cambria Math" panose="02040503050406030204" pitchFamily="18" charset="0"/>
                          </a:rPr>
                        </m:ctrlPr>
                      </m:sSupPr>
                      <m:e>
                        <m:r>
                          <m:rPr>
                            <m:sty m:val="p"/>
                          </m:rPr>
                          <a:rPr lang="en-US" sz="1200" i="0" dirty="0" smtClean="0">
                            <a:latin typeface="Cambria Math" panose="02040503050406030204" pitchFamily="18" charset="0"/>
                            <a:ea typeface="Cambria Math" panose="02040503050406030204" pitchFamily="18" charset="0"/>
                          </a:rPr>
                          <m:t>v</m:t>
                        </m:r>
                      </m:e>
                      <m:sup>
                        <m:r>
                          <a:rPr lang="en-US" sz="1200" i="0" dirty="0" smtClean="0">
                            <a:latin typeface="Cambria Math" panose="02040503050406030204" pitchFamily="18" charset="0"/>
                            <a:ea typeface="Cambria Math" panose="02040503050406030204" pitchFamily="18" charset="0"/>
                          </a:rPr>
                          <m:t>∗</m:t>
                        </m:r>
                      </m:sup>
                    </m:sSup>
                    <m:r>
                      <a:rPr lang="en-US" sz="1200" i="0" dirty="0" smtClean="0">
                        <a:latin typeface="Cambria Math" panose="02040503050406030204" pitchFamily="18" charset="0"/>
                        <a:ea typeface="Cambria Math" panose="02040503050406030204" pitchFamily="18" charset="0"/>
                      </a:rPr>
                      <m:t>=[</m:t>
                    </m:r>
                    <m:r>
                      <a:rPr lang="el-GR" sz="1200" i="0" dirty="0" smtClean="0">
                        <a:latin typeface="Cambria Math" panose="02040503050406030204" pitchFamily="18" charset="0"/>
                        <a:ea typeface="Cambria Math" panose="02040503050406030204" pitchFamily="18" charset="0"/>
                      </a:rPr>
                      <m:t>0,0,1</m:t>
                    </m:r>
                    <m:r>
                      <a:rPr lang="el-GR" sz="1200" i="0" dirty="0">
                        <a:latin typeface="Cambria Math" panose="02040503050406030204" pitchFamily="18" charset="0"/>
                        <a:ea typeface="Cambria Math" panose="02040503050406030204" pitchFamily="18" charset="0"/>
                      </a:rPr>
                      <m:t>]</m:t>
                    </m:r>
                    <m:r>
                      <a:rPr lang="en-IN" sz="1200" i="0" dirty="0">
                        <a:latin typeface="Cambria Math" panose="02040503050406030204" pitchFamily="18" charset="0"/>
                        <a:ea typeface="Cambria Math" panose="02040503050406030204" pitchFamily="18" charset="0"/>
                      </a:rPr>
                      <m:t>ᵀ</m:t>
                    </m:r>
                  </m:oMath>
                </a14:m>
                <a:endParaRPr lang="en-IN" sz="1200"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589F6A6F-C04C-C03B-5AF4-11A53BFB1E24}"/>
                  </a:ext>
                </a:extLst>
              </p:cNvPr>
              <p:cNvSpPr txBox="1">
                <a:spLocks noRot="1" noChangeAspect="1" noMove="1" noResize="1" noEditPoints="1" noAdjustHandles="1" noChangeArrowheads="1" noChangeShapeType="1" noTextEdit="1"/>
              </p:cNvSpPr>
              <p:nvPr/>
            </p:nvSpPr>
            <p:spPr>
              <a:xfrm>
                <a:off x="5246144" y="6131340"/>
                <a:ext cx="6096000" cy="280590"/>
              </a:xfrm>
              <a:prstGeom prst="rect">
                <a:avLst/>
              </a:prstGeom>
              <a:blipFill>
                <a:blip r:embed="rId3"/>
                <a:stretch>
                  <a:fillRect l="-100" b="-17391"/>
                </a:stretch>
              </a:blipFill>
            </p:spPr>
            <p:txBody>
              <a:bodyPr/>
              <a:lstStyle/>
              <a:p>
                <a:r>
                  <a:rPr lang="en-IN">
                    <a:noFill/>
                  </a:rPr>
                  <a:t> </a:t>
                </a:r>
              </a:p>
            </p:txBody>
          </p:sp>
        </mc:Fallback>
      </mc:AlternateContent>
      <p:grpSp>
        <p:nvGrpSpPr>
          <p:cNvPr id="76" name="Group 75">
            <a:extLst>
              <a:ext uri="{FF2B5EF4-FFF2-40B4-BE49-F238E27FC236}">
                <a16:creationId xmlns:a16="http://schemas.microsoft.com/office/drawing/2014/main" id="{AF9BA6EF-BC08-5EC8-7F37-A715D77FDFA7}"/>
              </a:ext>
            </a:extLst>
          </p:cNvPr>
          <p:cNvGrpSpPr/>
          <p:nvPr/>
        </p:nvGrpSpPr>
        <p:grpSpPr>
          <a:xfrm>
            <a:off x="611805" y="1189740"/>
            <a:ext cx="4714870" cy="5222190"/>
            <a:chOff x="4136574" y="958557"/>
            <a:chExt cx="4714870" cy="5222190"/>
          </a:xfrm>
        </p:grpSpPr>
        <p:sp>
          <p:nvSpPr>
            <p:cNvPr id="51" name="TextBox 50">
              <a:extLst>
                <a:ext uri="{FF2B5EF4-FFF2-40B4-BE49-F238E27FC236}">
                  <a16:creationId xmlns:a16="http://schemas.microsoft.com/office/drawing/2014/main" id="{6696FBFC-474F-6E00-7DFE-DE918EC17A5A}"/>
                </a:ext>
              </a:extLst>
            </p:cNvPr>
            <p:cNvSpPr txBox="1"/>
            <p:nvPr/>
          </p:nvSpPr>
          <p:spPr>
            <a:xfrm>
              <a:off x="7312312" y="1606583"/>
              <a:ext cx="402674"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y0</a:t>
              </a:r>
              <a:endParaRPr lang="en-IN" sz="1600" dirty="0">
                <a:latin typeface="Cambria Math" panose="02040503050406030204" pitchFamily="18" charset="0"/>
                <a:ea typeface="Cambria Math" panose="02040503050406030204" pitchFamily="18" charset="0"/>
              </a:endParaRPr>
            </a:p>
          </p:txBody>
        </p:sp>
        <p:grpSp>
          <p:nvGrpSpPr>
            <p:cNvPr id="75" name="Group 74">
              <a:extLst>
                <a:ext uri="{FF2B5EF4-FFF2-40B4-BE49-F238E27FC236}">
                  <a16:creationId xmlns:a16="http://schemas.microsoft.com/office/drawing/2014/main" id="{C82B1D5A-971F-5BC0-9E27-48F4DA8A1C09}"/>
                </a:ext>
              </a:extLst>
            </p:cNvPr>
            <p:cNvGrpSpPr/>
            <p:nvPr/>
          </p:nvGrpSpPr>
          <p:grpSpPr>
            <a:xfrm>
              <a:off x="4136574" y="958557"/>
              <a:ext cx="4714870" cy="5222190"/>
              <a:chOff x="4136574" y="958557"/>
              <a:chExt cx="4714870" cy="5222190"/>
            </a:xfrm>
          </p:grpSpPr>
          <p:sp>
            <p:nvSpPr>
              <p:cNvPr id="23" name="Rectangle 22">
                <a:extLst>
                  <a:ext uri="{FF2B5EF4-FFF2-40B4-BE49-F238E27FC236}">
                    <a16:creationId xmlns:a16="http://schemas.microsoft.com/office/drawing/2014/main" id="{9DB0CD91-CE08-4FCC-E6E8-95B38B8618B2}"/>
                  </a:ext>
                </a:extLst>
              </p:cNvPr>
              <p:cNvSpPr/>
              <p:nvPr/>
            </p:nvSpPr>
            <p:spPr>
              <a:xfrm>
                <a:off x="4682066" y="1603044"/>
                <a:ext cx="2092916" cy="7337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BVP</a:t>
                </a:r>
              </a:p>
              <a:p>
                <a:pPr algn="ctr"/>
                <a:r>
                  <a:rPr lang="en-US" sz="1600" dirty="0">
                    <a:latin typeface="Cambria Math" panose="02040503050406030204" pitchFamily="18" charset="0"/>
                    <a:ea typeface="Cambria Math" panose="02040503050406030204" pitchFamily="18" charset="0"/>
                  </a:rPr>
                  <a:t>Shooting method</a:t>
                </a:r>
              </a:p>
              <a:p>
                <a:pPr algn="ctr"/>
                <a:r>
                  <a:rPr lang="en-US" sz="1600" dirty="0">
                    <a:latin typeface="Cambria Math" panose="02040503050406030204" pitchFamily="18" charset="0"/>
                    <a:ea typeface="Cambria Math" panose="02040503050406030204" pitchFamily="18" charset="0"/>
                  </a:rPr>
                  <a:t>[ 1) guess n0, m0]</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0B63471-112F-7763-578F-CC7C760F40BB}"/>
                      </a:ext>
                    </a:extLst>
                  </p:cNvPr>
                  <p:cNvSpPr/>
                  <p:nvPr/>
                </p:nvSpPr>
                <p:spPr>
                  <a:xfrm>
                    <a:off x="6345289" y="2504322"/>
                    <a:ext cx="1886420" cy="5085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Math" panose="02040503050406030204" pitchFamily="18" charset="0"/>
                        <a:ea typeface="Cambria Math" panose="02040503050406030204" pitchFamily="18" charset="0"/>
                      </a:rPr>
                      <a:t>ODE of </a:t>
                    </a:r>
                  </a:p>
                  <a:p>
                    <a:pPr algn="ct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𝑅</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𝑛</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i="1" dirty="0" err="1">
                                  <a:latin typeface="Cambria Math" panose="02040503050406030204" pitchFamily="18" charset="0"/>
                                  <a:ea typeface="Cambria Math" panose="02040503050406030204" pitchFamily="18" charset="0"/>
                                </a:rPr>
                              </m:ctrlPr>
                            </m:sSubPr>
                            <m:e>
                              <m:r>
                                <a:rPr lang="en-US" sz="1600" i="1" dirty="0" err="1">
                                  <a:latin typeface="Cambria Math" panose="02040503050406030204" pitchFamily="18" charset="0"/>
                                  <a:ea typeface="Cambria Math" panose="02040503050406030204" pitchFamily="18" charset="0"/>
                                </a:rPr>
                                <m:t>𝑚</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𝑞</m:t>
                              </m:r>
                            </m:e>
                            <m:sub>
                              <m:r>
                                <a:rPr lang="en-US" sz="1600" i="1" dirty="0" err="1">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𝑤</m:t>
                              </m:r>
                            </m:e>
                            <m:sub>
                              <m:r>
                                <a:rPr lang="en-US" sz="1600" i="1" dirty="0" err="1">
                                  <a:latin typeface="Cambria Math" panose="02040503050406030204" pitchFamily="18" charset="0"/>
                                  <a:ea typeface="Cambria Math" panose="02040503050406030204" pitchFamily="18" charset="0"/>
                                </a:rPr>
                                <m:t>𝑠</m:t>
                              </m:r>
                            </m:sub>
                          </m:sSub>
                        </m:oMath>
                      </m:oMathPara>
                    </a14:m>
                    <a:endParaRPr lang="en-IN" sz="1600" dirty="0">
                      <a:latin typeface="Cambria Math" panose="02040503050406030204" pitchFamily="18" charset="0"/>
                      <a:ea typeface="Cambria Math" panose="02040503050406030204" pitchFamily="18" charset="0"/>
                    </a:endParaRPr>
                  </a:p>
                </p:txBody>
              </p:sp>
            </mc:Choice>
            <mc:Fallback xmlns="">
              <p:sp>
                <p:nvSpPr>
                  <p:cNvPr id="25" name="Rectangle 24">
                    <a:extLst>
                      <a:ext uri="{FF2B5EF4-FFF2-40B4-BE49-F238E27FC236}">
                        <a16:creationId xmlns:a16="http://schemas.microsoft.com/office/drawing/2014/main" id="{E0B63471-112F-7763-578F-CC7C760F40BB}"/>
                      </a:ext>
                    </a:extLst>
                  </p:cNvPr>
                  <p:cNvSpPr>
                    <a:spLocks noRot="1" noChangeAspect="1" noMove="1" noResize="1" noEditPoints="1" noAdjustHandles="1" noChangeArrowheads="1" noChangeShapeType="1" noTextEdit="1"/>
                  </p:cNvSpPr>
                  <p:nvPr/>
                </p:nvSpPr>
                <p:spPr>
                  <a:xfrm>
                    <a:off x="6345289" y="2504322"/>
                    <a:ext cx="1886420" cy="508526"/>
                  </a:xfrm>
                  <a:prstGeom prst="rect">
                    <a:avLst/>
                  </a:prstGeom>
                  <a:blipFill>
                    <a:blip r:embed="rId4"/>
                    <a:stretch>
                      <a:fillRect t="-9195" b="-8046"/>
                    </a:stretch>
                  </a:blipFill>
                </p:spPr>
                <p:txBody>
                  <a:bodyPr/>
                  <a:lstStyle/>
                  <a:p>
                    <a:r>
                      <a:rPr lang="en-IN">
                        <a:noFill/>
                      </a:rPr>
                      <a:t> </a:t>
                    </a:r>
                  </a:p>
                </p:txBody>
              </p:sp>
            </mc:Fallback>
          </mc:AlternateContent>
          <p:cxnSp>
            <p:nvCxnSpPr>
              <p:cNvPr id="30" name="Straight Arrow Connector 29">
                <a:extLst>
                  <a:ext uri="{FF2B5EF4-FFF2-40B4-BE49-F238E27FC236}">
                    <a16:creationId xmlns:a16="http://schemas.microsoft.com/office/drawing/2014/main" id="{1DBC6830-40DD-F49C-E7B8-71F676F4A705}"/>
                  </a:ext>
                </a:extLst>
              </p:cNvPr>
              <p:cNvCxnSpPr>
                <a:cxnSpLocks/>
                <a:stCxn id="25" idx="2"/>
              </p:cNvCxnSpPr>
              <p:nvPr/>
            </p:nvCxnSpPr>
            <p:spPr>
              <a:xfrm>
                <a:off x="7288499" y="3012848"/>
                <a:ext cx="5256" cy="373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9B84DFD2-2FCF-F32D-6606-1DE4BD756AFE}"/>
                  </a:ext>
                </a:extLst>
              </p:cNvPr>
              <p:cNvSpPr/>
              <p:nvPr/>
            </p:nvSpPr>
            <p:spPr>
              <a:xfrm>
                <a:off x="6377262" y="3414888"/>
                <a:ext cx="1886420" cy="5353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atin typeface="Cambria Math" panose="02040503050406030204" pitchFamily="18" charset="0"/>
                  <a:ea typeface="Cambria Math" panose="02040503050406030204" pitchFamily="18" charset="0"/>
                </a:endParaRPr>
              </a:p>
              <a:p>
                <a:pPr algn="ctr"/>
                <a:r>
                  <a:rPr lang="en-US" sz="1600" dirty="0">
                    <a:latin typeface="Cambria Math" panose="02040503050406030204" pitchFamily="18" charset="0"/>
                    <a:ea typeface="Cambria Math" panose="02040503050406030204" pitchFamily="18" charset="0"/>
                  </a:rPr>
                  <a:t>4) IVP – RK45,RK4 etc.</a:t>
                </a:r>
                <a:endParaRPr lang="en-IN" sz="1600" dirty="0">
                  <a:latin typeface="Cambria Math" panose="02040503050406030204" pitchFamily="18" charset="0"/>
                  <a:ea typeface="Cambria Math" panose="02040503050406030204" pitchFamily="18" charset="0"/>
                </a:endParaRPr>
              </a:p>
              <a:p>
                <a:pPr algn="ctr"/>
                <a:endParaRPr lang="en-US" sz="1600" dirty="0">
                  <a:latin typeface="Cambria Math" panose="02040503050406030204" pitchFamily="18" charset="0"/>
                  <a:ea typeface="Cambria Math" panose="02040503050406030204" pitchFamily="18" charset="0"/>
                </a:endParaRPr>
              </a:p>
            </p:txBody>
          </p:sp>
          <p:cxnSp>
            <p:nvCxnSpPr>
              <p:cNvPr id="37" name="Connector: Elbow 36">
                <a:extLst>
                  <a:ext uri="{FF2B5EF4-FFF2-40B4-BE49-F238E27FC236}">
                    <a16:creationId xmlns:a16="http://schemas.microsoft.com/office/drawing/2014/main" id="{27AEF79D-F8F5-4994-BB4A-490A34639BEF}"/>
                  </a:ext>
                </a:extLst>
              </p:cNvPr>
              <p:cNvCxnSpPr>
                <a:cxnSpLocks/>
                <a:stCxn id="23" idx="3"/>
                <a:endCxn id="25" idx="0"/>
              </p:cNvCxnSpPr>
              <p:nvPr/>
            </p:nvCxnSpPr>
            <p:spPr>
              <a:xfrm>
                <a:off x="6774982" y="1969922"/>
                <a:ext cx="513517" cy="5344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51DC8B5-8B10-40A7-6B02-03574266AF53}"/>
                  </a:ext>
                </a:extLst>
              </p:cNvPr>
              <p:cNvSpPr txBox="1"/>
              <p:nvPr/>
            </p:nvSpPr>
            <p:spPr>
              <a:xfrm>
                <a:off x="4682066" y="1224761"/>
                <a:ext cx="1879041" cy="338554"/>
              </a:xfrm>
              <a:prstGeom prst="rect">
                <a:avLst/>
              </a:prstGeom>
              <a:no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 = [r, R, q, w, n ,m]</a:t>
                </a:r>
                <a:endParaRPr lang="en-IN" sz="1600" dirty="0">
                  <a:latin typeface="Cambria Math" panose="02040503050406030204" pitchFamily="18" charset="0"/>
                  <a:ea typeface="Cambria Math" panose="02040503050406030204" pitchFamily="18" charset="0"/>
                </a:endParaRPr>
              </a:p>
            </p:txBody>
          </p:sp>
          <p:sp>
            <p:nvSpPr>
              <p:cNvPr id="53" name="TextBox 52">
                <a:extLst>
                  <a:ext uri="{FF2B5EF4-FFF2-40B4-BE49-F238E27FC236}">
                    <a16:creationId xmlns:a16="http://schemas.microsoft.com/office/drawing/2014/main" id="{C051CB22-5CC9-B667-F472-D9F43885FF8C}"/>
                  </a:ext>
                </a:extLst>
              </p:cNvPr>
              <p:cNvSpPr txBox="1"/>
              <p:nvPr/>
            </p:nvSpPr>
            <p:spPr>
              <a:xfrm>
                <a:off x="6027915" y="4285455"/>
                <a:ext cx="569387"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y(L)</a:t>
                </a:r>
                <a:endParaRPr lang="en-IN" sz="1600" dirty="0">
                  <a:latin typeface="Cambria Math" panose="02040503050406030204" pitchFamily="18" charset="0"/>
                  <a:ea typeface="Cambria Math" panose="02040503050406030204" pitchFamily="18" charset="0"/>
                </a:endParaRPr>
              </a:p>
            </p:txBody>
          </p:sp>
          <p:cxnSp>
            <p:nvCxnSpPr>
              <p:cNvPr id="56" name="Connector: Elbow 55">
                <a:extLst>
                  <a:ext uri="{FF2B5EF4-FFF2-40B4-BE49-F238E27FC236}">
                    <a16:creationId xmlns:a16="http://schemas.microsoft.com/office/drawing/2014/main" id="{F9574D1C-FEAD-C17C-6B65-DAA9E0B09C2B}"/>
                  </a:ext>
                </a:extLst>
              </p:cNvPr>
              <p:cNvCxnSpPr>
                <a:cxnSpLocks/>
                <a:stCxn id="35" idx="2"/>
                <a:endCxn id="67" idx="3"/>
              </p:cNvCxnSpPr>
              <p:nvPr/>
            </p:nvCxnSpPr>
            <p:spPr>
              <a:xfrm rot="5400000">
                <a:off x="6211396" y="3675809"/>
                <a:ext cx="834615" cy="13835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AD8FB38A-02C2-00BD-F361-D4F4CC2202D1}"/>
                  </a:ext>
                </a:extLst>
              </p:cNvPr>
              <p:cNvSpPr txBox="1"/>
              <p:nvPr/>
            </p:nvSpPr>
            <p:spPr>
              <a:xfrm>
                <a:off x="7320472" y="4626319"/>
                <a:ext cx="546945"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y(s)</a:t>
                </a:r>
                <a:endParaRPr lang="en-IN" sz="1600" dirty="0">
                  <a:latin typeface="Cambria Math" panose="02040503050406030204" pitchFamily="18" charset="0"/>
                  <a:ea typeface="Cambria Math" panose="02040503050406030204" pitchFamily="18" charset="0"/>
                </a:endParaRPr>
              </a:p>
            </p:txBody>
          </p:sp>
          <p:cxnSp>
            <p:nvCxnSpPr>
              <p:cNvPr id="62" name="Straight Arrow Connector 61">
                <a:extLst>
                  <a:ext uri="{FF2B5EF4-FFF2-40B4-BE49-F238E27FC236}">
                    <a16:creationId xmlns:a16="http://schemas.microsoft.com/office/drawing/2014/main" id="{7EE7F15B-3320-51D2-6A6B-3E139CE032DB}"/>
                  </a:ext>
                </a:extLst>
              </p:cNvPr>
              <p:cNvCxnSpPr>
                <a:cxnSpLocks/>
                <a:stCxn id="23" idx="2"/>
              </p:cNvCxnSpPr>
              <p:nvPr/>
            </p:nvCxnSpPr>
            <p:spPr>
              <a:xfrm>
                <a:off x="5728524" y="2336800"/>
                <a:ext cx="10511" cy="3491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7" name="Diamond 66">
                <a:extLst>
                  <a:ext uri="{FF2B5EF4-FFF2-40B4-BE49-F238E27FC236}">
                    <a16:creationId xmlns:a16="http://schemas.microsoft.com/office/drawing/2014/main" id="{68F66C4C-8691-860F-3D13-FA9A9882E1E5}"/>
                  </a:ext>
                </a:extLst>
              </p:cNvPr>
              <p:cNvSpPr/>
              <p:nvPr/>
            </p:nvSpPr>
            <p:spPr>
              <a:xfrm>
                <a:off x="5520113" y="4542251"/>
                <a:ext cx="416821" cy="485269"/>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600">
                  <a:latin typeface="Cambria Math" panose="02040503050406030204" pitchFamily="18" charset="0"/>
                  <a:ea typeface="Cambria Math" panose="02040503050406030204" pitchFamily="18" charset="0"/>
                </a:endParaRPr>
              </a:p>
            </p:txBody>
          </p:sp>
          <p:sp>
            <p:nvSpPr>
              <p:cNvPr id="68" name="TextBox 67">
                <a:extLst>
                  <a:ext uri="{FF2B5EF4-FFF2-40B4-BE49-F238E27FC236}">
                    <a16:creationId xmlns:a16="http://schemas.microsoft.com/office/drawing/2014/main" id="{F15095E4-5647-D978-1ECD-A946AAE9A1FD}"/>
                  </a:ext>
                </a:extLst>
              </p:cNvPr>
              <p:cNvSpPr txBox="1"/>
              <p:nvPr/>
            </p:nvSpPr>
            <p:spPr>
              <a:xfrm>
                <a:off x="4136574" y="3721815"/>
                <a:ext cx="1435027" cy="830997"/>
              </a:xfrm>
              <a:prstGeom prst="rect">
                <a:avLst/>
              </a:prstGeom>
              <a:solidFill>
                <a:schemeClr val="bg1"/>
              </a:solidFill>
              <a:ln>
                <a:solidFill>
                  <a:schemeClr val="tx1"/>
                </a:solidFill>
              </a:ln>
            </p:spPr>
            <p:txBody>
              <a:bodyPr wrap="square" rtlCol="0">
                <a:spAutoFit/>
              </a:bodyPr>
              <a:lstStyle/>
              <a:p>
                <a:r>
                  <a:rPr lang="en-US" sz="1600" dirty="0">
                    <a:latin typeface="Cambria Math" panose="02040503050406030204" pitchFamily="18" charset="0"/>
                    <a:ea typeface="Cambria Math" panose="02040503050406030204" pitchFamily="18" charset="0"/>
                  </a:rPr>
                  <a:t>Check error with knowns</a:t>
                </a:r>
              </a:p>
              <a:p>
                <a:r>
                  <a:rPr lang="en-US" sz="1600" dirty="0">
                    <a:latin typeface="Cambria Math" panose="02040503050406030204" pitchFamily="18" charset="0"/>
                    <a:ea typeface="Cambria Math" panose="02040503050406030204" pitchFamily="18" charset="0"/>
                  </a:rPr>
                  <a:t>n(L), m(L)</a:t>
                </a:r>
              </a:p>
            </p:txBody>
          </p:sp>
          <p:sp>
            <p:nvSpPr>
              <p:cNvPr id="70" name="TextBox 69">
                <a:extLst>
                  <a:ext uri="{FF2B5EF4-FFF2-40B4-BE49-F238E27FC236}">
                    <a16:creationId xmlns:a16="http://schemas.microsoft.com/office/drawing/2014/main" id="{E76C5FBB-FB4F-E9C6-B318-7A2DA5339156}"/>
                  </a:ext>
                </a:extLst>
              </p:cNvPr>
              <p:cNvSpPr txBox="1"/>
              <p:nvPr/>
            </p:nvSpPr>
            <p:spPr>
              <a:xfrm>
                <a:off x="5249958" y="5842193"/>
                <a:ext cx="1045479" cy="338554"/>
              </a:xfrm>
              <a:prstGeom prst="rect">
                <a:avLst/>
              </a:prstGeom>
              <a:solidFill>
                <a:schemeClr val="bg1"/>
              </a:solidFill>
              <a:ln>
                <a:solidFill>
                  <a:schemeClr val="tx1"/>
                </a:solidFill>
              </a:ln>
            </p:spPr>
            <p:txBody>
              <a:bodyPr wrap="none" rtlCol="0">
                <a:spAutoFit/>
              </a:bodyPr>
              <a:lstStyle/>
              <a:p>
                <a:r>
                  <a:rPr lang="en-US" sz="1600" dirty="0">
                    <a:latin typeface="Cambria Math" panose="02040503050406030204" pitchFamily="18" charset="0"/>
                    <a:ea typeface="Cambria Math" panose="02040503050406030204" pitchFamily="18" charset="0"/>
                  </a:rPr>
                  <a:t>r(L), R(L)</a:t>
                </a:r>
                <a:endParaRPr lang="en-IN" sz="16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700DACF-5FA7-24F3-0105-2141B9403D9D}"/>
                      </a:ext>
                    </a:extLst>
                  </p:cNvPr>
                  <p:cNvSpPr txBox="1"/>
                  <p:nvPr/>
                </p:nvSpPr>
                <p:spPr>
                  <a:xfrm>
                    <a:off x="7313900" y="958557"/>
                    <a:ext cx="1537544" cy="600164"/>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𝑟</m:t>
                          </m:r>
                          <m:d>
                            <m:dPr>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m:t>
                              </m:r>
                            </m:e>
                          </m:d>
                          <m:r>
                            <a:rPr lang="en-US" sz="1100" b="0" i="1" dirty="0" smtClean="0">
                              <a:latin typeface="Cambria Math" panose="02040503050406030204" pitchFamily="18" charset="0"/>
                              <a:ea typeface="Cambria Math" panose="02040503050406030204" pitchFamily="18" charset="0"/>
                            </a:rPr>
                            <m:t>=</m:t>
                          </m:r>
                          <m:r>
                            <a:rPr lang="en-US" sz="1100" b="0" i="1" dirty="0" smtClean="0">
                              <a:latin typeface="Cambria Math" panose="02040503050406030204" pitchFamily="18" charset="0"/>
                              <a:ea typeface="Cambria Math" panose="02040503050406030204" pitchFamily="18" charset="0"/>
                            </a:rPr>
                            <m:t>𝑞</m:t>
                          </m:r>
                          <m:d>
                            <m:dPr>
                              <m:ctrlPr>
                                <a:rPr lang="en-US" sz="1100" b="0" i="1" dirty="0" smtClean="0">
                                  <a:latin typeface="Cambria Math" panose="02040503050406030204" pitchFamily="18" charset="0"/>
                                  <a:ea typeface="Cambria Math" panose="02040503050406030204" pitchFamily="18" charset="0"/>
                                </a:rPr>
                              </m:ctrlPr>
                            </m:dPr>
                            <m:e>
                              <m:r>
                                <a:rPr lang="en-US" sz="1100" b="0" i="1" dirty="0" smtClean="0">
                                  <a:latin typeface="Cambria Math" panose="02040503050406030204" pitchFamily="18" charset="0"/>
                                  <a:ea typeface="Cambria Math" panose="02040503050406030204" pitchFamily="18" charset="0"/>
                                </a:rPr>
                                <m:t>0</m:t>
                              </m:r>
                            </m:e>
                          </m:d>
                        </m:oMath>
                      </m:oMathPara>
                    </a14:m>
                    <a:endParaRPr lang="en-US" sz="11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b="0" i="1" dirty="0" smtClean="0">
                              <a:latin typeface="Cambria Math" panose="02040503050406030204" pitchFamily="18" charset="0"/>
                              <a:ea typeface="Cambria Math" panose="02040503050406030204" pitchFamily="18" charset="0"/>
                            </a:rPr>
                            <m:t>=</m:t>
                          </m:r>
                          <m:r>
                            <a:rPr lang="en-US" sz="1100" b="0" i="1" dirty="0" smtClean="0">
                              <a:latin typeface="Cambria Math" panose="02040503050406030204" pitchFamily="18" charset="0"/>
                              <a:ea typeface="Cambria Math" panose="02040503050406030204" pitchFamily="18" charset="0"/>
                            </a:rPr>
                            <m:t>𝑤</m:t>
                          </m:r>
                          <m:r>
                            <a:rPr lang="en-US" sz="1100" b="0" i="1" dirty="0" smtClean="0">
                              <a:latin typeface="Cambria Math" panose="02040503050406030204" pitchFamily="18" charset="0"/>
                              <a:ea typeface="Cambria Math" panose="02040503050406030204" pitchFamily="18" charset="0"/>
                            </a:rPr>
                            <m:t>(0)= </m:t>
                          </m:r>
                          <m:sSup>
                            <m:sSupPr>
                              <m:ctrlPr>
                                <a:rPr lang="en-US" sz="1100" i="1" dirty="0" smtClean="0">
                                  <a:latin typeface="Cambria Math" panose="02040503050406030204" pitchFamily="18" charset="0"/>
                                  <a:ea typeface="Cambria Math" panose="02040503050406030204" pitchFamily="18" charset="0"/>
                                </a:rPr>
                              </m:ctrlPr>
                            </m:sSupPr>
                            <m:e>
                              <m:d>
                                <m:dPr>
                                  <m:begChr m:val="["/>
                                  <m:endChr m:val="]"/>
                                  <m:ctrlPr>
                                    <a:rPr lang="en-US" sz="1100" i="1" dirty="0" smtClean="0">
                                      <a:latin typeface="Cambria Math" panose="02040503050406030204" pitchFamily="18" charset="0"/>
                                      <a:ea typeface="Cambria Math" panose="02040503050406030204" pitchFamily="18" charset="0"/>
                                    </a:rPr>
                                  </m:ctrlPr>
                                </m:dPr>
                                <m:e>
                                  <m:r>
                                    <a:rPr lang="en-US" sz="1100" i="1" dirty="0" smtClean="0">
                                      <a:latin typeface="Cambria Math" panose="02040503050406030204" pitchFamily="18" charset="0"/>
                                      <a:ea typeface="Cambria Math" panose="02040503050406030204" pitchFamily="18" charset="0"/>
                                    </a:rPr>
                                    <m:t>0 0 0</m:t>
                                  </m:r>
                                </m:e>
                              </m:d>
                            </m:e>
                            <m:sup>
                              <m:r>
                                <a:rPr lang="en-US" sz="1100" i="1" dirty="0" smtClean="0">
                                  <a:latin typeface="Cambria Math" panose="02040503050406030204" pitchFamily="18" charset="0"/>
                                  <a:ea typeface="Cambria Math" panose="02040503050406030204" pitchFamily="18" charset="0"/>
                                </a:rPr>
                                <m:t>𝑇</m:t>
                              </m:r>
                            </m:sup>
                          </m:sSup>
                          <m:r>
                            <a:rPr lang="en-US" sz="1100" i="1" dirty="0" smtClean="0">
                              <a:latin typeface="Cambria Math" panose="02040503050406030204" pitchFamily="18" charset="0"/>
                              <a:ea typeface="Cambria Math" panose="02040503050406030204" pitchFamily="18" charset="0"/>
                            </a:rPr>
                            <m:t> ; </m:t>
                          </m:r>
                        </m:oMath>
                      </m:oMathPara>
                    </a14:m>
                    <a:endParaRPr lang="en-US" sz="11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sz="1100" i="1" dirty="0" smtClean="0">
                              <a:latin typeface="Cambria Math" panose="02040503050406030204" pitchFamily="18" charset="0"/>
                              <a:ea typeface="Cambria Math" panose="02040503050406030204" pitchFamily="18" charset="0"/>
                            </a:rPr>
                            <m:t>𝑅</m:t>
                          </m:r>
                          <m:r>
                            <a:rPr lang="en-US" sz="1100" i="1" dirty="0" smtClean="0">
                              <a:latin typeface="Cambria Math" panose="02040503050406030204" pitchFamily="18" charset="0"/>
                              <a:ea typeface="Cambria Math" panose="02040503050406030204" pitchFamily="18" charset="0"/>
                            </a:rPr>
                            <m:t>(0) = </m:t>
                          </m:r>
                          <m:r>
                            <a:rPr lang="en-US" sz="1100" i="1" dirty="0" smtClean="0">
                              <a:latin typeface="Cambria Math" panose="02040503050406030204" pitchFamily="18" charset="0"/>
                              <a:ea typeface="Cambria Math" panose="02040503050406030204" pitchFamily="18" charset="0"/>
                            </a:rPr>
                            <m:t>𝐼</m:t>
                          </m:r>
                        </m:oMath>
                      </m:oMathPara>
                    </a14:m>
                    <a:endParaRPr lang="en-US" sz="1100" i="1" dirty="0">
                      <a:latin typeface="Cambria Math" panose="02040503050406030204" pitchFamily="18" charset="0"/>
                      <a:ea typeface="Cambria Math" panose="02040503050406030204" pitchFamily="18" charset="0"/>
                    </a:endParaRPr>
                  </a:p>
                </p:txBody>
              </p:sp>
            </mc:Choice>
            <mc:Fallback xmlns="">
              <p:sp>
                <p:nvSpPr>
                  <p:cNvPr id="72" name="TextBox 71">
                    <a:extLst>
                      <a:ext uri="{FF2B5EF4-FFF2-40B4-BE49-F238E27FC236}">
                        <a16:creationId xmlns:a16="http://schemas.microsoft.com/office/drawing/2014/main" id="{B700DACF-5FA7-24F3-0105-2141B9403D9D}"/>
                      </a:ext>
                    </a:extLst>
                  </p:cNvPr>
                  <p:cNvSpPr txBox="1">
                    <a:spLocks noRot="1" noChangeAspect="1" noMove="1" noResize="1" noEditPoints="1" noAdjustHandles="1" noChangeArrowheads="1" noChangeShapeType="1" noTextEdit="1"/>
                  </p:cNvSpPr>
                  <p:nvPr/>
                </p:nvSpPr>
                <p:spPr>
                  <a:xfrm>
                    <a:off x="7313900" y="958557"/>
                    <a:ext cx="1537544" cy="600164"/>
                  </a:xfrm>
                  <a:prstGeom prst="rect">
                    <a:avLst/>
                  </a:prstGeom>
                  <a:blipFill>
                    <a:blip r:embed="rId5"/>
                    <a:stretch>
                      <a:fillRect b="-990"/>
                    </a:stretch>
                  </a:blipFill>
                  <a:ln>
                    <a:solidFill>
                      <a:schemeClr val="tx1"/>
                    </a:solidFill>
                  </a:ln>
                </p:spPr>
                <p:txBody>
                  <a:bodyPr/>
                  <a:lstStyle/>
                  <a:p>
                    <a:r>
                      <a:rPr lang="en-IN">
                        <a:noFill/>
                      </a:rPr>
                      <a:t> </a:t>
                    </a:r>
                  </a:p>
                </p:txBody>
              </p:sp>
            </mc:Fallback>
          </mc:AlternateContent>
        </p:grpSp>
      </p:grpSp>
      <p:sp>
        <p:nvSpPr>
          <p:cNvPr id="6" name="TextBox 5">
            <a:extLst>
              <a:ext uri="{FF2B5EF4-FFF2-40B4-BE49-F238E27FC236}">
                <a16:creationId xmlns:a16="http://schemas.microsoft.com/office/drawing/2014/main" id="{E84577B5-1E57-FF03-B703-45535CF7410E}"/>
              </a:ext>
            </a:extLst>
          </p:cNvPr>
          <p:cNvSpPr txBox="1"/>
          <p:nvPr/>
        </p:nvSpPr>
        <p:spPr>
          <a:xfrm>
            <a:off x="876314" y="753206"/>
            <a:ext cx="6096000" cy="584775"/>
          </a:xfrm>
          <a:prstGeom prst="rect">
            <a:avLst/>
          </a:prstGeom>
          <a:noFill/>
        </p:spPr>
        <p:txBody>
          <a:bodyPr wrap="squar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Dynamic Equilibrium:</a:t>
            </a:r>
          </a:p>
          <a:p>
            <a:pPr>
              <a:defRPr sz="2000">
                <a:solidFill>
                  <a:srgbClr val="142237"/>
                </a:solidFill>
              </a:defRPr>
            </a:pPr>
            <a:r>
              <a:rPr lang="en-US" sz="1600" dirty="0">
                <a:latin typeface="Cambria Math" panose="02040503050406030204" pitchFamily="18" charset="0"/>
                <a:ea typeface="Cambria Math" panose="02040503050406030204" pitchFamily="18" charset="0"/>
              </a:rPr>
              <a:t>(t &gt; 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2DB1AE-B5A5-746E-BA2D-0CC03E3253B1}"/>
                  </a:ext>
                </a:extLst>
              </p:cNvPr>
              <p:cNvSpPr txBox="1"/>
              <p:nvPr/>
            </p:nvSpPr>
            <p:spPr>
              <a:xfrm>
                <a:off x="185522" y="2929167"/>
                <a:ext cx="1981247" cy="1043491"/>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𝑛</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𝐿</m:t>
                          </m:r>
                        </m:e>
                      </m:d>
                      <m:r>
                        <a:rPr lang="en-US" sz="1400" b="0" i="1" smtClean="0">
                          <a:latin typeface="Cambria Math" panose="02040503050406030204" pitchFamily="18" charset="0"/>
                        </a:rPr>
                        <m:t>=</m:t>
                      </m:r>
                      <m:nary>
                        <m:naryPr>
                          <m:chr m:val="∑"/>
                          <m:subHide m:val="on"/>
                          <m:supHide m:val="on"/>
                          <m:ctrlPr>
                            <a:rPr lang="en-IN" sz="1400" i="1" dirty="0">
                              <a:latin typeface="Cambria Math" panose="02040503050406030204" pitchFamily="18" charset="0"/>
                            </a:rPr>
                          </m:ctrlPr>
                        </m:naryPr>
                        <m:sub/>
                        <m:sup/>
                        <m:e>
                          <m:sSub>
                            <m:sSubPr>
                              <m:ctrlPr>
                                <a:rPr lang="en-US" sz="1400" i="1" dirty="0">
                                  <a:latin typeface="Cambria Math" panose="02040503050406030204" pitchFamily="18" charset="0"/>
                                </a:rPr>
                              </m:ctrlPr>
                            </m:sSubPr>
                            <m:e>
                              <m:r>
                                <a:rPr lang="en-US" sz="1400" i="1" dirty="0">
                                  <a:latin typeface="Cambria Math" panose="02040503050406030204" pitchFamily="18" charset="0"/>
                                </a:rPr>
                                <m:t>𝐹</m:t>
                              </m:r>
                            </m:e>
                            <m:sub>
                              <m:r>
                                <a:rPr lang="en-US" sz="1400" i="1" dirty="0">
                                  <a:latin typeface="Cambria Math" panose="02040503050406030204" pitchFamily="18" charset="0"/>
                                </a:rPr>
                                <m:t>𝑖</m:t>
                              </m:r>
                            </m:sub>
                          </m:sSub>
                        </m:e>
                      </m:nary>
                    </m:oMath>
                  </m:oMathPara>
                </a14:m>
                <a:endParaRPr lang="en-US" sz="1400" b="0" dirty="0"/>
              </a:p>
              <a:p>
                <a:pPr/>
                <a14:m>
                  <m:oMathPara xmlns:m="http://schemas.openxmlformats.org/officeDocument/2006/math">
                    <m:oMath>
                      <m:r>
                        <a:rPr lang="en-IN" sz="1400" i="1" dirty="0" smtClean="0">
                          <a:latin typeface="Cambria Math" panose="02040503050406030204" pitchFamily="18" charset="0"/>
                        </a:rPr>
                        <m:t>𝑚</m:t>
                      </m:r>
                      <m:d>
                        <m:dPr>
                          <m:ctrlPr>
                            <a:rPr lang="en-IN" sz="1400" i="1" dirty="0" smtClean="0">
                              <a:latin typeface="Cambria Math" panose="02040503050406030204" pitchFamily="18" charset="0"/>
                            </a:rPr>
                          </m:ctrlPr>
                        </m:dPr>
                        <m:e>
                          <m:r>
                            <a:rPr lang="en-IN" sz="1400" i="1" dirty="0" smtClean="0">
                              <a:latin typeface="Cambria Math" panose="02040503050406030204" pitchFamily="18" charset="0"/>
                            </a:rPr>
                            <m:t>𝐿</m:t>
                          </m:r>
                        </m:e>
                      </m:d>
                      <m:r>
                        <a:rPr lang="en-IN" sz="140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𝑒</m:t>
                          </m:r>
                        </m:sub>
                      </m:sSub>
                      <m:r>
                        <a:rPr lang="en-US" sz="1400" b="0" i="1" dirty="0" smtClean="0">
                          <a:latin typeface="Cambria Math" panose="02040503050406030204" pitchFamily="18" charset="0"/>
                        </a:rPr>
                        <m:t>+</m:t>
                      </m:r>
                      <m:nary>
                        <m:naryPr>
                          <m:chr m:val="∑"/>
                          <m:subHide m:val="on"/>
                          <m:supHide m:val="on"/>
                          <m:ctrlPr>
                            <a:rPr lang="en-IN" sz="1400" i="1" dirty="0" smtClean="0">
                              <a:latin typeface="Cambria Math" panose="02040503050406030204" pitchFamily="18" charset="0"/>
                            </a:rPr>
                          </m:ctrlPr>
                        </m:naryPr>
                        <m:sub/>
                        <m:sup/>
                        <m:e>
                          <m:r>
                            <a:rPr lang="en-US" sz="1400" b="0" i="1" dirty="0" smtClean="0">
                              <a:latin typeface="Cambria Math" panose="02040503050406030204" pitchFamily="18" charset="0"/>
                            </a:rPr>
                            <m:t>𝑟ℎ</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𝑜</m:t>
                              </m:r>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rPr>
                            <m:t>𝑥</m:t>
                          </m:r>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𝐹</m:t>
                              </m:r>
                            </m:e>
                            <m:sub>
                              <m:r>
                                <a:rPr lang="en-US" sz="1400" b="0" i="1" dirty="0" smtClean="0">
                                  <a:latin typeface="Cambria Math" panose="02040503050406030204" pitchFamily="18" charset="0"/>
                                </a:rPr>
                                <m:t>𝑖</m:t>
                              </m:r>
                            </m:sub>
                          </m:sSub>
                        </m:e>
                      </m:nary>
                    </m:oMath>
                  </m:oMathPara>
                </a14:m>
                <a:endParaRPr lang="en-IN" sz="1400" dirty="0"/>
              </a:p>
            </p:txBody>
          </p:sp>
        </mc:Choice>
        <mc:Fallback xmlns="">
          <p:sp>
            <p:nvSpPr>
              <p:cNvPr id="4" name="TextBox 3">
                <a:extLst>
                  <a:ext uri="{FF2B5EF4-FFF2-40B4-BE49-F238E27FC236}">
                    <a16:creationId xmlns:a16="http://schemas.microsoft.com/office/drawing/2014/main" id="{8C2DB1AE-B5A5-746E-BA2D-0CC03E3253B1}"/>
                  </a:ext>
                </a:extLst>
              </p:cNvPr>
              <p:cNvSpPr txBox="1">
                <a:spLocks noRot="1" noChangeAspect="1" noMove="1" noResize="1" noEditPoints="1" noAdjustHandles="1" noChangeArrowheads="1" noChangeShapeType="1" noTextEdit="1"/>
              </p:cNvSpPr>
              <p:nvPr/>
            </p:nvSpPr>
            <p:spPr>
              <a:xfrm>
                <a:off x="185522" y="2929167"/>
                <a:ext cx="1981247" cy="1043491"/>
              </a:xfrm>
              <a:prstGeom prst="rect">
                <a:avLst/>
              </a:prstGeom>
              <a:blipFill>
                <a:blip r:embed="rId6"/>
                <a:stretch>
                  <a:fillRect l="-615" t="-73099" r="-32923" b="-101754"/>
                </a:stretch>
              </a:blipFill>
            </p:spPr>
            <p:txBody>
              <a:bodyPr/>
              <a:lstStyle/>
              <a:p>
                <a:r>
                  <a:rPr lang="en-IN">
                    <a:noFill/>
                  </a:rPr>
                  <a:t> </a:t>
                </a:r>
              </a:p>
            </p:txBody>
          </p:sp>
        </mc:Fallback>
      </mc:AlternateContent>
      <p:grpSp>
        <p:nvGrpSpPr>
          <p:cNvPr id="7" name="Group 6">
            <a:extLst>
              <a:ext uri="{FF2B5EF4-FFF2-40B4-BE49-F238E27FC236}">
                <a16:creationId xmlns:a16="http://schemas.microsoft.com/office/drawing/2014/main" id="{4C0D6880-B7FF-F8BE-D628-67A2455DD40E}"/>
              </a:ext>
            </a:extLst>
          </p:cNvPr>
          <p:cNvGrpSpPr/>
          <p:nvPr/>
        </p:nvGrpSpPr>
        <p:grpSpPr>
          <a:xfrm>
            <a:off x="9634662" y="3517926"/>
            <a:ext cx="2353817" cy="2742829"/>
            <a:chOff x="9278673" y="3727441"/>
            <a:chExt cx="2353817" cy="2742829"/>
          </a:xfrm>
        </p:grpSpPr>
        <p:sp>
          <p:nvSpPr>
            <p:cNvPr id="9" name="Oval 8">
              <a:extLst>
                <a:ext uri="{FF2B5EF4-FFF2-40B4-BE49-F238E27FC236}">
                  <a16:creationId xmlns:a16="http://schemas.microsoft.com/office/drawing/2014/main" id="{86E79438-D874-9D85-59B0-D33DE7F3A47D}"/>
                </a:ext>
              </a:extLst>
            </p:cNvPr>
            <p:cNvSpPr/>
            <p:nvPr/>
          </p:nvSpPr>
          <p:spPr>
            <a:xfrm rot="19251957">
              <a:off x="9657291" y="4652686"/>
              <a:ext cx="1523860" cy="74818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12" name="Connector: Curved 11">
              <a:extLst>
                <a:ext uri="{FF2B5EF4-FFF2-40B4-BE49-F238E27FC236}">
                  <a16:creationId xmlns:a16="http://schemas.microsoft.com/office/drawing/2014/main" id="{8FA58CC1-BAC0-D238-AA05-D8F69D91EB3F}"/>
                </a:ext>
              </a:extLst>
            </p:cNvPr>
            <p:cNvCxnSpPr>
              <a:cxnSpLocks/>
            </p:cNvCxnSpPr>
            <p:nvPr/>
          </p:nvCxnSpPr>
          <p:spPr>
            <a:xfrm rot="16200000" flipH="1">
              <a:off x="9514041" y="4193177"/>
              <a:ext cx="1989000" cy="1667205"/>
            </a:xfrm>
            <a:prstGeom prst="curvedConnector3">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 name="Connector: Curved 12">
              <a:extLst>
                <a:ext uri="{FF2B5EF4-FFF2-40B4-BE49-F238E27FC236}">
                  <a16:creationId xmlns:a16="http://schemas.microsoft.com/office/drawing/2014/main" id="{C5674E90-7FB1-06D2-9238-B7C345523289}"/>
                </a:ext>
              </a:extLst>
            </p:cNvPr>
            <p:cNvCxnSpPr>
              <a:cxnSpLocks/>
            </p:cNvCxnSpPr>
            <p:nvPr/>
          </p:nvCxnSpPr>
          <p:spPr>
            <a:xfrm rot="16200000" flipH="1">
              <a:off x="9117776" y="4529394"/>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Connector: Curved 13">
              <a:extLst>
                <a:ext uri="{FF2B5EF4-FFF2-40B4-BE49-F238E27FC236}">
                  <a16:creationId xmlns:a16="http://schemas.microsoft.com/office/drawing/2014/main" id="{61B85B8E-2D05-3859-7D0D-DBB4C3DC1721}"/>
                </a:ext>
              </a:extLst>
            </p:cNvPr>
            <p:cNvCxnSpPr>
              <a:cxnSpLocks/>
            </p:cNvCxnSpPr>
            <p:nvPr/>
          </p:nvCxnSpPr>
          <p:spPr>
            <a:xfrm rot="16200000" flipH="1">
              <a:off x="9804388" y="3888338"/>
              <a:ext cx="1989000" cy="1667205"/>
            </a:xfrm>
            <a:prstGeom prst="curved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6FDD1257-1F23-85F6-9A2F-39F690F758A2}"/>
                </a:ext>
              </a:extLst>
            </p:cNvPr>
            <p:cNvSpPr/>
            <p:nvPr/>
          </p:nvSpPr>
          <p:spPr>
            <a:xfrm rot="19251957">
              <a:off x="10490860" y="510038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12DABCDD-E3E6-FA45-A34D-CD22B45A0904}"/>
                </a:ext>
              </a:extLst>
            </p:cNvPr>
            <p:cNvSpPr/>
            <p:nvPr/>
          </p:nvSpPr>
          <p:spPr>
            <a:xfrm rot="19251957">
              <a:off x="10630895" y="4679579"/>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2538056D-1359-60C9-7A83-51B416752827}"/>
                </a:ext>
              </a:extLst>
            </p:cNvPr>
            <p:cNvSpPr/>
            <p:nvPr/>
          </p:nvSpPr>
          <p:spPr>
            <a:xfrm rot="19251957">
              <a:off x="10037961" y="4892592"/>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F72FE3E5-0CBC-1D21-0F7C-2D5C7B4BA8F4}"/>
                </a:ext>
              </a:extLst>
            </p:cNvPr>
            <p:cNvSpPr/>
            <p:nvPr/>
          </p:nvSpPr>
          <p:spPr>
            <a:xfrm rot="19251957">
              <a:off x="9970227" y="5296104"/>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9" name="Connector: Elbow 18">
              <a:extLst>
                <a:ext uri="{FF2B5EF4-FFF2-40B4-BE49-F238E27FC236}">
                  <a16:creationId xmlns:a16="http://schemas.microsoft.com/office/drawing/2014/main" id="{71799641-F23A-573C-2130-44154630764F}"/>
                </a:ext>
              </a:extLst>
            </p:cNvPr>
            <p:cNvCxnSpPr>
              <a:cxnSpLocks/>
            </p:cNvCxnSpPr>
            <p:nvPr/>
          </p:nvCxnSpPr>
          <p:spPr>
            <a:xfrm>
              <a:off x="9496300" y="6134055"/>
              <a:ext cx="531594" cy="336215"/>
            </a:xfrm>
            <a:prstGeom prst="bentConnector3">
              <a:avLst>
                <a:gd name="adj1" fmla="val 626"/>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3C9D4185-8AAA-FF8F-69C3-A22C4E20998A}"/>
                </a:ext>
              </a:extLst>
            </p:cNvPr>
            <p:cNvCxnSpPr>
              <a:cxnSpLocks/>
            </p:cNvCxnSpPr>
            <p:nvPr/>
          </p:nvCxnSpPr>
          <p:spPr>
            <a:xfrm flipV="1">
              <a:off x="9505523" y="5026779"/>
              <a:ext cx="835807" cy="142356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B2E077E-D63D-9303-1883-4BC8274C4A7F}"/>
                    </a:ext>
                  </a:extLst>
                </p:cNvPr>
                <p:cNvSpPr txBox="1"/>
                <p:nvPr/>
              </p:nvSpPr>
              <p:spPr>
                <a:xfrm>
                  <a:off x="9516126" y="5586775"/>
                  <a:ext cx="317623" cy="246221"/>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
                        <m:r>
                          <a:rPr lang="en-US" sz="1000" i="1" dirty="0" smtClean="0">
                            <a:latin typeface="Cambria Math" panose="02040503050406030204" pitchFamily="18" charset="0"/>
                          </a:rPr>
                          <m:t>𝑟</m:t>
                        </m:r>
                        <m:r>
                          <a:rPr lang="en-US" sz="1000" b="0" i="1" dirty="0" smtClean="0">
                            <a:latin typeface="Cambria Math" panose="02040503050406030204" pitchFamily="18" charset="0"/>
                          </a:rPr>
                          <m:t>, </m:t>
                        </m:r>
                        <m:r>
                          <a:rPr lang="en-US" sz="1000" b="0" i="1" dirty="0" smtClean="0">
                            <a:latin typeface="Cambria Math" panose="02040503050406030204" pitchFamily="18" charset="0"/>
                          </a:rPr>
                          <m:t>𝑅</m:t>
                        </m:r>
                      </m:oMath>
                    </m:oMathPara>
                  </a14:m>
                  <a:endParaRPr/>
                </a:p>
              </p:txBody>
            </p:sp>
          </mc:Choice>
          <mc:Fallback xmlns="">
            <p:sp>
              <p:nvSpPr>
                <p:cNvPr id="24" name="TextBox 23">
                  <a:extLst>
                    <a:ext uri="{FF2B5EF4-FFF2-40B4-BE49-F238E27FC236}">
                      <a16:creationId xmlns:a16="http://schemas.microsoft.com/office/drawing/2014/main" id="{BB2E077E-D63D-9303-1883-4BC8274C4A7F}"/>
                    </a:ext>
                  </a:extLst>
                </p:cNvPr>
                <p:cNvSpPr txBox="1">
                  <a:spLocks noRot="1" noChangeAspect="1" noMove="1" noResize="1" noEditPoints="1" noAdjustHandles="1" noChangeArrowheads="1" noChangeShapeType="1" noTextEdit="1"/>
                </p:cNvSpPr>
                <p:nvPr/>
              </p:nvSpPr>
              <p:spPr>
                <a:xfrm>
                  <a:off x="9516126" y="5586775"/>
                  <a:ext cx="317623" cy="246221"/>
                </a:xfrm>
                <a:prstGeom prst="rect">
                  <a:avLst/>
                </a:prstGeom>
                <a:blipFill>
                  <a:blip r:embed="rId7"/>
                  <a:stretch>
                    <a:fillRect r="-20000" b="-11905"/>
                  </a:stretch>
                </a:blipFill>
                <a:ln>
                  <a:solidFill>
                    <a:schemeClr val="tx1"/>
                  </a:solidFill>
                </a:ln>
              </p:spPr>
              <p:txBody>
                <a:bodyPr/>
                <a:lstStyle/>
                <a:p>
                  <a:r>
                    <a:rPr lang="en-IN">
                      <a:noFill/>
                    </a:rPr>
                    <a:t> </a:t>
                  </a:r>
                </a:p>
              </p:txBody>
            </p:sp>
          </mc:Fallback>
        </mc:AlternateContent>
      </p:grpSp>
      <p:sp>
        <p:nvSpPr>
          <p:cNvPr id="21" name="TextBox 20">
            <a:extLst>
              <a:ext uri="{FF2B5EF4-FFF2-40B4-BE49-F238E27FC236}">
                <a16:creationId xmlns:a16="http://schemas.microsoft.com/office/drawing/2014/main" id="{8EF6ED77-F109-785A-95F8-23D5B8877A39}"/>
              </a:ext>
            </a:extLst>
          </p:cNvPr>
          <p:cNvSpPr txBox="1"/>
          <p:nvPr/>
        </p:nvSpPr>
        <p:spPr>
          <a:xfrm>
            <a:off x="9201712" y="2443117"/>
            <a:ext cx="2231701"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External loading</a:t>
            </a:r>
          </a:p>
          <a:p>
            <a:pPr marL="285750" indent="-285750">
              <a:buFont typeface="Arial" panose="020B0604020202020204" pitchFamily="34" charset="0"/>
              <a:buChar char="•"/>
            </a:pPr>
            <a:r>
              <a:rPr lang="en-US" sz="1600" dirty="0">
                <a:latin typeface="Cambria Math" panose="02040503050406030204" pitchFamily="18" charset="0"/>
                <a:ea typeface="Cambria Math" panose="02040503050406030204" pitchFamily="18" charset="0"/>
              </a:rPr>
              <a:t>Distributed loading</a:t>
            </a:r>
            <a:endParaRPr lang="en-IN" sz="1600" dirty="0">
              <a:latin typeface="Cambria Math" panose="02040503050406030204" pitchFamily="18" charset="0"/>
              <a:ea typeface="Cambria Math" panose="02040503050406030204" pitchFamily="18" charset="0"/>
            </a:endParaRPr>
          </a:p>
        </p:txBody>
      </p:sp>
      <p:pic>
        <p:nvPicPr>
          <p:cNvPr id="26" name="Picture 25" descr="The diagram depicts a vector field with arrows illustrating the direction and magnitude of a function, showing how it changes over a two-dimensional plane.&#10;&#10;AI-generated content may be incorrect.">
            <a:extLst>
              <a:ext uri="{FF2B5EF4-FFF2-40B4-BE49-F238E27FC236}">
                <a16:creationId xmlns:a16="http://schemas.microsoft.com/office/drawing/2014/main" id="{5F86C7F4-1B96-04C0-58E8-E0B21637477D}"/>
              </a:ext>
            </a:extLst>
          </p:cNvPr>
          <p:cNvPicPr>
            <a:picLocks noChangeAspect="1"/>
          </p:cNvPicPr>
          <p:nvPr/>
        </p:nvPicPr>
        <p:blipFill>
          <a:blip r:embed="rId8"/>
          <a:srcRect r="45991"/>
          <a:stretch>
            <a:fillRect/>
          </a:stretch>
        </p:blipFill>
        <p:spPr>
          <a:xfrm>
            <a:off x="8858423" y="353501"/>
            <a:ext cx="2698758" cy="1983299"/>
          </a:xfrm>
          <a:prstGeom prst="rect">
            <a:avLst/>
          </a:prstGeom>
          <a:ln>
            <a:solidFill>
              <a:schemeClr val="tx1"/>
            </a:solidFill>
          </a:ln>
        </p:spPr>
      </p:pic>
    </p:spTree>
    <p:extLst>
      <p:ext uri="{BB962C8B-B14F-4D97-AF65-F5344CB8AC3E}">
        <p14:creationId xmlns:p14="http://schemas.microsoft.com/office/powerpoint/2010/main" val="2459446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5CD5C-7B52-E217-6610-DC2AB37464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5959E8-CC10-0137-48B9-B55C74CE1A3C}"/>
              </a:ext>
            </a:extLst>
          </p:cNvPr>
          <p:cNvSpPr txBox="1"/>
          <p:nvPr/>
        </p:nvSpPr>
        <p:spPr>
          <a:xfrm>
            <a:off x="833120" y="370435"/>
            <a:ext cx="7433382" cy="523220"/>
          </a:xfrm>
          <a:prstGeom prst="rect">
            <a:avLst/>
          </a:prstGeom>
          <a:noFill/>
        </p:spPr>
        <p:txBody>
          <a:bodyPr wrap="none">
            <a:spAutoFit/>
          </a:bodyPr>
          <a:lstStyle/>
          <a:p>
            <a:pPr>
              <a:defRPr sz="2800" b="1">
                <a:solidFill>
                  <a:srgbClr val="142237"/>
                </a:solidFill>
              </a:defRPr>
            </a:pPr>
            <a:r>
              <a:rPr lang="en-US" dirty="0">
                <a:latin typeface="Cambria Math" panose="02040503050406030204" pitchFamily="18" charset="0"/>
                <a:ea typeface="Cambria Math" panose="02040503050406030204" pitchFamily="18" charset="0"/>
              </a:rPr>
              <a:t>Kirchhoff </a:t>
            </a:r>
            <a:r>
              <a:rPr dirty="0">
                <a:latin typeface="Cambria Math" panose="02040503050406030204" pitchFamily="18" charset="0"/>
                <a:ea typeface="Cambria Math" panose="02040503050406030204" pitchFamily="18" charset="0"/>
              </a:rPr>
              <a:t>rod model</a:t>
            </a:r>
            <a:r>
              <a:rPr lang="en-US"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three strain modes (bending, torsion)</a:t>
            </a:r>
            <a:endParaRPr lang="en-US"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2A7F51-B0E7-5490-6CD0-13AB28B7AA46}"/>
                  </a:ext>
                </a:extLst>
              </p:cNvPr>
              <p:cNvSpPr txBox="1"/>
              <p:nvPr/>
            </p:nvSpPr>
            <p:spPr>
              <a:xfrm>
                <a:off x="838966" y="1019869"/>
                <a:ext cx="3107646" cy="3789820"/>
              </a:xfrm>
              <a:prstGeom prst="rect">
                <a:avLst/>
              </a:prstGeom>
              <a:noFill/>
            </p:spPr>
            <p:txBody>
              <a:bodyPr wrap="none">
                <a:spAutoFit/>
              </a:bodyPr>
              <a:lstStyle/>
              <a:p>
                <a:pPr>
                  <a:defRPr sz="2000">
                    <a:solidFill>
                      <a:srgbClr val="142237"/>
                    </a:solidFill>
                  </a:defRPr>
                </a:pPr>
                <a:r>
                  <a:rPr lang="en-US" sz="1600" dirty="0">
                    <a:latin typeface="Cambria Math" panose="02040503050406030204" pitchFamily="18" charset="0"/>
                    <a:ea typeface="Cambria Math" panose="02040503050406030204" pitchFamily="18" charset="0"/>
                  </a:rPr>
                  <a:t>Governing Equations (</a:t>
                </a:r>
                <a:r>
                  <a:rPr lang="en-US" sz="1600" dirty="0">
                    <a:solidFill>
                      <a:schemeClr val="accent3">
                        <a:lumMod val="75000"/>
                      </a:schemeClr>
                    </a:solidFill>
                    <a:latin typeface="Cambria Math" panose="02040503050406030204" pitchFamily="18" charset="0"/>
                    <a:ea typeface="Cambria Math" panose="02040503050406030204" pitchFamily="18" charset="0"/>
                  </a:rPr>
                  <a:t>ODE</a:t>
                </a:r>
                <a:r>
                  <a:rPr lang="en-US" sz="1600" dirty="0">
                    <a:latin typeface="Cambria Math" panose="02040503050406030204" pitchFamily="18" charset="0"/>
                    <a:ea typeface="Cambria Math" panose="02040503050406030204" pitchFamily="18" charset="0"/>
                  </a:rPr>
                  <a:t>/</a:t>
                </a:r>
                <a:r>
                  <a:rPr lang="en-US" sz="1600" dirty="0">
                    <a:solidFill>
                      <a:schemeClr val="accent2">
                        <a:lumMod val="75000"/>
                      </a:schemeClr>
                    </a:solidFill>
                    <a:latin typeface="Cambria Math" panose="02040503050406030204" pitchFamily="18" charset="0"/>
                    <a:ea typeface="Cambria Math" panose="02040503050406030204" pitchFamily="18" charset="0"/>
                  </a:rPr>
                  <a:t>PDE</a:t>
                </a:r>
                <a:r>
                  <a:rPr lang="en-US" sz="1600" dirty="0">
                    <a:latin typeface="Cambria Math" panose="02040503050406030204" pitchFamily="18" charset="0"/>
                    <a:ea typeface="Cambria Math" panose="02040503050406030204" pitchFamily="18" charset="0"/>
                  </a:rPr>
                  <a:t>)</a:t>
                </a:r>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𝑟</m:t>
                          </m:r>
                        </m:e>
                        <m:sub>
                          <m:r>
                            <a:rPr lang="en-US" sz="1600" i="1" dirty="0">
                              <a:latin typeface="Cambria Math" panose="02040503050406030204" pitchFamily="18" charset="0"/>
                              <a:ea typeface="Cambria Math" panose="02040503050406030204" pitchFamily="18" charset="0"/>
                            </a:rPr>
                            <m:t>𝑠</m:t>
                          </m:r>
                        </m:sub>
                      </m:sSub>
                      <m:r>
                        <a:rPr lang="en-US" sz="1600" i="1" dirty="0">
                          <a:latin typeface="Cambria Math" panose="02040503050406030204" pitchFamily="18" charset="0"/>
                          <a:ea typeface="Cambria Math" panose="02040503050406030204" pitchFamily="18" charset="0"/>
                        </a:rPr>
                        <m:t>= </m:t>
                      </m:r>
                      <m:r>
                        <m:rPr>
                          <m:sty m:val="p"/>
                        </m:rPr>
                        <a:rPr lang="en-US" sz="1600" i="1" dirty="0">
                          <a:latin typeface="Cambria Math" panose="02040503050406030204" pitchFamily="18" charset="0"/>
                          <a:ea typeface="Cambria Math" panose="02040503050406030204" pitchFamily="18" charset="0"/>
                        </a:rPr>
                        <m:t>Rv</m:t>
                      </m:r>
                      <m:r>
                        <a:rPr lang="en-US" sz="1600" b="0" i="1" dirty="0" smtClean="0">
                          <a:latin typeface="Cambria Math" panose="02040503050406030204" pitchFamily="18" charset="0"/>
                          <a:ea typeface="Cambria Math" panose="02040503050406030204" pitchFamily="18" charset="0"/>
                        </a:rPr>
                        <m:t>,</m:t>
                      </m:r>
                      <m:sSub>
                        <m:sSubPr>
                          <m:ctrlPr>
                            <a:rPr lang="en-US" sz="1600" b="0" i="0" dirty="0" smtClean="0">
                              <a:latin typeface="Cambria Math" panose="02040503050406030204" pitchFamily="18" charset="0"/>
                              <a:ea typeface="Cambria Math" panose="02040503050406030204" pitchFamily="18" charset="0"/>
                            </a:rPr>
                          </m:ctrlPr>
                        </m:sSubPr>
                        <m:e>
                          <m:r>
                            <a:rPr lang="en-US" sz="1600" b="0" i="0" dirty="0" smtClean="0">
                              <a:latin typeface="Cambria Math" panose="02040503050406030204" pitchFamily="18" charset="0"/>
                              <a:ea typeface="Cambria Math" panose="02040503050406030204" pitchFamily="18" charset="0"/>
                            </a:rPr>
                            <m:t>  </m:t>
                          </m:r>
                          <m:r>
                            <m:rPr>
                              <m:sty m:val="p"/>
                            </m:rPr>
                            <a:rPr lang="en-US" sz="1600" dirty="0">
                              <a:latin typeface="Cambria Math" panose="02040503050406030204" pitchFamily="18" charset="0"/>
                              <a:ea typeface="Cambria Math" panose="02040503050406030204" pitchFamily="18" charset="0"/>
                            </a:rPr>
                            <m:t>r</m:t>
                          </m:r>
                        </m:e>
                        <m:sub>
                          <m:r>
                            <m:rPr>
                              <m:sty m:val="p"/>
                            </m:rPr>
                            <a:rPr lang="en-IN" sz="1600" dirty="0" err="1">
                              <a:latin typeface="Cambria Math" panose="02040503050406030204" pitchFamily="18" charset="0"/>
                              <a:ea typeface="Cambria Math" panose="02040503050406030204" pitchFamily="18" charset="0"/>
                            </a:rPr>
                            <m:t>t</m:t>
                          </m:r>
                        </m:sub>
                      </m:sSub>
                      <m:r>
                        <a:rPr lang="en-IN" sz="1600" dirty="0">
                          <a:latin typeface="Cambria Math" panose="02040503050406030204" pitchFamily="18" charset="0"/>
                          <a:ea typeface="Cambria Math" panose="02040503050406030204" pitchFamily="18" charset="0"/>
                        </a:rPr>
                        <m:t> =</m:t>
                      </m:r>
                      <m:r>
                        <m:rPr>
                          <m:sty m:val="p"/>
                        </m:rPr>
                        <a:rPr lang="en-US" sz="1600" dirty="0">
                          <a:latin typeface="Cambria Math" panose="02040503050406030204" pitchFamily="18" charset="0"/>
                          <a:ea typeface="Cambria Math" panose="02040503050406030204" pitchFamily="18" charset="0"/>
                        </a:rPr>
                        <m:t>Rq</m:t>
                      </m:r>
                      <m:r>
                        <a:rPr lang="en-IN" sz="1600" dirty="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Force Balance</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𝑛</m:t>
                          </m:r>
                        </m:e>
                        <m:sub>
                          <m:r>
                            <a:rPr lang="en-US" sz="1600" i="1" dirty="0" err="1"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𝑓</m:t>
                      </m:r>
                      <m:r>
                        <a:rPr lang="en-US" sz="1600" i="1" dirty="0" smtClean="0">
                          <a:latin typeface="Cambria Math" panose="02040503050406030204" pitchFamily="18" charset="0"/>
                          <a:ea typeface="Cambria Math" panose="02040503050406030204" pitchFamily="18" charset="0"/>
                        </a:rPr>
                        <m:t> = 0, </m:t>
                      </m:r>
                      <m:r>
                        <a:rPr lang="en-US" sz="1600" i="1" dirty="0" smtClean="0">
                          <a:solidFill>
                            <a:schemeClr val="accent3">
                              <a:lumMod val="75000"/>
                            </a:schemeClr>
                          </a:solidFill>
                          <a:latin typeface="Cambria Math" panose="02040503050406030204" pitchFamily="18" charset="0"/>
                          <a:ea typeface="Cambria Math" panose="02040503050406030204" pitchFamily="18" charset="0"/>
                        </a:rPr>
                        <m:t>𝑠𝑡𝑎𝑡𝑖𝑐</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ea typeface="Cambria Math" panose="02040503050406030204" pitchFamily="18" charset="0"/>
                  </a:rPr>
                  <a:t>                   </a:t>
                </a:r>
                <a14:m>
                  <m:oMath xmlns:m="http://schemas.openxmlformats.org/officeDocument/2006/math">
                    <m:r>
                      <a:rPr lang="en-US" sz="1600" i="1" dirty="0">
                        <a:latin typeface="Cambria Math" panose="02040503050406030204" pitchFamily="18" charset="0"/>
                        <a:ea typeface="Cambria Math" panose="02040503050406030204" pitchFamily="18" charset="0"/>
                      </a:rPr>
                      <m:t>= </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𝜌</m:t>
                    </m:r>
                    <m:r>
                      <a:rPr lang="en-US" sz="1600" i="1" dirty="0" smtClean="0">
                        <a:solidFill>
                          <a:schemeClr val="accent2">
                            <a:lumMod val="75000"/>
                          </a:schemeClr>
                        </a:solidFill>
                        <a:latin typeface="Cambria Math" panose="02040503050406030204" pitchFamily="18" charset="0"/>
                        <a:ea typeface="Cambria Math" panose="02040503050406030204" pitchFamily="18" charset="0"/>
                      </a:rPr>
                      <m:t>𝐴</m:t>
                    </m:r>
                    <m:sSub>
                      <m:sSub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a:solidFill>
                              <a:schemeClr val="accent2">
                                <a:lumMod val="75000"/>
                              </a:schemeClr>
                            </a:solidFill>
                            <a:latin typeface="Cambria Math" panose="02040503050406030204" pitchFamily="18" charset="0"/>
                            <a:ea typeface="Cambria Math" panose="02040503050406030204" pitchFamily="18" charset="0"/>
                          </a:rPr>
                          <m:t>𝑟</m:t>
                        </m:r>
                      </m:e>
                      <m:sub>
                        <m:r>
                          <a:rPr lang="en-US" sz="1600" i="1" dirty="0">
                            <a:solidFill>
                              <a:schemeClr val="accent2">
                                <a:lumMod val="75000"/>
                              </a:schemeClr>
                            </a:solidFill>
                            <a:latin typeface="Cambria Math" panose="02040503050406030204" pitchFamily="18" charset="0"/>
                            <a:ea typeface="Cambria Math" panose="02040503050406030204" pitchFamily="18" charset="0"/>
                          </a:rPr>
                          <m:t>𝑡𝑡</m:t>
                        </m:r>
                      </m:sub>
                    </m:sSub>
                  </m:oMath>
                </a14:m>
                <a:r>
                  <a:rPr lang="en-IN" sz="1600" i="1" dirty="0">
                    <a:solidFill>
                      <a:schemeClr val="accent2">
                        <a:lumMod val="75000"/>
                      </a:schemeClr>
                    </a:solidFill>
                    <a:latin typeface="Cambria Math" panose="02040503050406030204" pitchFamily="18" charset="0"/>
                    <a:ea typeface="Cambria Math" panose="02040503050406030204" pitchFamily="18" charset="0"/>
                  </a:rPr>
                  <a:t>, dynamic</a:t>
                </a:r>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Moment Balance</a:t>
                </a:r>
              </a:p>
              <a:p>
                <a:pPr>
                  <a:defRPr sz="2000">
                    <a:solidFill>
                      <a:srgbClr val="142237"/>
                    </a:solidFill>
                  </a:defRPr>
                </a:pPr>
                <a14:m>
                  <m:oMathPara xmlns:m="http://schemas.openxmlformats.org/officeDocument/2006/math">
                    <m:oMath>
                      <m:sSub>
                        <m:sSubPr>
                          <m:ctrlPr>
                            <a:rPr lang="en-US" sz="1600" i="1" dirty="0" smtClean="0">
                              <a:latin typeface="Cambria Math" panose="02040503050406030204" pitchFamily="18" charset="0"/>
                              <a:ea typeface="Cambria Math" panose="02040503050406030204" pitchFamily="18" charset="0"/>
                            </a:rPr>
                          </m:ctrlPr>
                        </m:sSubPr>
                        <m:e>
                          <m:r>
                            <a:rPr lang="en-US" sz="1600" i="1" dirty="0" smtClean="0">
                              <a:latin typeface="Cambria Math" panose="02040503050406030204" pitchFamily="18" charset="0"/>
                              <a:ea typeface="Cambria Math" panose="02040503050406030204" pitchFamily="18" charset="0"/>
                            </a:rPr>
                            <m:t>𝑚</m:t>
                          </m:r>
                        </m:e>
                        <m:sub>
                          <m:r>
                            <a:rPr lang="en-US" sz="1600" i="1" dirty="0" err="1" smtClean="0">
                              <a:latin typeface="Cambria Math" panose="02040503050406030204" pitchFamily="18" charset="0"/>
                              <a:ea typeface="Cambria Math" panose="02040503050406030204" pitchFamily="18" charset="0"/>
                            </a:rPr>
                            <m:t>𝑠</m:t>
                          </m:r>
                        </m:sub>
                      </m:sSub>
                      <m:r>
                        <a:rPr lang="en-US" sz="1600" i="1" dirty="0" smtClean="0">
                          <a:latin typeface="Cambria Math" panose="02040503050406030204" pitchFamily="18" charset="0"/>
                          <a:ea typeface="Cambria Math" panose="02040503050406030204" pitchFamily="18" charset="0"/>
                        </a:rPr>
                        <m:t>+ </m:t>
                      </m:r>
                      <m:sSub>
                        <m:sSubPr>
                          <m:ctrlPr>
                            <a:rPr lang="en-US" sz="1600" i="1" dirty="0" err="1" smtClean="0">
                              <a:latin typeface="Cambria Math" panose="02040503050406030204" pitchFamily="18" charset="0"/>
                              <a:ea typeface="Cambria Math" panose="02040503050406030204" pitchFamily="18" charset="0"/>
                            </a:rPr>
                          </m:ctrlPr>
                        </m:sSubPr>
                        <m:e>
                          <m:r>
                            <a:rPr lang="en-US" sz="1600" i="1" dirty="0" err="1" smtClean="0">
                              <a:latin typeface="Cambria Math" panose="02040503050406030204" pitchFamily="18" charset="0"/>
                              <a:ea typeface="Cambria Math" panose="02040503050406030204" pitchFamily="18" charset="0"/>
                            </a:rPr>
                            <m:t>𝑟</m:t>
                          </m:r>
                        </m:e>
                        <m:sub>
                          <m:r>
                            <a:rPr lang="en-US" sz="1600" i="1" dirty="0" err="1" smtClean="0">
                              <a:latin typeface="Cambria Math" panose="02040503050406030204" pitchFamily="18" charset="0"/>
                              <a:ea typeface="Cambria Math" panose="02040503050406030204" pitchFamily="18" charset="0"/>
                            </a:rPr>
                            <m:t>𝑠</m:t>
                          </m:r>
                        </m:sub>
                      </m:sSub>
                      <m:r>
                        <a:rPr lang="en-US" sz="1600" b="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𝑥</m:t>
                      </m:r>
                      <m:r>
                        <a:rPr lang="en-US" sz="1600" i="1" dirty="0" smtClean="0">
                          <a:latin typeface="Cambria Math" panose="02040503050406030204" pitchFamily="18" charset="0"/>
                          <a:ea typeface="Cambria Math" panose="02040503050406030204" pitchFamily="18" charset="0"/>
                        </a:rPr>
                        <m:t>  </m:t>
                      </m:r>
                      <m:r>
                        <a:rPr lang="en-US" sz="1600" i="1" dirty="0" smtClean="0">
                          <a:latin typeface="Cambria Math" panose="02040503050406030204" pitchFamily="18" charset="0"/>
                          <a:ea typeface="Cambria Math" panose="02040503050406030204" pitchFamily="18" charset="0"/>
                        </a:rPr>
                        <m:t>𝑛</m:t>
                      </m:r>
                      <m:r>
                        <a:rPr lang="en-US" sz="1600" i="1" dirty="0" smtClean="0">
                          <a:latin typeface="Cambria Math" panose="02040503050406030204" pitchFamily="18" charset="0"/>
                          <a:ea typeface="Cambria Math" panose="02040503050406030204" pitchFamily="18" charset="0"/>
                        </a:rPr>
                        <m:t> + </m:t>
                      </m:r>
                      <m:r>
                        <a:rPr lang="en-US" sz="1600" i="1" dirty="0" smtClean="0">
                          <a:latin typeface="Cambria Math" panose="02040503050406030204" pitchFamily="18" charset="0"/>
                          <a:ea typeface="Cambria Math" panose="02040503050406030204" pitchFamily="18" charset="0"/>
                        </a:rPr>
                        <m:t>𝑙</m:t>
                      </m:r>
                      <m:r>
                        <a:rPr lang="en-US" sz="1600" i="1" dirty="0" smtClean="0">
                          <a:latin typeface="Cambria Math" panose="02040503050406030204" pitchFamily="18" charset="0"/>
                          <a:ea typeface="Cambria Math" panose="02040503050406030204" pitchFamily="18" charset="0"/>
                        </a:rPr>
                        <m:t> =   0, </m:t>
                      </m:r>
                      <m:r>
                        <a:rPr lang="en-US" sz="1600" i="1" dirty="0">
                          <a:solidFill>
                            <a:schemeClr val="accent3">
                              <a:lumMod val="75000"/>
                            </a:schemeClr>
                          </a:solidFill>
                          <a:latin typeface="Cambria Math" panose="02040503050406030204" pitchFamily="18" charset="0"/>
                          <a:ea typeface="Cambria Math" panose="02040503050406030204" pitchFamily="18" charset="0"/>
                        </a:rPr>
                        <m:t>𝑠𝑡𝑎𝑡𝑖𝑐</m:t>
                      </m:r>
                    </m:oMath>
                  </m:oMathPara>
                </a14:m>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14:m>
                  <m:oMathPara xmlns:m="http://schemas.openxmlformats.org/officeDocument/2006/math">
                    <m:oMath>
                      <m:r>
                        <a:rPr lang="en-US" sz="1600" i="1" dirty="0">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𝑇</m:t>
                      </m:r>
                      <m:sSub>
                        <m:sSub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sSubPr>
                        <m:e>
                          <m:r>
                            <a:rPr lang="en-US" sz="1600" i="1" dirty="0">
                              <a:solidFill>
                                <a:schemeClr val="accent2">
                                  <a:lumMod val="75000"/>
                                </a:schemeClr>
                              </a:solidFill>
                              <a:latin typeface="Cambria Math" panose="02040503050406030204" pitchFamily="18" charset="0"/>
                              <a:ea typeface="Cambria Math" panose="02040503050406030204" pitchFamily="18" charset="0"/>
                            </a:rPr>
                            <m:t>𝑤</m:t>
                          </m:r>
                        </m:e>
                        <m:sub>
                          <m:r>
                            <a:rPr lang="en-US" sz="1600" i="1" dirty="0">
                              <a:solidFill>
                                <a:schemeClr val="accent2">
                                  <a:lumMod val="75000"/>
                                </a:schemeClr>
                              </a:solidFill>
                              <a:latin typeface="Cambria Math" panose="02040503050406030204" pitchFamily="18" charset="0"/>
                              <a:ea typeface="Cambria Math" panose="02040503050406030204" pitchFamily="18" charset="0"/>
                            </a:rPr>
                            <m:t>𝑡</m:t>
                          </m:r>
                        </m:sub>
                      </m:sSub>
                      <m:r>
                        <a:rPr lang="en-US" sz="1600" i="1" dirty="0">
                          <a:solidFill>
                            <a:schemeClr val="accent2">
                              <a:lumMod val="75000"/>
                            </a:schemeClr>
                          </a:solidFill>
                          <a:latin typeface="Cambria Math" panose="02040503050406030204" pitchFamily="18" charset="0"/>
                          <a:ea typeface="Cambria Math" panose="02040503050406030204" pitchFamily="18" charset="0"/>
                        </a:rPr>
                        <m:t>+</m:t>
                      </m:r>
                      <m:r>
                        <a:rPr lang="en-US" sz="1600" i="1" dirty="0">
                          <a:solidFill>
                            <a:schemeClr val="accent2">
                              <a:lumMod val="75000"/>
                            </a:schemeClr>
                          </a:solidFill>
                          <a:latin typeface="Cambria Math" panose="02040503050406030204" pitchFamily="18" charset="0"/>
                          <a:ea typeface="Cambria Math" panose="02040503050406030204" pitchFamily="18" charset="0"/>
                        </a:rPr>
                        <m:t>𝑤</m:t>
                      </m:r>
                      <m:r>
                        <a:rPr lang="en-US" sz="1600" i="1" dirty="0">
                          <a:solidFill>
                            <a:schemeClr val="accent2">
                              <a:lumMod val="75000"/>
                            </a:schemeClr>
                          </a:solidFill>
                          <a:latin typeface="Cambria Math" panose="02040503050406030204" pitchFamily="18" charset="0"/>
                          <a:ea typeface="Cambria Math" panose="02040503050406030204" pitchFamily="18" charset="0"/>
                        </a:rPr>
                        <m:t> </m:t>
                      </m:r>
                      <m:r>
                        <a:rPr lang="en-US" sz="1600" i="1" dirty="0">
                          <a:solidFill>
                            <a:schemeClr val="accent2">
                              <a:lumMod val="75000"/>
                            </a:schemeClr>
                          </a:solidFill>
                          <a:latin typeface="Cambria Math" panose="02040503050406030204" pitchFamily="18" charset="0"/>
                          <a:ea typeface="Cambria Math" panose="02040503050406030204" pitchFamily="18" charset="0"/>
                        </a:rPr>
                        <m:t>𝑥</m:t>
                      </m:r>
                      <m:r>
                        <a:rPr lang="en-US" sz="1600" i="1" dirty="0">
                          <a:solidFill>
                            <a:schemeClr val="accent2">
                              <a:lumMod val="75000"/>
                            </a:schemeClr>
                          </a:solidFill>
                          <a:latin typeface="Cambria Math" panose="02040503050406030204" pitchFamily="18" charset="0"/>
                          <a:ea typeface="Cambria Math" panose="02040503050406030204" pitchFamily="18" charset="0"/>
                        </a:rPr>
                        <m:t> </m:t>
                      </m:r>
                      <m:d>
                        <m:dPr>
                          <m:ctrlPr>
                            <a:rPr lang="en-US" sz="1600" i="1" dirty="0">
                              <a:solidFill>
                                <a:schemeClr val="accent2">
                                  <a:lumMod val="75000"/>
                                </a:schemeClr>
                              </a:solidFill>
                              <a:latin typeface="Cambria Math" panose="02040503050406030204" pitchFamily="18" charset="0"/>
                              <a:ea typeface="Cambria Math" panose="02040503050406030204" pitchFamily="18" charset="0"/>
                            </a:rPr>
                          </m:ctrlPr>
                        </m:dPr>
                        <m:e>
                          <m:r>
                            <a:rPr lang="en-US" sz="1600" i="1" dirty="0">
                              <a:solidFill>
                                <a:schemeClr val="accent2">
                                  <a:lumMod val="75000"/>
                                </a:schemeClr>
                              </a:solidFill>
                              <a:latin typeface="Cambria Math" panose="02040503050406030204" pitchFamily="18" charset="0"/>
                              <a:ea typeface="Cambria Math" panose="02040503050406030204" pitchFamily="18" charset="0"/>
                            </a:rPr>
                            <m:t>𝜌</m:t>
                          </m:r>
                          <m:r>
                            <a:rPr lang="en-US" sz="1600" i="1" dirty="0">
                              <a:solidFill>
                                <a:schemeClr val="accent2">
                                  <a:lumMod val="75000"/>
                                </a:schemeClr>
                              </a:solidFill>
                              <a:latin typeface="Cambria Math" panose="02040503050406030204" pitchFamily="18" charset="0"/>
                              <a:ea typeface="Cambria Math" panose="02040503050406030204" pitchFamily="18" charset="0"/>
                            </a:rPr>
                            <m:t>𝐽𝑤</m:t>
                          </m:r>
                        </m:e>
                      </m:d>
                      <m:r>
                        <a:rPr lang="en-US" sz="1600" b="0" i="1" dirty="0" smtClean="0">
                          <a:solidFill>
                            <a:schemeClr val="accent2">
                              <a:lumMod val="75000"/>
                            </a:schemeClr>
                          </a:solidFill>
                          <a:latin typeface="Cambria Math" panose="02040503050406030204" pitchFamily="18" charset="0"/>
                          <a:ea typeface="Cambria Math" panose="02040503050406030204" pitchFamily="18" charset="0"/>
                        </a:rPr>
                        <m:t>, </m:t>
                      </m:r>
                      <m:r>
                        <a:rPr lang="en-US" sz="1600" b="0" i="1" dirty="0" smtClean="0">
                          <a:solidFill>
                            <a:schemeClr val="accent2">
                              <a:lumMod val="75000"/>
                            </a:schemeClr>
                          </a:solidFill>
                          <a:latin typeface="Cambria Math" panose="02040503050406030204" pitchFamily="18" charset="0"/>
                          <a:ea typeface="Cambria Math" panose="02040503050406030204" pitchFamily="18" charset="0"/>
                        </a:rPr>
                        <m:t>𝑑𝑦𝑛𝑎𝑚𝑖𝑐</m:t>
                      </m:r>
                    </m:oMath>
                  </m:oMathPara>
                </a14:m>
                <a:endParaRPr lang="en-US" sz="1600" i="1" dirty="0">
                  <a:solidFill>
                    <a:schemeClr val="accent2">
                      <a:lumMod val="75000"/>
                    </a:schemeClr>
                  </a:solidFill>
                  <a:latin typeface="Cambria Math" panose="02040503050406030204" pitchFamily="18" charset="0"/>
                  <a:ea typeface="Cambria Math" panose="02040503050406030204" pitchFamily="18" charset="0"/>
                </a:endParaRPr>
              </a:p>
              <a:p>
                <a:pPr>
                  <a:defRPr sz="2000">
                    <a:solidFill>
                      <a:srgbClr val="142237"/>
                    </a:solidFill>
                  </a:defRPr>
                </a:pPr>
                <a:endParaRPr lang="en-US" sz="1600"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Constitutive Relation</a:t>
                </a:r>
              </a:p>
              <a:p>
                <a:pPr algn="ctr">
                  <a:defRPr sz="2000">
                    <a:solidFill>
                      <a:srgbClr val="142237"/>
                    </a:solidFill>
                  </a:defRPr>
                </a:pPr>
                <a14:m>
                  <m:oMathPara xmlns:m="http://schemas.openxmlformats.org/officeDocument/2006/math">
                    <m:oMath>
                      <m:r>
                        <a:rPr lang="pt-BR" sz="1600" i="1" dirty="0">
                          <a:latin typeface="Cambria Math" panose="02040503050406030204" pitchFamily="18" charset="0"/>
                          <a:ea typeface="Cambria Math" panose="02040503050406030204" pitchFamily="18" charset="0"/>
                        </a:rPr>
                        <m:t>𝑚</m:t>
                      </m:r>
                      <m:r>
                        <a:rPr lang="pt-BR" sz="1600" i="1" dirty="0">
                          <a:latin typeface="Cambria Math" panose="02040503050406030204" pitchFamily="18" charset="0"/>
                          <a:ea typeface="Cambria Math" panose="02040503050406030204" pitchFamily="18" charset="0"/>
                        </a:rPr>
                        <m:t> = </m:t>
                      </m:r>
                      <m:r>
                        <a:rPr lang="pt-BR" sz="1600" i="1" dirty="0">
                          <a:latin typeface="Cambria Math" panose="02040503050406030204" pitchFamily="18" charset="0"/>
                          <a:ea typeface="Cambria Math" panose="02040503050406030204" pitchFamily="18" charset="0"/>
                        </a:rPr>
                        <m:t>𝑅</m:t>
                      </m:r>
                      <m:r>
                        <a:rPr lang="pt-BR" sz="1600" i="1" dirty="0">
                          <a:latin typeface="Cambria Math" panose="02040503050406030204" pitchFamily="18" charset="0"/>
                          <a:ea typeface="Cambria Math" panose="02040503050406030204" pitchFamily="18" charset="0"/>
                        </a:rPr>
                        <m:t> </m:t>
                      </m:r>
                      <m:sSub>
                        <m:sSubPr>
                          <m:ctrlPr>
                            <a:rPr lang="pt-BR" sz="1600" i="1" dirty="0">
                              <a:latin typeface="Cambria Math" panose="02040503050406030204" pitchFamily="18" charset="0"/>
                              <a:ea typeface="Cambria Math" panose="02040503050406030204" pitchFamily="18" charset="0"/>
                            </a:rPr>
                          </m:ctrlPr>
                        </m:sSubPr>
                        <m:e>
                          <m:r>
                            <a:rPr lang="pt-BR" sz="1600" i="1" dirty="0">
                              <a:latin typeface="Cambria Math" panose="02040503050406030204" pitchFamily="18" charset="0"/>
                              <a:ea typeface="Cambria Math" panose="02040503050406030204" pitchFamily="18" charset="0"/>
                            </a:rPr>
                            <m:t>𝐾</m:t>
                          </m:r>
                        </m:e>
                        <m:sub>
                          <m:r>
                            <a:rPr lang="pt-BR" sz="1600" i="1" dirty="0">
                              <a:latin typeface="Cambria Math" panose="02040503050406030204" pitchFamily="18" charset="0"/>
                              <a:ea typeface="Cambria Math" panose="02040503050406030204" pitchFamily="18" charset="0"/>
                            </a:rPr>
                            <m:t>𝑏𝑡</m:t>
                          </m:r>
                        </m:sub>
                      </m:sSub>
                      <m:r>
                        <a:rPr lang="pt-BR" sz="1600" i="1" dirty="0">
                          <a:latin typeface="Cambria Math" panose="02040503050406030204" pitchFamily="18" charset="0"/>
                          <a:ea typeface="Cambria Math" panose="02040503050406030204" pitchFamily="18" charset="0"/>
                        </a:rPr>
                        <m:t> </m:t>
                      </m:r>
                      <m:d>
                        <m:dPr>
                          <m:ctrlPr>
                            <a:rPr lang="pt-BR" sz="1600" i="1" dirty="0">
                              <a:latin typeface="Cambria Math" panose="02040503050406030204" pitchFamily="18" charset="0"/>
                              <a:ea typeface="Cambria Math" panose="02040503050406030204" pitchFamily="18" charset="0"/>
                            </a:rPr>
                          </m:ctrlPr>
                        </m:dPr>
                        <m:e>
                          <m:r>
                            <a:rPr lang="pt-BR" sz="1600" i="1" dirty="0">
                              <a:latin typeface="Cambria Math" panose="02040503050406030204" pitchFamily="18" charset="0"/>
                              <a:ea typeface="Cambria Math" panose="02040503050406030204" pitchFamily="18" charset="0"/>
                            </a:rPr>
                            <m:t>𝑢</m:t>
                          </m:r>
                          <m:r>
                            <a:rPr lang="pt-BR" sz="1600" i="1" dirty="0">
                              <a:latin typeface="Cambria Math" panose="02040503050406030204" pitchFamily="18" charset="0"/>
                              <a:ea typeface="Cambria Math" panose="02040503050406030204" pitchFamily="18" charset="0"/>
                            </a:rPr>
                            <m:t> −</m:t>
                          </m:r>
                          <m:sSup>
                            <m:sSupPr>
                              <m:ctrlPr>
                                <a:rPr lang="en-US" sz="1600" i="1" dirty="0">
                                  <a:latin typeface="Cambria Math" panose="02040503050406030204" pitchFamily="18" charset="0"/>
                                  <a:ea typeface="Cambria Math" panose="02040503050406030204" pitchFamily="18" charset="0"/>
                                </a:rPr>
                              </m:ctrlPr>
                            </m:sSupPr>
                            <m:e>
                              <m:r>
                                <a:rPr lang="en-US" sz="1600" i="1" dirty="0">
                                  <a:latin typeface="Cambria Math" panose="02040503050406030204" pitchFamily="18" charset="0"/>
                                  <a:ea typeface="Cambria Math" panose="02040503050406030204" pitchFamily="18" charset="0"/>
                                </a:rPr>
                                <m:t>𝑢</m:t>
                              </m:r>
                            </m:e>
                            <m:sup>
                              <m:r>
                                <a:rPr lang="en-US" sz="1600" i="1" dirty="0">
                                  <a:latin typeface="Cambria Math" panose="02040503050406030204" pitchFamily="18" charset="0"/>
                                  <a:ea typeface="Cambria Math" panose="02040503050406030204" pitchFamily="18" charset="0"/>
                                </a:rPr>
                                <m:t>∗</m:t>
                              </m:r>
                            </m:sup>
                          </m:sSup>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a:latin typeface="Cambria Math" panose="02040503050406030204" pitchFamily="18" charset="0"/>
                              <a:ea typeface="Cambria Math" panose="02040503050406030204" pitchFamily="18" charset="0"/>
                            </a:rPr>
                          </m:ctrlPr>
                        </m:sSubPr>
                        <m:e>
                          <m:r>
                            <a:rPr lang="en-IN" sz="1600" i="1" dirty="0">
                              <a:latin typeface="Cambria Math" panose="02040503050406030204" pitchFamily="18" charset="0"/>
                              <a:ea typeface="Cambria Math" panose="02040503050406030204" pitchFamily="18" charset="0"/>
                            </a:rPr>
                            <m:t>𝐾</m:t>
                          </m:r>
                        </m:e>
                        <m:sub>
                          <m:r>
                            <a:rPr lang="en-IN" sz="1600" i="1" dirty="0">
                              <a:latin typeface="Cambria Math" panose="02040503050406030204" pitchFamily="18" charset="0"/>
                              <a:ea typeface="Cambria Math" panose="02040503050406030204" pitchFamily="18" charset="0"/>
                            </a:rPr>
                            <m:t>𝑠𝑒</m:t>
                          </m:r>
                        </m:sub>
                      </m:sSub>
                      <m:r>
                        <a:rPr lang="en-IN" sz="1600" i="1" dirty="0">
                          <a:latin typeface="Cambria Math" panose="02040503050406030204" pitchFamily="18" charset="0"/>
                          <a:ea typeface="Cambria Math" panose="02040503050406030204" pitchFamily="18" charset="0"/>
                        </a:rPr>
                        <m:t> = </m:t>
                      </m:r>
                      <m:r>
                        <a:rPr lang="en-IN" sz="1600" i="1" dirty="0" err="1">
                          <a:latin typeface="Cambria Math" panose="02040503050406030204" pitchFamily="18" charset="0"/>
                          <a:ea typeface="Cambria Math" panose="02040503050406030204" pitchFamily="18" charset="0"/>
                        </a:rPr>
                        <m:t>𝑑𝑖𝑎𝑔</m:t>
                      </m:r>
                      <m:d>
                        <m:dPr>
                          <m:ctrlPr>
                            <a:rPr lang="en-IN" sz="1600" i="1" dirty="0">
                              <a:latin typeface="Cambria Math" panose="02040503050406030204" pitchFamily="18" charset="0"/>
                              <a:ea typeface="Cambria Math" panose="02040503050406030204" pitchFamily="18" charset="0"/>
                            </a:rPr>
                          </m:ctrlPr>
                        </m:dPr>
                        <m:e>
                          <m:r>
                            <a:rPr lang="en-IN" sz="1600" i="1" dirty="0">
                              <a:latin typeface="Cambria Math" panose="02040503050406030204" pitchFamily="18" charset="0"/>
                              <a:ea typeface="Cambria Math" panose="02040503050406030204" pitchFamily="18" charset="0"/>
                            </a:rPr>
                            <m:t>𝐺𝐴</m:t>
                          </m:r>
                          <m:r>
                            <a:rPr lang="en-IN" sz="1600" i="1" dirty="0">
                              <a:latin typeface="Cambria Math" panose="02040503050406030204" pitchFamily="18" charset="0"/>
                              <a:ea typeface="Cambria Math" panose="02040503050406030204" pitchFamily="18" charset="0"/>
                            </a:rPr>
                            <m:t>, </m:t>
                          </m:r>
                          <m:r>
                            <a:rPr lang="en-IN" sz="1600" i="1" dirty="0">
                              <a:latin typeface="Cambria Math" panose="02040503050406030204" pitchFamily="18" charset="0"/>
                              <a:ea typeface="Cambria Math" panose="02040503050406030204" pitchFamily="18" charset="0"/>
                            </a:rPr>
                            <m:t>𝐺𝐴</m:t>
                          </m:r>
                          <m:r>
                            <a:rPr lang="en-IN" sz="1600" i="1" dirty="0">
                              <a:latin typeface="Cambria Math" panose="02040503050406030204" pitchFamily="18" charset="0"/>
                              <a:ea typeface="Cambria Math" panose="02040503050406030204" pitchFamily="18" charset="0"/>
                            </a:rPr>
                            <m:t>, </m:t>
                          </m:r>
                          <m:r>
                            <a:rPr lang="en-IN" sz="1600" i="1" dirty="0">
                              <a:latin typeface="Cambria Math" panose="02040503050406030204" pitchFamily="18" charset="0"/>
                              <a:ea typeface="Cambria Math" panose="02040503050406030204" pitchFamily="18" charset="0"/>
                            </a:rPr>
                            <m:t>𝐸𝐴</m:t>
                          </m:r>
                        </m:e>
                      </m:d>
                    </m:oMath>
                  </m:oMathPara>
                </a14:m>
                <a:endParaRPr lang="en-US" sz="1600" i="1" dirty="0">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sSub>
                        <m:sSubPr>
                          <m:ctrlPr>
                            <a:rPr lang="en-IN" sz="1600" i="1" dirty="0" err="1">
                              <a:latin typeface="Cambria Math" panose="02040503050406030204" pitchFamily="18" charset="0"/>
                              <a:ea typeface="Cambria Math" panose="02040503050406030204" pitchFamily="18" charset="0"/>
                            </a:rPr>
                          </m:ctrlPr>
                        </m:sSubPr>
                        <m:e>
                          <m:r>
                            <a:rPr lang="en-IN" sz="1600" i="1" dirty="0" err="1">
                              <a:latin typeface="Cambria Math" panose="02040503050406030204" pitchFamily="18" charset="0"/>
                              <a:ea typeface="Cambria Math" panose="02040503050406030204" pitchFamily="18" charset="0"/>
                            </a:rPr>
                            <m:t>𝐾</m:t>
                          </m:r>
                        </m:e>
                        <m:sub>
                          <m:r>
                            <a:rPr lang="en-IN" sz="1600" i="1" dirty="0" err="1">
                              <a:latin typeface="Cambria Math" panose="02040503050406030204" pitchFamily="18" charset="0"/>
                              <a:ea typeface="Cambria Math" panose="02040503050406030204" pitchFamily="18" charset="0"/>
                            </a:rPr>
                            <m:t>𝑏𝑡</m:t>
                          </m:r>
                        </m:sub>
                      </m:sSub>
                      <m:r>
                        <a:rPr lang="en-IN" sz="1600" i="1" dirty="0">
                          <a:latin typeface="Cambria Math" panose="02040503050406030204" pitchFamily="18" charset="0"/>
                          <a:ea typeface="Cambria Math" panose="02040503050406030204" pitchFamily="18" charset="0"/>
                        </a:rPr>
                        <m:t> = </m:t>
                      </m:r>
                      <m:r>
                        <a:rPr lang="en-IN" sz="1600" i="1" dirty="0" err="1">
                          <a:latin typeface="Cambria Math" panose="02040503050406030204" pitchFamily="18" charset="0"/>
                          <a:ea typeface="Cambria Math" panose="02040503050406030204" pitchFamily="18" charset="0"/>
                        </a:rPr>
                        <m:t>𝑑𝑖𝑎𝑔</m:t>
                      </m:r>
                      <m:r>
                        <a:rPr lang="en-IN" sz="1600" i="1" dirty="0">
                          <a:latin typeface="Cambria Math" panose="02040503050406030204" pitchFamily="18" charset="0"/>
                          <a:ea typeface="Cambria Math" panose="02040503050406030204" pitchFamily="18" charset="0"/>
                        </a:rPr>
                        <m:t>(</m:t>
                      </m:r>
                      <m:r>
                        <a:rPr lang="en-IN" sz="1600" i="1" dirty="0">
                          <a:latin typeface="Cambria Math" panose="02040503050406030204" pitchFamily="18" charset="0"/>
                          <a:ea typeface="Cambria Math" panose="02040503050406030204" pitchFamily="18" charset="0"/>
                        </a:rPr>
                        <m:t>𝐸𝐼</m:t>
                      </m:r>
                      <m:r>
                        <a:rPr lang="en-IN" sz="1600" i="1" dirty="0">
                          <a:latin typeface="Cambria Math" panose="02040503050406030204" pitchFamily="18" charset="0"/>
                          <a:ea typeface="Cambria Math" panose="02040503050406030204" pitchFamily="18" charset="0"/>
                        </a:rPr>
                        <m:t>ₓₓ, </m:t>
                      </m:r>
                      <m:r>
                        <a:rPr lang="en-IN" sz="1600" i="1" dirty="0">
                          <a:latin typeface="Cambria Math" panose="02040503050406030204" pitchFamily="18" charset="0"/>
                          <a:ea typeface="Cambria Math" panose="02040503050406030204" pitchFamily="18" charset="0"/>
                        </a:rPr>
                        <m:t>𝐸𝐼</m:t>
                      </m:r>
                      <m:r>
                        <a:rPr lang="el-GR" sz="1600" i="1" dirty="0">
                          <a:latin typeface="Cambria Math" panose="02040503050406030204" pitchFamily="18" charset="0"/>
                          <a:ea typeface="Cambria Math" panose="02040503050406030204" pitchFamily="18" charset="0"/>
                        </a:rPr>
                        <m:t>ᵧᵧ, </m:t>
                      </m:r>
                      <m:r>
                        <a:rPr lang="el-GR" sz="1600" i="1" dirty="0" err="1">
                          <a:latin typeface="Cambria Math" panose="02040503050406030204" pitchFamily="18" charset="0"/>
                          <a:ea typeface="Cambria Math" panose="02040503050406030204" pitchFamily="18" charset="0"/>
                        </a:rPr>
                        <m:t>𝐸</m:t>
                      </m:r>
                      <m:sSub>
                        <m:sSubPr>
                          <m:ctrlPr>
                            <a:rPr lang="el-GR" sz="1600" i="1" dirty="0" err="1">
                              <a:latin typeface="Cambria Math" panose="02040503050406030204" pitchFamily="18" charset="0"/>
                              <a:ea typeface="Cambria Math" panose="02040503050406030204" pitchFamily="18" charset="0"/>
                            </a:rPr>
                          </m:ctrlPr>
                        </m:sSubPr>
                        <m:e>
                          <m:r>
                            <a:rPr lang="el-GR" sz="1600" i="1" dirty="0" err="1">
                              <a:latin typeface="Cambria Math" panose="02040503050406030204" pitchFamily="18" charset="0"/>
                              <a:ea typeface="Cambria Math" panose="02040503050406030204" pitchFamily="18" charset="0"/>
                            </a:rPr>
                            <m:t>𝐼</m:t>
                          </m:r>
                        </m:e>
                        <m:sub>
                          <m:r>
                            <a:rPr lang="el-GR" sz="1600" i="1" dirty="0" err="1">
                              <a:latin typeface="Cambria Math" panose="02040503050406030204" pitchFamily="18" charset="0"/>
                              <a:ea typeface="Cambria Math" panose="02040503050406030204" pitchFamily="18" charset="0"/>
                            </a:rPr>
                            <m:t>𝑧𝑧</m:t>
                          </m:r>
                        </m:sub>
                      </m:sSub>
                      <m:r>
                        <a:rPr lang="el-GR" sz="1600" i="1" dirty="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defRPr sz="2000">
                    <a:solidFill>
                      <a:srgbClr val="142237"/>
                    </a:solidFill>
                  </a:defRPr>
                </a:pPr>
                <a:r>
                  <a:rPr lang="en-US" sz="1600" dirty="0">
                    <a:latin typeface="Cambria Math" panose="02040503050406030204" pitchFamily="18" charset="0"/>
                    <a:ea typeface="Cambria Math" panose="02040503050406030204" pitchFamily="18" charset="0"/>
                  </a:rPr>
                  <a:t>				</a:t>
                </a:r>
              </a:p>
            </p:txBody>
          </p:sp>
        </mc:Choice>
        <mc:Fallback xmlns="">
          <p:sp>
            <p:nvSpPr>
              <p:cNvPr id="6" name="TextBox 5">
                <a:extLst>
                  <a:ext uri="{FF2B5EF4-FFF2-40B4-BE49-F238E27FC236}">
                    <a16:creationId xmlns:a16="http://schemas.microsoft.com/office/drawing/2014/main" id="{8A2A7F51-B0E7-5490-6CD0-13AB28B7AA46}"/>
                  </a:ext>
                </a:extLst>
              </p:cNvPr>
              <p:cNvSpPr txBox="1">
                <a:spLocks noRot="1" noChangeAspect="1" noMove="1" noResize="1" noEditPoints="1" noAdjustHandles="1" noChangeArrowheads="1" noChangeShapeType="1" noTextEdit="1"/>
              </p:cNvSpPr>
              <p:nvPr/>
            </p:nvSpPr>
            <p:spPr>
              <a:xfrm>
                <a:off x="838966" y="1019869"/>
                <a:ext cx="3107646" cy="3789820"/>
              </a:xfrm>
              <a:prstGeom prst="rect">
                <a:avLst/>
              </a:prstGeom>
              <a:blipFill>
                <a:blip r:embed="rId2"/>
                <a:stretch>
                  <a:fillRect l="-1179" t="-6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F15C6EF-0433-DDEF-230B-DCFD48F692D3}"/>
                  </a:ext>
                </a:extLst>
              </p:cNvPr>
              <p:cNvSpPr txBox="1"/>
              <p:nvPr/>
            </p:nvSpPr>
            <p:spPr>
              <a:xfrm>
                <a:off x="833120" y="5182125"/>
                <a:ext cx="7566780" cy="1384995"/>
              </a:xfrm>
              <a:prstGeom prst="rect">
                <a:avLst/>
              </a:prstGeom>
              <a:noFill/>
            </p:spPr>
            <p:txBody>
              <a:bodyPr wrap="square">
                <a:spAutoFit/>
              </a:bodyPr>
              <a:lstStyle/>
              <a:p>
                <a:pPr>
                  <a:spcAft>
                    <a:spcPts val="800"/>
                  </a:spcAft>
                  <a:defRPr sz="1700">
                    <a:solidFill>
                      <a:srgbClr val="23282D"/>
                    </a:solidFill>
                  </a:defRPr>
                </a:pPr>
                <a:r>
                  <a:rPr lang="en-IN" sz="1600" dirty="0">
                    <a:latin typeface="Cambria Math" panose="02040503050406030204" pitchFamily="18" charset="0"/>
                    <a:ea typeface="Cambria Math" panose="02040503050406030204" pitchFamily="18" charset="0"/>
                  </a:rPr>
                  <a:t>u, bending and torsional strains,</a:t>
                </a:r>
              </a:p>
              <a:p>
                <a:pPr>
                  <a:spcAft>
                    <a:spcPts val="800"/>
                  </a:spcAft>
                  <a:defRPr sz="1700">
                    <a:solidFill>
                      <a:srgbClr val="23282D"/>
                    </a:solidFill>
                  </a:defRPr>
                </a:pPr>
                <a:r>
                  <a:rPr lang="en-IN" sz="1600" dirty="0">
                    <a:latin typeface="Cambria Math" panose="02040503050406030204" pitchFamily="18" charset="0"/>
                    <a:ea typeface="Cambria Math" panose="02040503050406030204" pitchFamily="18" charset="0"/>
                  </a:rPr>
                  <a:t>v=</a:t>
                </a:r>
                <a14:m>
                  <m:oMath xmlns:m="http://schemas.openxmlformats.org/officeDocument/2006/math">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 </m:t>
                        </m:r>
                        <m:r>
                          <a:rPr lang="en-US" sz="1600" b="0" i="1" dirty="0" smtClean="0">
                            <a:latin typeface="Cambria Math" panose="02040503050406030204" pitchFamily="18" charset="0"/>
                            <a:ea typeface="Cambria Math" panose="02040503050406030204" pitchFamily="18" charset="0"/>
                          </a:rPr>
                          <m:t>𝑣</m:t>
                        </m:r>
                      </m:e>
                      <m:sup>
                        <m:r>
                          <a:rPr lang="en-US" sz="1600" b="0" i="0" dirty="0" smtClean="0">
                            <a:latin typeface="Cambria Math" panose="02040503050406030204" pitchFamily="18" charset="0"/>
                            <a:ea typeface="Cambria Math" panose="02040503050406030204" pitchFamily="18" charset="0"/>
                          </a:rPr>
                          <m:t>∗</m:t>
                        </m:r>
                      </m:sup>
                    </m:sSup>
                    <m:r>
                      <m:rPr>
                        <m:nor/>
                      </m:rPr>
                      <a:rPr lang="en-US" sz="1600" b="0" i="0" dirty="0" smtClean="0">
                        <a:latin typeface="Cambria Math" panose="02040503050406030204" pitchFamily="18" charset="0"/>
                        <a:ea typeface="Cambria Math" panose="02040503050406030204" pitchFamily="18" charset="0"/>
                      </a:rPr>
                      <m:t>= </m:t>
                    </m:r>
                    <m:sSup>
                      <m:sSupPr>
                        <m:ctrlPr>
                          <a:rPr lang="en-IN" sz="1600" i="1" dirty="0" smtClean="0">
                            <a:latin typeface="Cambria Math" panose="02040503050406030204" pitchFamily="18" charset="0"/>
                            <a:ea typeface="Cambria Math" panose="02040503050406030204" pitchFamily="18" charset="0"/>
                          </a:rPr>
                        </m:ctrlPr>
                      </m:sSupPr>
                      <m:e>
                        <m:d>
                          <m:dPr>
                            <m:begChr m:val="["/>
                            <m:endChr m:val="]"/>
                            <m:ctrlPr>
                              <a:rPr lang="en-IN" sz="1600" i="1" dirty="0" smtClean="0">
                                <a:latin typeface="Cambria Math" panose="02040503050406030204" pitchFamily="18" charset="0"/>
                                <a:ea typeface="Cambria Math" panose="02040503050406030204" pitchFamily="18" charset="0"/>
                              </a:rPr>
                            </m:ctrlPr>
                          </m:dPr>
                          <m:e>
                            <m:r>
                              <a:rPr lang="en-IN" sz="1600" i="1" dirty="0" smtClean="0">
                                <a:latin typeface="Cambria Math" panose="02040503050406030204" pitchFamily="18" charset="0"/>
                                <a:ea typeface="Cambria Math" panose="02040503050406030204" pitchFamily="18" charset="0"/>
                              </a:rPr>
                              <m:t>0 0 1</m:t>
                            </m:r>
                          </m:e>
                        </m:d>
                      </m:e>
                      <m:sup>
                        <m:r>
                          <a:rPr lang="en-IN" sz="1600" i="1" dirty="0" smtClean="0">
                            <a:latin typeface="Cambria Math" panose="02040503050406030204" pitchFamily="18" charset="0"/>
                            <a:ea typeface="Cambria Math" panose="02040503050406030204" pitchFamily="18" charset="0"/>
                          </a:rPr>
                          <m:t>𝑇</m:t>
                        </m:r>
                      </m:sup>
                    </m:sSup>
                  </m:oMath>
                </a14:m>
                <a:r>
                  <a:rPr lang="en-IN" sz="1600" dirty="0">
                    <a:latin typeface="Cambria Math" panose="02040503050406030204" pitchFamily="18" charset="0"/>
                    <a:ea typeface="Cambria Math" panose="02040503050406030204" pitchFamily="18" charset="0"/>
                  </a:rPr>
                  <a:t>, constant ,no shear strains and axial extension.</a:t>
                </a:r>
              </a:p>
              <a:p>
                <a:pPr>
                  <a:spcAft>
                    <a:spcPts val="800"/>
                  </a:spcAft>
                  <a:defRPr sz="1700">
                    <a:solidFill>
                      <a:srgbClr val="23282D"/>
                    </a:solidFill>
                  </a:defRPr>
                </a:pPr>
                <a:r>
                  <a:rPr lang="en-US" sz="1600" dirty="0">
                    <a:latin typeface="Cambria Math" panose="02040503050406030204" pitchFamily="18" charset="0"/>
                    <a:ea typeface="Cambria Math" panose="02040503050406030204" pitchFamily="18" charset="0"/>
                  </a:rPr>
                  <a:t>n and m, are internal force and moment resultants.</a:t>
                </a:r>
              </a:p>
              <a:p>
                <a:pPr>
                  <a:spcAft>
                    <a:spcPts val="800"/>
                  </a:spcAft>
                  <a:defRPr sz="1700">
                    <a:solidFill>
                      <a:srgbClr val="23282D"/>
                    </a:solidFill>
                  </a:defRPr>
                </a:pPr>
                <a:r>
                  <a:rPr lang="en-US" sz="1600" dirty="0">
                    <a:latin typeface="Cambria Math" panose="02040503050406030204" pitchFamily="18" charset="0"/>
                    <a:ea typeface="Cambria Math" panose="02040503050406030204" pitchFamily="18" charset="0"/>
                  </a:rPr>
                  <a:t>f and l, external distributed force/moment enter through.</a:t>
                </a:r>
                <a:endParaRPr lang="en-IN" sz="1600"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DF15C6EF-0433-DDEF-230B-DCFD48F692D3}"/>
                  </a:ext>
                </a:extLst>
              </p:cNvPr>
              <p:cNvSpPr txBox="1">
                <a:spLocks noRot="1" noChangeAspect="1" noMove="1" noResize="1" noEditPoints="1" noAdjustHandles="1" noChangeArrowheads="1" noChangeShapeType="1" noTextEdit="1"/>
              </p:cNvSpPr>
              <p:nvPr/>
            </p:nvSpPr>
            <p:spPr>
              <a:xfrm>
                <a:off x="833120" y="5182125"/>
                <a:ext cx="7566780" cy="1384995"/>
              </a:xfrm>
              <a:prstGeom prst="rect">
                <a:avLst/>
              </a:prstGeom>
              <a:blipFill>
                <a:blip r:embed="rId3"/>
                <a:stretch>
                  <a:fillRect l="-483" t="-1762" b="-4405"/>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B73BCF47-1288-44CE-21B0-461E0126C0B1}"/>
              </a:ext>
            </a:extLst>
          </p:cNvPr>
          <p:cNvSpPr txBox="1"/>
          <p:nvPr/>
        </p:nvSpPr>
        <p:spPr>
          <a:xfrm>
            <a:off x="11455534" y="6473952"/>
            <a:ext cx="248786" cy="230832"/>
          </a:xfrm>
          <a:prstGeom prst="rect">
            <a:avLst/>
          </a:prstGeom>
          <a:noFill/>
        </p:spPr>
        <p:txBody>
          <a:bodyPr wrap="none">
            <a:spAutoFit/>
          </a:bodyPr>
          <a:lstStyle/>
          <a:p>
            <a:pPr algn="r">
              <a:defRPr sz="900">
                <a:solidFill>
                  <a:srgbClr val="5A6978"/>
                </a:solidFill>
              </a:defRPr>
            </a:pPr>
            <a:r>
              <a:rPr>
                <a:latin typeface="Cambria Math" panose="02040503050406030204" pitchFamily="18" charset="0"/>
                <a:ea typeface="Cambria Math" panose="02040503050406030204" pitchFamily="18" charset="0"/>
              </a:rPr>
              <a:t>3</a:t>
            </a:r>
          </a:p>
        </p:txBody>
      </p:sp>
      <p:grpSp>
        <p:nvGrpSpPr>
          <p:cNvPr id="19" name="Group 18">
            <a:extLst>
              <a:ext uri="{FF2B5EF4-FFF2-40B4-BE49-F238E27FC236}">
                <a16:creationId xmlns:a16="http://schemas.microsoft.com/office/drawing/2014/main" id="{4B9C2B0B-C6E8-6088-D57D-5DE7D7720496}"/>
              </a:ext>
            </a:extLst>
          </p:cNvPr>
          <p:cNvGrpSpPr/>
          <p:nvPr/>
        </p:nvGrpSpPr>
        <p:grpSpPr>
          <a:xfrm>
            <a:off x="6770344" y="1232521"/>
            <a:ext cx="3479247" cy="3112305"/>
            <a:chOff x="7363385" y="927111"/>
            <a:chExt cx="3713435" cy="3112305"/>
          </a:xfrm>
        </p:grpSpPr>
        <p:pic>
          <p:nvPicPr>
            <p:cNvPr id="14" name="Picture 13" descr="The diagram illustrates a Cosserat rod model, showing mathematical relationships between variables such as s, d, r, S, e2, and a.&#10;&#10;AI-generated content may be incorrect.">
              <a:extLst>
                <a:ext uri="{FF2B5EF4-FFF2-40B4-BE49-F238E27FC236}">
                  <a16:creationId xmlns:a16="http://schemas.microsoft.com/office/drawing/2014/main" id="{C0D299A8-31D3-D513-4C9B-DA17D1415FFA}"/>
                </a:ext>
              </a:extLst>
            </p:cNvPr>
            <p:cNvPicPr>
              <a:picLocks noChangeAspect="1"/>
            </p:cNvPicPr>
            <p:nvPr/>
          </p:nvPicPr>
          <p:blipFill>
            <a:blip r:embed="rId4"/>
            <a:stretch>
              <a:fillRect/>
            </a:stretch>
          </p:blipFill>
          <p:spPr>
            <a:xfrm>
              <a:off x="7363385" y="927111"/>
              <a:ext cx="3713435" cy="3112305"/>
            </a:xfrm>
            <a:prstGeom prst="rect">
              <a:avLst/>
            </a:prstGeom>
            <a:ln>
              <a:solidFill>
                <a:schemeClr val="tx1"/>
              </a:solidFill>
            </a:ln>
          </p:spPr>
        </p:pic>
        <p:sp>
          <p:nvSpPr>
            <p:cNvPr id="15" name="TextBox 14">
              <a:extLst>
                <a:ext uri="{FF2B5EF4-FFF2-40B4-BE49-F238E27FC236}">
                  <a16:creationId xmlns:a16="http://schemas.microsoft.com/office/drawing/2014/main" id="{D10D7E48-5331-4F9D-C6CD-08EFB367C73F}"/>
                </a:ext>
              </a:extLst>
            </p:cNvPr>
            <p:cNvSpPr txBox="1"/>
            <p:nvPr/>
          </p:nvSpPr>
          <p:spPr>
            <a:xfrm>
              <a:off x="9558867" y="1708203"/>
              <a:ext cx="745717"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R(</a:t>
              </a:r>
              <a:r>
                <a:rPr lang="en-US" dirty="0" err="1">
                  <a:latin typeface="Cambria Math" panose="02040503050406030204" pitchFamily="18" charset="0"/>
                  <a:ea typeface="Cambria Math" panose="02040503050406030204" pitchFamily="18" charset="0"/>
                </a:rPr>
                <a:t>s,t</a:t>
              </a:r>
              <a:r>
                <a:rPr lang="en-US" dirty="0">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p:txBody>
        </p:sp>
        <p:sp>
          <p:nvSpPr>
            <p:cNvPr id="17" name="TextBox 16">
              <a:extLst>
                <a:ext uri="{FF2B5EF4-FFF2-40B4-BE49-F238E27FC236}">
                  <a16:creationId xmlns:a16="http://schemas.microsoft.com/office/drawing/2014/main" id="{170B2D28-2E20-109D-8F63-32EB5EB7258D}"/>
                </a:ext>
              </a:extLst>
            </p:cNvPr>
            <p:cNvSpPr txBox="1"/>
            <p:nvPr/>
          </p:nvSpPr>
          <p:spPr>
            <a:xfrm>
              <a:off x="8847666" y="2504672"/>
              <a:ext cx="627501" cy="307777"/>
            </a:xfrm>
            <a:prstGeom prst="rect">
              <a:avLst/>
            </a:prstGeom>
            <a:noFill/>
          </p:spPr>
          <p:txBody>
            <a:bodyPr wrap="square">
              <a:spAutoFit/>
            </a:bodyPr>
            <a:lstStyle/>
            <a:p>
              <a:r>
                <a:rPr lang="en-US" sz="1400" dirty="0">
                  <a:latin typeface="Cambria Math" panose="02040503050406030204" pitchFamily="18" charset="0"/>
                  <a:ea typeface="Cambria Math" panose="02040503050406030204" pitchFamily="18" charset="0"/>
                </a:rPr>
                <a:t>(</a:t>
              </a:r>
              <a:r>
                <a:rPr lang="en-US" sz="1400" dirty="0" err="1">
                  <a:latin typeface="Cambria Math" panose="02040503050406030204" pitchFamily="18" charset="0"/>
                  <a:ea typeface="Cambria Math" panose="02040503050406030204" pitchFamily="18" charset="0"/>
                </a:rPr>
                <a:t>s,t</a:t>
              </a:r>
              <a:r>
                <a:rPr lang="en-US" sz="1400" dirty="0">
                  <a:latin typeface="Cambria Math" panose="02040503050406030204" pitchFamily="18" charset="0"/>
                  <a:ea typeface="Cambria Math" panose="02040503050406030204" pitchFamily="18" charset="0"/>
                </a:rPr>
                <a:t>)</a:t>
              </a:r>
              <a:endParaRPr lang="en-IN" sz="1400" dirty="0"/>
            </a:p>
          </p:txBody>
        </p:sp>
      </p:grpSp>
      <p:pic>
        <p:nvPicPr>
          <p:cNvPr id="21" name="Picture 20" descr="The image appears to depict a graphical representation of mathematical functions or variables, possibly illustrating the relationship between different parameters (f, l, n, p, m, S, and c) within a global frame or structure.&#10;&#10;AI-generated content may be incorrect.">
            <a:extLst>
              <a:ext uri="{FF2B5EF4-FFF2-40B4-BE49-F238E27FC236}">
                <a16:creationId xmlns:a16="http://schemas.microsoft.com/office/drawing/2014/main" id="{33E91A1D-7B46-5D9D-54BA-616E6456BB4F}"/>
              </a:ext>
            </a:extLst>
          </p:cNvPr>
          <p:cNvPicPr>
            <a:picLocks noChangeAspect="1"/>
          </p:cNvPicPr>
          <p:nvPr/>
        </p:nvPicPr>
        <p:blipFill>
          <a:blip r:embed="rId5"/>
          <a:stretch>
            <a:fillRect/>
          </a:stretch>
        </p:blipFill>
        <p:spPr>
          <a:xfrm>
            <a:off x="6770343" y="4336359"/>
            <a:ext cx="3479247" cy="1342474"/>
          </a:xfrm>
          <a:prstGeom prst="rect">
            <a:avLst/>
          </a:prstGeom>
          <a:ln>
            <a:solidFill>
              <a:schemeClr val="tx1"/>
            </a:solidFill>
          </a:ln>
        </p:spPr>
      </p:pic>
      <p:sp>
        <p:nvSpPr>
          <p:cNvPr id="4" name="TextBox 3">
            <a:extLst>
              <a:ext uri="{FF2B5EF4-FFF2-40B4-BE49-F238E27FC236}">
                <a16:creationId xmlns:a16="http://schemas.microsoft.com/office/drawing/2014/main" id="{7EE06607-7798-7E43-03DC-002F75B71710}"/>
              </a:ext>
            </a:extLst>
          </p:cNvPr>
          <p:cNvSpPr txBox="1"/>
          <p:nvPr/>
        </p:nvSpPr>
        <p:spPr>
          <a:xfrm>
            <a:off x="7982210" y="6051269"/>
            <a:ext cx="4034502" cy="400110"/>
          </a:xfrm>
          <a:prstGeom prst="rect">
            <a:avLst/>
          </a:prstGeom>
          <a:noFill/>
        </p:spPr>
        <p:txBody>
          <a:bodyPr wrap="none">
            <a:spAutoFit/>
          </a:bodyPr>
          <a:lstStyle/>
          <a:p>
            <a:pPr>
              <a:defRPr sz="2800" b="1">
                <a:solidFill>
                  <a:srgbClr val="142237"/>
                </a:solidFill>
              </a:defRPr>
            </a:pPr>
            <a:r>
              <a:rPr lang="en-US" sz="2000" dirty="0">
                <a:latin typeface="Cambria Math" panose="02040503050406030204" pitchFamily="18" charset="0"/>
                <a:ea typeface="Cambria Math" panose="02040503050406030204" pitchFamily="18" charset="0"/>
              </a:rPr>
              <a:t>Other all implementations are same</a:t>
            </a:r>
          </a:p>
        </p:txBody>
      </p:sp>
    </p:spTree>
    <p:extLst>
      <p:ext uri="{BB962C8B-B14F-4D97-AF65-F5344CB8AC3E}">
        <p14:creationId xmlns:p14="http://schemas.microsoft.com/office/powerpoint/2010/main" val="377156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326DB-314A-4059-A589-0C1415DD956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EF9A675-BDC1-A506-B195-5F3FEB81AC47}"/>
              </a:ext>
            </a:extLst>
          </p:cNvPr>
          <p:cNvSpPr txBox="1"/>
          <p:nvPr/>
        </p:nvSpPr>
        <p:spPr>
          <a:xfrm>
            <a:off x="11455534" y="6473952"/>
            <a:ext cx="248786" cy="230832"/>
          </a:xfrm>
          <a:prstGeom prst="rect">
            <a:avLst/>
          </a:prstGeom>
          <a:noFill/>
        </p:spPr>
        <p:txBody>
          <a:bodyPr wrap="none">
            <a:spAutoFit/>
          </a:bodyPr>
          <a:lstStyle/>
          <a:p>
            <a:pPr algn="r">
              <a:defRPr sz="900">
                <a:solidFill>
                  <a:srgbClr val="5A6978"/>
                </a:solidFill>
              </a:defRPr>
            </a:pPr>
            <a:r>
              <a:rPr>
                <a:latin typeface="Cambria Math" panose="02040503050406030204" pitchFamily="18" charset="0"/>
                <a:ea typeface="Cambria Math" panose="02040503050406030204" pitchFamily="18" charset="0"/>
              </a:rPr>
              <a:t>3</a:t>
            </a:r>
          </a:p>
        </p:txBody>
      </p:sp>
      <p:sp>
        <p:nvSpPr>
          <p:cNvPr id="5" name="TextBox 4">
            <a:extLst>
              <a:ext uri="{FF2B5EF4-FFF2-40B4-BE49-F238E27FC236}">
                <a16:creationId xmlns:a16="http://schemas.microsoft.com/office/drawing/2014/main" id="{A4CC4ACE-EBD4-D5D5-3634-AADB6A216CAC}"/>
              </a:ext>
            </a:extLst>
          </p:cNvPr>
          <p:cNvSpPr txBox="1"/>
          <p:nvPr/>
        </p:nvSpPr>
        <p:spPr>
          <a:xfrm>
            <a:off x="9900953" y="6393416"/>
            <a:ext cx="2416395" cy="461665"/>
          </a:xfrm>
          <a:prstGeom prst="rect">
            <a:avLst/>
          </a:prstGeom>
          <a:noFill/>
        </p:spPr>
        <p:txBody>
          <a:bodyPr wrap="square">
            <a:spAutoFit/>
          </a:bodyPr>
          <a:lstStyle/>
          <a:p>
            <a:r>
              <a:rPr lang="en-US" sz="1200" dirty="0">
                <a:latin typeface="Cambria Math" panose="02040503050406030204" pitchFamily="18" charset="0"/>
                <a:ea typeface="Cambria Math" panose="02040503050406030204" pitchFamily="18" charset="0"/>
              </a:rPr>
              <a:t>PCS:</a:t>
            </a:r>
            <a:r>
              <a:rPr lang="en-IN" sz="1200" dirty="0">
                <a:latin typeface="Cambria Math" panose="02040503050406030204" pitchFamily="18" charset="0"/>
                <a:ea typeface="Cambria Math" panose="02040503050406030204" pitchFamily="18" charset="0"/>
              </a:rPr>
              <a:t> Piecewise Constant Strain</a:t>
            </a:r>
          </a:p>
          <a:p>
            <a:r>
              <a:rPr lang="en-IN" sz="1200" dirty="0">
                <a:latin typeface="Cambria Math" panose="02040503050406030204" pitchFamily="18" charset="0"/>
                <a:ea typeface="Cambria Math" panose="02040503050406030204" pitchFamily="18" charset="0"/>
              </a:rPr>
              <a:t>PRBM: Pseudo rigid body model</a:t>
            </a:r>
            <a:endParaRPr lang="en-US" sz="1200" dirty="0">
              <a:latin typeface="Cambria Math" panose="02040503050406030204" pitchFamily="18" charset="0"/>
              <a:ea typeface="Cambria Math" panose="02040503050406030204" pitchFamily="18" charset="0"/>
            </a:endParaRPr>
          </a:p>
        </p:txBody>
      </p:sp>
      <p:sp>
        <p:nvSpPr>
          <p:cNvPr id="37" name="TextBox 36">
            <a:extLst>
              <a:ext uri="{FF2B5EF4-FFF2-40B4-BE49-F238E27FC236}">
                <a16:creationId xmlns:a16="http://schemas.microsoft.com/office/drawing/2014/main" id="{74E9316C-6652-220C-2EEC-617DFA400CBB}"/>
              </a:ext>
            </a:extLst>
          </p:cNvPr>
          <p:cNvSpPr txBox="1"/>
          <p:nvPr/>
        </p:nvSpPr>
        <p:spPr>
          <a:xfrm>
            <a:off x="10012748" y="6005804"/>
            <a:ext cx="1931041" cy="307777"/>
          </a:xfrm>
          <a:prstGeom prst="rect">
            <a:avLst/>
          </a:prstGeom>
          <a:noFill/>
          <a:ln>
            <a:solidFill>
              <a:schemeClr val="tx1"/>
            </a:solidFill>
          </a:ln>
        </p:spPr>
        <p:txBody>
          <a:bodyPr wrap="none" rtlCol="0">
            <a:spAutoFit/>
          </a:bodyPr>
          <a:lstStyle/>
          <a:p>
            <a:r>
              <a:rPr lang="en-US" sz="1400" dirty="0" err="1">
                <a:latin typeface="Cambria Math" panose="02040503050406030204" pitchFamily="18" charset="0"/>
                <a:ea typeface="Cambria Math" panose="02040503050406030204" pitchFamily="18" charset="0"/>
              </a:rPr>
              <a:t>Ananthasuresh</a:t>
            </a:r>
            <a:r>
              <a:rPr lang="en-US" sz="1400" dirty="0">
                <a:latin typeface="Cambria Math" panose="02040503050406030204" pitchFamily="18" charset="0"/>
                <a:ea typeface="Cambria Math" panose="02040503050406030204" pitchFamily="18" charset="0"/>
              </a:rPr>
              <a:t> sir, IISc</a:t>
            </a:r>
          </a:p>
        </p:txBody>
      </p:sp>
      <p:pic>
        <p:nvPicPr>
          <p:cNvPr id="39" name="Picture 38" descr="The image appears to be a line graph or a scatter plot, showing a trend of values increasing from 0.1 to 1, and then decreasing back down to 0.1, with an additional point at 0.2, 0.4, and 0.6, suggesting some repeated data points or a cyclic pattern.&#10;&#10;AI-generated content may be incorrect.">
            <a:extLst>
              <a:ext uri="{FF2B5EF4-FFF2-40B4-BE49-F238E27FC236}">
                <a16:creationId xmlns:a16="http://schemas.microsoft.com/office/drawing/2014/main" id="{4881DC26-5F2A-662F-9E6C-74EC7A4696EE}"/>
              </a:ext>
            </a:extLst>
          </p:cNvPr>
          <p:cNvPicPr>
            <a:picLocks noChangeAspect="1"/>
          </p:cNvPicPr>
          <p:nvPr/>
        </p:nvPicPr>
        <p:blipFill>
          <a:blip r:embed="rId2"/>
          <a:stretch>
            <a:fillRect/>
          </a:stretch>
        </p:blipFill>
        <p:spPr>
          <a:xfrm>
            <a:off x="9423789" y="812370"/>
            <a:ext cx="2520000" cy="2535181"/>
          </a:xfrm>
          <a:prstGeom prst="rect">
            <a:avLst/>
          </a:prstGeom>
          <a:ln>
            <a:solidFill>
              <a:schemeClr val="tx1"/>
            </a:solidFill>
          </a:ln>
        </p:spPr>
      </p:pic>
      <p:pic>
        <p:nvPicPr>
          <p:cNvPr id="41" name="Picture 40" descr="The diagram illustrates the position of the free tip of a cantilever beam under varying load conditions, with specific values for stiffness (EI) and displacement (x).&#10;&#10;AI-generated content may be incorrect.">
            <a:extLst>
              <a:ext uri="{FF2B5EF4-FFF2-40B4-BE49-F238E27FC236}">
                <a16:creationId xmlns:a16="http://schemas.microsoft.com/office/drawing/2014/main" id="{6499D97F-89DC-86BE-F5B7-1F166F79EB3E}"/>
              </a:ext>
            </a:extLst>
          </p:cNvPr>
          <p:cNvPicPr>
            <a:picLocks noChangeAspect="1"/>
          </p:cNvPicPr>
          <p:nvPr/>
        </p:nvPicPr>
        <p:blipFill>
          <a:blip r:embed="rId3"/>
          <a:stretch>
            <a:fillRect/>
          </a:stretch>
        </p:blipFill>
        <p:spPr>
          <a:xfrm>
            <a:off x="9423789" y="3427386"/>
            <a:ext cx="2520000" cy="2498583"/>
          </a:xfrm>
          <a:prstGeom prst="rect">
            <a:avLst/>
          </a:prstGeom>
          <a:ln>
            <a:solidFill>
              <a:schemeClr val="tx1"/>
            </a:solidFill>
          </a:ln>
        </p:spPr>
      </p:pic>
      <p:cxnSp>
        <p:nvCxnSpPr>
          <p:cNvPr id="45" name="Straight Connector 44">
            <a:extLst>
              <a:ext uri="{FF2B5EF4-FFF2-40B4-BE49-F238E27FC236}">
                <a16:creationId xmlns:a16="http://schemas.microsoft.com/office/drawing/2014/main" id="{81AD6624-3538-A27C-3063-796A224BF425}"/>
              </a:ext>
            </a:extLst>
          </p:cNvPr>
          <p:cNvCxnSpPr>
            <a:cxnSpLocks/>
          </p:cNvCxnSpPr>
          <p:nvPr/>
        </p:nvCxnSpPr>
        <p:spPr>
          <a:xfrm>
            <a:off x="9287934" y="0"/>
            <a:ext cx="0" cy="6942667"/>
          </a:xfrm>
          <a:prstGeom prst="line">
            <a:avLst/>
          </a:prstGeom>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A44C0C80-521F-450A-62FD-6151AD1E2088}"/>
              </a:ext>
            </a:extLst>
          </p:cNvPr>
          <p:cNvSpPr txBox="1"/>
          <p:nvPr/>
        </p:nvSpPr>
        <p:spPr>
          <a:xfrm>
            <a:off x="9482178" y="447578"/>
            <a:ext cx="2403222" cy="307777"/>
          </a:xfrm>
          <a:prstGeom prst="rect">
            <a:avLst/>
          </a:prstGeom>
          <a:no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Compliant Mechanism PRBM</a:t>
            </a:r>
            <a:endParaRPr lang="en-IN" sz="1400" dirty="0">
              <a:latin typeface="Cambria Math" panose="02040503050406030204" pitchFamily="18" charset="0"/>
              <a:ea typeface="Cambria Math" panose="02040503050406030204" pitchFamily="18" charset="0"/>
            </a:endParaRPr>
          </a:p>
        </p:txBody>
      </p:sp>
      <p:pic>
        <p:nvPicPr>
          <p:cNvPr id="51" name="Picture 50" descr="The image shows a diagram with a black line and a green line intersecting, representing a comparison or correlation between two data points, possibly in a graph format.&#10;&#10;AI-generated content may be incorrect.">
            <a:extLst>
              <a:ext uri="{FF2B5EF4-FFF2-40B4-BE49-F238E27FC236}">
                <a16:creationId xmlns:a16="http://schemas.microsoft.com/office/drawing/2014/main" id="{ADE2B6AB-4134-F13F-79D9-180872F06A2F}"/>
              </a:ext>
            </a:extLst>
          </p:cNvPr>
          <p:cNvPicPr>
            <a:picLocks noChangeAspect="1"/>
          </p:cNvPicPr>
          <p:nvPr/>
        </p:nvPicPr>
        <p:blipFill>
          <a:blip r:embed="rId4"/>
          <a:stretch>
            <a:fillRect/>
          </a:stretch>
        </p:blipFill>
        <p:spPr>
          <a:xfrm>
            <a:off x="6725350" y="2441152"/>
            <a:ext cx="2416484" cy="2933278"/>
          </a:xfrm>
          <a:prstGeom prst="rect">
            <a:avLst/>
          </a:prstGeom>
          <a:ln>
            <a:solidFill>
              <a:schemeClr val="tx1"/>
            </a:solidFill>
          </a:ln>
        </p:spPr>
      </p:pic>
      <p:sp>
        <p:nvSpPr>
          <p:cNvPr id="53" name="TextBox 52">
            <a:extLst>
              <a:ext uri="{FF2B5EF4-FFF2-40B4-BE49-F238E27FC236}">
                <a16:creationId xmlns:a16="http://schemas.microsoft.com/office/drawing/2014/main" id="{9D19A275-C420-8C0B-D810-2B663CA9DD33}"/>
              </a:ext>
            </a:extLst>
          </p:cNvPr>
          <p:cNvSpPr txBox="1"/>
          <p:nvPr/>
        </p:nvSpPr>
        <p:spPr>
          <a:xfrm>
            <a:off x="5702540" y="2064906"/>
            <a:ext cx="3451145" cy="307777"/>
          </a:xfrm>
          <a:prstGeom prst="rect">
            <a:avLst/>
          </a:prstGeom>
          <a:noFill/>
          <a:ln>
            <a:solidFill>
              <a:schemeClr val="tx1"/>
            </a:solidFill>
          </a:ln>
        </p:spPr>
        <p:txBody>
          <a:bodyPr wrap="square" rtlCol="0">
            <a:spAutoFit/>
          </a:bodyPr>
          <a:lstStyle/>
          <a:p>
            <a:pPr algn="r"/>
            <a:r>
              <a:rPr lang="en-US" sz="1400" dirty="0" err="1">
                <a:latin typeface="Cambria Math" panose="02040503050406030204" pitchFamily="18" charset="0"/>
                <a:ea typeface="Cambria Math" panose="02040503050406030204" pitchFamily="18" charset="0"/>
              </a:rPr>
              <a:t>OpenCR</a:t>
            </a:r>
            <a:r>
              <a:rPr lang="en-US" sz="1400" dirty="0">
                <a:latin typeface="Cambria Math" panose="02040503050406030204" pitchFamily="18" charset="0"/>
                <a:ea typeface="Cambria Math" panose="02040503050406030204" pitchFamily="18" charset="0"/>
              </a:rPr>
              <a:t> lab,</a:t>
            </a:r>
            <a:r>
              <a:rPr lang="en-IN" sz="1400" dirty="0">
                <a:latin typeface="Cambria Math" panose="02040503050406030204" pitchFamily="18" charset="0"/>
                <a:ea typeface="Cambria Math" panose="02040503050406030204" pitchFamily="18" charset="0"/>
              </a:rPr>
              <a:t>University of Toronto, Canada</a:t>
            </a:r>
            <a:endParaRPr lang="en-US" sz="1400" dirty="0">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271BD517-A481-7DEF-9872-3E42674E1B57}"/>
              </a:ext>
            </a:extLst>
          </p:cNvPr>
          <p:cNvSpPr txBox="1"/>
          <p:nvPr/>
        </p:nvSpPr>
        <p:spPr>
          <a:xfrm>
            <a:off x="833120" y="370435"/>
            <a:ext cx="7752443" cy="523220"/>
          </a:xfrm>
          <a:prstGeom prst="rect">
            <a:avLst/>
          </a:prstGeom>
          <a:noFill/>
        </p:spPr>
        <p:txBody>
          <a:bodyPr wrap="none">
            <a:spAutoFit/>
          </a:bodyPr>
          <a:lstStyle/>
          <a:p>
            <a:pPr>
              <a:defRPr sz="2800" b="1">
                <a:solidFill>
                  <a:srgbClr val="142237"/>
                </a:solidFill>
              </a:defRPr>
            </a:pPr>
            <a:r>
              <a:rPr lang="en-US" dirty="0" err="1">
                <a:latin typeface="Cambria Math" panose="02040503050406030204" pitchFamily="18" charset="0"/>
                <a:ea typeface="Cambria Math" panose="02040503050406030204" pitchFamily="18" charset="0"/>
              </a:rPr>
              <a:t>OpenCR</a:t>
            </a:r>
            <a:r>
              <a:rPr lang="en-US" dirty="0">
                <a:latin typeface="Cambria Math" panose="02040503050406030204" pitchFamily="18" charset="0"/>
                <a:ea typeface="Cambria Math" panose="02040503050406030204" pitchFamily="18" charset="0"/>
              </a:rPr>
              <a:t> </a:t>
            </a:r>
            <a:r>
              <a:rPr lang="en-US" dirty="0" err="1">
                <a:latin typeface="Cambria Math" panose="02040503050406030204" pitchFamily="18" charset="0"/>
                <a:ea typeface="Cambria Math" panose="02040503050406030204" pitchFamily="18" charset="0"/>
              </a:rPr>
              <a:t>Mujoco</a:t>
            </a:r>
            <a:r>
              <a:rPr lang="en-US" dirty="0">
                <a:latin typeface="Cambria Math" panose="02040503050406030204" pitchFamily="18" charset="0"/>
                <a:ea typeface="Cambria Math" panose="02040503050406030204" pitchFamily="18" charset="0"/>
              </a:rPr>
              <a:t>: Kirchhoff rod with PCS modelling</a:t>
            </a:r>
          </a:p>
        </p:txBody>
      </p:sp>
      <p:pic>
        <p:nvPicPr>
          <p:cNvPr id="97" name="Picture 96" descr="The image depicts a model of a chain of segments connected by elastic joints, representing a Kirchhoff rod, with each segment tracing a circular arc and the joints placed at segment midpoints to avoid errors.&#10;&#10;AI-generated content may be incorrect.">
            <a:extLst>
              <a:ext uri="{FF2B5EF4-FFF2-40B4-BE49-F238E27FC236}">
                <a16:creationId xmlns:a16="http://schemas.microsoft.com/office/drawing/2014/main" id="{76F76792-EDC6-619A-BEAA-6D1FB0CD48AE}"/>
              </a:ext>
            </a:extLst>
          </p:cNvPr>
          <p:cNvPicPr>
            <a:picLocks noChangeAspect="1"/>
          </p:cNvPicPr>
          <p:nvPr/>
        </p:nvPicPr>
        <p:blipFill>
          <a:blip r:embed="rId5"/>
          <a:stretch>
            <a:fillRect/>
          </a:stretch>
        </p:blipFill>
        <p:spPr>
          <a:xfrm>
            <a:off x="1020937" y="2948536"/>
            <a:ext cx="5589919" cy="3500015"/>
          </a:xfrm>
          <a:prstGeom prst="rect">
            <a:avLst/>
          </a:prstGeom>
        </p:spPr>
      </p:pic>
      <p:pic>
        <p:nvPicPr>
          <p:cNvPr id="99" name="Picture 98" descr="The image depicts various formulas and relationships in beam theory, including expressions for bending moment (M), shear force (ￂﾢi), elastic modulus (E), moment of inertia (I), and factors like Kx, Ky, and Kz which are related to beam deflection and rigidity.&#10;&#10;AI-generated content may be incorrect.">
            <a:extLst>
              <a:ext uri="{FF2B5EF4-FFF2-40B4-BE49-F238E27FC236}">
                <a16:creationId xmlns:a16="http://schemas.microsoft.com/office/drawing/2014/main" id="{50DE06F0-5AB1-0348-E359-8391152C0B3F}"/>
              </a:ext>
            </a:extLst>
          </p:cNvPr>
          <p:cNvPicPr>
            <a:picLocks noChangeAspect="1"/>
          </p:cNvPicPr>
          <p:nvPr/>
        </p:nvPicPr>
        <p:blipFill>
          <a:blip r:embed="rId6"/>
          <a:srcRect t="10477" r="9571" b="39380"/>
          <a:stretch>
            <a:fillRect/>
          </a:stretch>
        </p:blipFill>
        <p:spPr>
          <a:xfrm>
            <a:off x="1084314" y="1070951"/>
            <a:ext cx="3451144" cy="1824247"/>
          </a:xfrm>
          <a:prstGeom prst="rect">
            <a:avLst/>
          </a:prstGeom>
          <a:ln>
            <a:solidFill>
              <a:schemeClr val="tx1"/>
            </a:solidFill>
          </a:ln>
        </p:spPr>
      </p:pic>
      <p:pic>
        <p:nvPicPr>
          <p:cNvPr id="101" name="Picture 100" descr="The image is a document discussing the exploration of rigid-body simulators' ability to learn soft robot control for tendon-driven continuum robots.&#10;&#10;AI-generated content may be incorrect.">
            <a:extLst>
              <a:ext uri="{FF2B5EF4-FFF2-40B4-BE49-F238E27FC236}">
                <a16:creationId xmlns:a16="http://schemas.microsoft.com/office/drawing/2014/main" id="{39B02FFC-3110-2C2C-B3AC-00226A30B24C}"/>
              </a:ext>
            </a:extLst>
          </p:cNvPr>
          <p:cNvPicPr>
            <a:picLocks noChangeAspect="1"/>
          </p:cNvPicPr>
          <p:nvPr/>
        </p:nvPicPr>
        <p:blipFill>
          <a:blip r:embed="rId7"/>
          <a:stretch>
            <a:fillRect/>
          </a:stretch>
        </p:blipFill>
        <p:spPr>
          <a:xfrm>
            <a:off x="4608044" y="1070951"/>
            <a:ext cx="4533790" cy="945447"/>
          </a:xfrm>
          <a:prstGeom prst="rect">
            <a:avLst/>
          </a:prstGeom>
          <a:ln>
            <a:solidFill>
              <a:schemeClr val="tx1"/>
            </a:solidFill>
          </a:ln>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8EB99F24-59DF-D1FB-0477-CB7A5D20FF37}"/>
                  </a:ext>
                </a:extLst>
              </p:cNvPr>
              <p:cNvSpPr txBox="1"/>
              <p:nvPr/>
            </p:nvSpPr>
            <p:spPr>
              <a:xfrm>
                <a:off x="1020937" y="2159227"/>
                <a:ext cx="478657" cy="276999"/>
              </a:xfrm>
              <a:prstGeom prst="rect">
                <a:avLst/>
              </a:prstGeom>
              <a:noFill/>
            </p:spPr>
            <p:txBody>
              <a:bodyPr wrap="non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𝑙</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/2</m:t>
                      </m:r>
                    </m:oMath>
                  </m:oMathPara>
                </a14:m>
                <a:endParaRPr lang="en-IN" sz="1200" dirty="0"/>
              </a:p>
            </p:txBody>
          </p:sp>
        </mc:Choice>
        <mc:Fallback xmlns="">
          <p:sp>
            <p:nvSpPr>
              <p:cNvPr id="104" name="TextBox 103">
                <a:extLst>
                  <a:ext uri="{FF2B5EF4-FFF2-40B4-BE49-F238E27FC236}">
                    <a16:creationId xmlns:a16="http://schemas.microsoft.com/office/drawing/2014/main" id="{8EB99F24-59DF-D1FB-0477-CB7A5D20FF37}"/>
                  </a:ext>
                </a:extLst>
              </p:cNvPr>
              <p:cNvSpPr txBox="1">
                <a:spLocks noRot="1" noChangeAspect="1" noMove="1" noResize="1" noEditPoints="1" noAdjustHandles="1" noChangeArrowheads="1" noChangeShapeType="1" noTextEdit="1"/>
              </p:cNvSpPr>
              <p:nvPr/>
            </p:nvSpPr>
            <p:spPr>
              <a:xfrm>
                <a:off x="1020937" y="2159227"/>
                <a:ext cx="478657" cy="276999"/>
              </a:xfrm>
              <a:prstGeom prst="rect">
                <a:avLst/>
              </a:prstGeom>
              <a:blipFill>
                <a:blip r:embed="rId8"/>
                <a:stretch>
                  <a:fillRect b="-4348"/>
                </a:stretch>
              </a:blipFill>
            </p:spPr>
            <p:txBody>
              <a:bodyPr/>
              <a:lstStyle/>
              <a:p>
                <a:r>
                  <a:rPr lang="en-IN">
                    <a:noFill/>
                  </a:rPr>
                  <a:t> </a:t>
                </a:r>
              </a:p>
            </p:txBody>
          </p:sp>
        </mc:Fallback>
      </mc:AlternateContent>
      <p:sp>
        <p:nvSpPr>
          <p:cNvPr id="108" name="TextBox 107">
            <a:extLst>
              <a:ext uri="{FF2B5EF4-FFF2-40B4-BE49-F238E27FC236}">
                <a16:creationId xmlns:a16="http://schemas.microsoft.com/office/drawing/2014/main" id="{E0881AFA-89BC-B413-6F5D-0EF9B8AF405B}"/>
              </a:ext>
            </a:extLst>
          </p:cNvPr>
          <p:cNvSpPr txBox="1"/>
          <p:nvPr/>
        </p:nvSpPr>
        <p:spPr>
          <a:xfrm>
            <a:off x="9482178" y="99533"/>
            <a:ext cx="1902637" cy="307777"/>
          </a:xfrm>
          <a:prstGeom prst="rect">
            <a:avLst/>
          </a:prstGeom>
          <a:no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Similar approximation</a:t>
            </a:r>
            <a:endParaRPr lang="en-IN" sz="1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68073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 name="Group 102">
            <a:extLst>
              <a:ext uri="{FF2B5EF4-FFF2-40B4-BE49-F238E27FC236}">
                <a16:creationId xmlns:a16="http://schemas.microsoft.com/office/drawing/2014/main" id="{569D95D3-3DF8-47AE-CB34-284A9D94D76E}"/>
              </a:ext>
            </a:extLst>
          </p:cNvPr>
          <p:cNvGrpSpPr/>
          <p:nvPr/>
        </p:nvGrpSpPr>
        <p:grpSpPr>
          <a:xfrm>
            <a:off x="3041752" y="675156"/>
            <a:ext cx="3652813" cy="6088569"/>
            <a:chOff x="130345" y="241686"/>
            <a:chExt cx="3652813" cy="6088569"/>
          </a:xfrm>
        </p:grpSpPr>
        <p:cxnSp>
          <p:nvCxnSpPr>
            <p:cNvPr id="30" name="Straight Connector 29">
              <a:extLst>
                <a:ext uri="{FF2B5EF4-FFF2-40B4-BE49-F238E27FC236}">
                  <a16:creationId xmlns:a16="http://schemas.microsoft.com/office/drawing/2014/main" id="{984583F3-4A5D-7FF9-5389-D8015A3597F7}"/>
                </a:ext>
              </a:extLst>
            </p:cNvPr>
            <p:cNvCxnSpPr>
              <a:cxnSpLocks/>
            </p:cNvCxnSpPr>
            <p:nvPr/>
          </p:nvCxnSpPr>
          <p:spPr>
            <a:xfrm>
              <a:off x="1421732" y="1042628"/>
              <a:ext cx="0" cy="4643953"/>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AF5E388-ADD4-6585-7843-93B33ECA10F6}"/>
                </a:ext>
              </a:extLst>
            </p:cNvPr>
            <p:cNvCxnSpPr>
              <a:cxnSpLocks/>
            </p:cNvCxnSpPr>
            <p:nvPr/>
          </p:nvCxnSpPr>
          <p:spPr>
            <a:xfrm>
              <a:off x="2602864" y="1029791"/>
              <a:ext cx="0" cy="4643953"/>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sp>
          <p:nvSpPr>
            <p:cNvPr id="2" name="Cylinder 1">
              <a:extLst>
                <a:ext uri="{FF2B5EF4-FFF2-40B4-BE49-F238E27FC236}">
                  <a16:creationId xmlns:a16="http://schemas.microsoft.com/office/drawing/2014/main" id="{85CE4593-936F-9324-CE9B-FCD357F57704}"/>
                </a:ext>
              </a:extLst>
            </p:cNvPr>
            <p:cNvSpPr/>
            <p:nvPr/>
          </p:nvSpPr>
          <p:spPr>
            <a:xfrm>
              <a:off x="1665709" y="827424"/>
              <a:ext cx="370627" cy="4937760"/>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12" name="TextBox 11">
              <a:extLst>
                <a:ext uri="{FF2B5EF4-FFF2-40B4-BE49-F238E27FC236}">
                  <a16:creationId xmlns:a16="http://schemas.microsoft.com/office/drawing/2014/main" id="{2CCC0E4F-6FBD-84C4-241F-91D5CDCBD990}"/>
                </a:ext>
              </a:extLst>
            </p:cNvPr>
            <p:cNvSpPr txBox="1"/>
            <p:nvPr/>
          </p:nvSpPr>
          <p:spPr>
            <a:xfrm>
              <a:off x="2843318" y="5459352"/>
              <a:ext cx="271228"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x</a:t>
              </a:r>
              <a:endParaRPr lang="en-IN" sz="1400" dirty="0">
                <a:latin typeface="Cambria Math" panose="02040503050406030204" pitchFamily="18" charset="0"/>
                <a:ea typeface="Cambria Math" panose="02040503050406030204" pitchFamily="18" charset="0"/>
              </a:endParaRPr>
            </a:p>
          </p:txBody>
        </p:sp>
        <p:sp>
          <p:nvSpPr>
            <p:cNvPr id="14" name="TextBox 13">
              <a:extLst>
                <a:ext uri="{FF2B5EF4-FFF2-40B4-BE49-F238E27FC236}">
                  <a16:creationId xmlns:a16="http://schemas.microsoft.com/office/drawing/2014/main" id="{D64EAE5F-8FCA-B22F-234F-50395B20E984}"/>
                </a:ext>
              </a:extLst>
            </p:cNvPr>
            <p:cNvSpPr txBox="1"/>
            <p:nvPr/>
          </p:nvSpPr>
          <p:spPr>
            <a:xfrm>
              <a:off x="1708998" y="4535546"/>
              <a:ext cx="266420"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z</a:t>
              </a:r>
              <a:endParaRPr lang="en-IN" sz="1400" dirty="0">
                <a:latin typeface="Cambria Math" panose="02040503050406030204" pitchFamily="18" charset="0"/>
                <a:ea typeface="Cambria Math" panose="02040503050406030204" pitchFamily="18" charset="0"/>
              </a:endParaRPr>
            </a:p>
          </p:txBody>
        </p:sp>
        <p:sp>
          <p:nvSpPr>
            <p:cNvPr id="16" name="TextBox 15">
              <a:extLst>
                <a:ext uri="{FF2B5EF4-FFF2-40B4-BE49-F238E27FC236}">
                  <a16:creationId xmlns:a16="http://schemas.microsoft.com/office/drawing/2014/main" id="{A38AD534-B903-3395-C9D8-C26D80CF0A05}"/>
                </a:ext>
              </a:extLst>
            </p:cNvPr>
            <p:cNvSpPr txBox="1"/>
            <p:nvPr/>
          </p:nvSpPr>
          <p:spPr>
            <a:xfrm>
              <a:off x="1119718" y="6022478"/>
              <a:ext cx="274434"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y</a:t>
              </a:r>
              <a:endParaRPr lang="en-IN" sz="1400" dirty="0">
                <a:latin typeface="Cambria Math" panose="02040503050406030204" pitchFamily="18" charset="0"/>
                <a:ea typeface="Cambria Math" panose="02040503050406030204" pitchFamily="18" charset="0"/>
              </a:endParaRPr>
            </a:p>
          </p:txBody>
        </p:sp>
        <p:sp>
          <p:nvSpPr>
            <p:cNvPr id="18" name="Rectangle 17">
              <a:extLst>
                <a:ext uri="{FF2B5EF4-FFF2-40B4-BE49-F238E27FC236}">
                  <a16:creationId xmlns:a16="http://schemas.microsoft.com/office/drawing/2014/main" id="{29A1D6A3-5552-CDA5-6195-8572CD8CA012}"/>
                </a:ext>
              </a:extLst>
            </p:cNvPr>
            <p:cNvSpPr/>
            <p:nvPr/>
          </p:nvSpPr>
          <p:spPr>
            <a:xfrm>
              <a:off x="916170" y="810733"/>
              <a:ext cx="1920374" cy="23189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20" name="Rectangle 19">
              <a:extLst>
                <a:ext uri="{FF2B5EF4-FFF2-40B4-BE49-F238E27FC236}">
                  <a16:creationId xmlns:a16="http://schemas.microsoft.com/office/drawing/2014/main" id="{529B39A0-9F03-9221-D7B6-039C09347780}"/>
                </a:ext>
              </a:extLst>
            </p:cNvPr>
            <p:cNvSpPr/>
            <p:nvPr/>
          </p:nvSpPr>
          <p:spPr>
            <a:xfrm>
              <a:off x="916170" y="1951470"/>
              <a:ext cx="1920374" cy="23189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22" name="Rectangle 21">
              <a:extLst>
                <a:ext uri="{FF2B5EF4-FFF2-40B4-BE49-F238E27FC236}">
                  <a16:creationId xmlns:a16="http://schemas.microsoft.com/office/drawing/2014/main" id="{B3CA0E15-6599-3728-D9F9-BA9C1E66DE4E}"/>
                </a:ext>
              </a:extLst>
            </p:cNvPr>
            <p:cNvSpPr/>
            <p:nvPr/>
          </p:nvSpPr>
          <p:spPr>
            <a:xfrm>
              <a:off x="890837" y="3105044"/>
              <a:ext cx="1920374" cy="23189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24" name="Rectangle 23">
              <a:extLst>
                <a:ext uri="{FF2B5EF4-FFF2-40B4-BE49-F238E27FC236}">
                  <a16:creationId xmlns:a16="http://schemas.microsoft.com/office/drawing/2014/main" id="{1781B6DF-2794-A20C-CBE9-F0500D429C1D}"/>
                </a:ext>
              </a:extLst>
            </p:cNvPr>
            <p:cNvSpPr/>
            <p:nvPr/>
          </p:nvSpPr>
          <p:spPr>
            <a:xfrm>
              <a:off x="890835" y="4370445"/>
              <a:ext cx="1920374" cy="23189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26" name="Rectangle 25">
              <a:extLst>
                <a:ext uri="{FF2B5EF4-FFF2-40B4-BE49-F238E27FC236}">
                  <a16:creationId xmlns:a16="http://schemas.microsoft.com/office/drawing/2014/main" id="{E179BFAB-EAF7-24AE-36E3-5C9A3836038B}"/>
                </a:ext>
              </a:extLst>
            </p:cNvPr>
            <p:cNvSpPr/>
            <p:nvPr/>
          </p:nvSpPr>
          <p:spPr>
            <a:xfrm>
              <a:off x="890835" y="5718709"/>
              <a:ext cx="1920374" cy="23189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cxnSp>
          <p:nvCxnSpPr>
            <p:cNvPr id="4" name="Straight Arrow Connector 3">
              <a:extLst>
                <a:ext uri="{FF2B5EF4-FFF2-40B4-BE49-F238E27FC236}">
                  <a16:creationId xmlns:a16="http://schemas.microsoft.com/office/drawing/2014/main" id="{5CD67A2F-D514-9C64-B785-A67C31AE9EDE}"/>
                </a:ext>
              </a:extLst>
            </p:cNvPr>
            <p:cNvCxnSpPr>
              <a:cxnSpLocks/>
            </p:cNvCxnSpPr>
            <p:nvPr/>
          </p:nvCxnSpPr>
          <p:spPr>
            <a:xfrm>
              <a:off x="1863690" y="5700175"/>
              <a:ext cx="98552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2AF7B4C-459F-DD9A-4793-A234C7AF9091}"/>
                </a:ext>
              </a:extLst>
            </p:cNvPr>
            <p:cNvCxnSpPr>
              <a:cxnSpLocks/>
            </p:cNvCxnSpPr>
            <p:nvPr/>
          </p:nvCxnSpPr>
          <p:spPr>
            <a:xfrm flipV="1">
              <a:off x="1863690" y="4861975"/>
              <a:ext cx="0" cy="83820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77566F2-E258-99DF-BA7E-37517FCE27FC}"/>
                </a:ext>
              </a:extLst>
            </p:cNvPr>
            <p:cNvCxnSpPr>
              <a:cxnSpLocks/>
            </p:cNvCxnSpPr>
            <p:nvPr/>
          </p:nvCxnSpPr>
          <p:spPr>
            <a:xfrm flipH="1">
              <a:off x="1406490" y="5700175"/>
              <a:ext cx="457200" cy="431800"/>
            </a:xfrm>
            <a:prstGeom prst="straightConnector1">
              <a:avLst/>
            </a:prstGeom>
            <a:ln>
              <a:solidFill>
                <a:srgbClr val="92D050"/>
              </a:solidFill>
              <a:tailEnd type="triangle"/>
            </a:ln>
          </p:spPr>
          <p:style>
            <a:lnRef idx="2">
              <a:schemeClr val="accent3"/>
            </a:lnRef>
            <a:fillRef idx="0">
              <a:schemeClr val="accent3"/>
            </a:fillRef>
            <a:effectRef idx="1">
              <a:schemeClr val="accent3"/>
            </a:effectRef>
            <a:fontRef idx="minor">
              <a:schemeClr val="tx1"/>
            </a:fontRef>
          </p:style>
        </p:cxnSp>
        <p:sp>
          <p:nvSpPr>
            <p:cNvPr id="33" name="TextBox 32">
              <a:extLst>
                <a:ext uri="{FF2B5EF4-FFF2-40B4-BE49-F238E27FC236}">
                  <a16:creationId xmlns:a16="http://schemas.microsoft.com/office/drawing/2014/main" id="{2FD8C2D7-1C09-7FA9-CC33-829BBF4B1685}"/>
                </a:ext>
              </a:extLst>
            </p:cNvPr>
            <p:cNvSpPr txBox="1"/>
            <p:nvPr/>
          </p:nvSpPr>
          <p:spPr>
            <a:xfrm>
              <a:off x="2393954" y="1399933"/>
              <a:ext cx="870751" cy="307777"/>
            </a:xfrm>
            <a:prstGeom prst="rect">
              <a:avLst/>
            </a:prstGeom>
            <a:solidFill>
              <a:schemeClr val="bg1"/>
            </a:solid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r = 6mm</a:t>
              </a:r>
            </a:p>
          </p:txBody>
        </p:sp>
        <p:cxnSp>
          <p:nvCxnSpPr>
            <p:cNvPr id="35" name="Straight Arrow Connector 34">
              <a:extLst>
                <a:ext uri="{FF2B5EF4-FFF2-40B4-BE49-F238E27FC236}">
                  <a16:creationId xmlns:a16="http://schemas.microsoft.com/office/drawing/2014/main" id="{FBF87532-360C-33B3-068C-FF8CDDEEB484}"/>
                </a:ext>
              </a:extLst>
            </p:cNvPr>
            <p:cNvCxnSpPr>
              <a:cxnSpLocks/>
            </p:cNvCxnSpPr>
            <p:nvPr/>
          </p:nvCxnSpPr>
          <p:spPr>
            <a:xfrm flipH="1">
              <a:off x="2038027" y="1547333"/>
              <a:ext cx="38873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8" name="Straight Arrow Connector 37">
              <a:extLst>
                <a:ext uri="{FF2B5EF4-FFF2-40B4-BE49-F238E27FC236}">
                  <a16:creationId xmlns:a16="http://schemas.microsoft.com/office/drawing/2014/main" id="{38CB143D-AEE1-F530-C247-0FD007DF5E3B}"/>
                </a:ext>
              </a:extLst>
            </p:cNvPr>
            <p:cNvCxnSpPr>
              <a:cxnSpLocks/>
            </p:cNvCxnSpPr>
            <p:nvPr/>
          </p:nvCxnSpPr>
          <p:spPr>
            <a:xfrm flipV="1">
              <a:off x="1547076" y="1555460"/>
              <a:ext cx="326737" cy="812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1" name="Straight Arrow Connector 40">
              <a:extLst>
                <a:ext uri="{FF2B5EF4-FFF2-40B4-BE49-F238E27FC236}">
                  <a16:creationId xmlns:a16="http://schemas.microsoft.com/office/drawing/2014/main" id="{CD4780DC-5F2B-FDB5-69E0-C87A18549467}"/>
                </a:ext>
              </a:extLst>
            </p:cNvPr>
            <p:cNvCxnSpPr>
              <a:cxnSpLocks/>
            </p:cNvCxnSpPr>
            <p:nvPr/>
          </p:nvCxnSpPr>
          <p:spPr>
            <a:xfrm flipH="1">
              <a:off x="686196" y="926680"/>
              <a:ext cx="5641" cy="4902004"/>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59AFB56B-DC4D-F95F-8878-E4B30EFC56B8}"/>
                </a:ext>
              </a:extLst>
            </p:cNvPr>
            <p:cNvCxnSpPr>
              <a:cxnSpLocks/>
              <a:endCxn id="18" idx="2"/>
            </p:cNvCxnSpPr>
            <p:nvPr/>
          </p:nvCxnSpPr>
          <p:spPr>
            <a:xfrm>
              <a:off x="153651" y="919078"/>
              <a:ext cx="172270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F5B7BB1B-1F4B-F031-7723-51C1A2F00D58}"/>
                </a:ext>
              </a:extLst>
            </p:cNvPr>
            <p:cNvCxnSpPr>
              <a:cxnSpLocks/>
            </p:cNvCxnSpPr>
            <p:nvPr/>
          </p:nvCxnSpPr>
          <p:spPr>
            <a:xfrm>
              <a:off x="165715" y="5828684"/>
              <a:ext cx="172270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2" name="TextBox 51">
              <a:extLst>
                <a:ext uri="{FF2B5EF4-FFF2-40B4-BE49-F238E27FC236}">
                  <a16:creationId xmlns:a16="http://schemas.microsoft.com/office/drawing/2014/main" id="{61875C5F-E14E-7416-894F-47E53F58D7EE}"/>
                </a:ext>
              </a:extLst>
            </p:cNvPr>
            <p:cNvSpPr txBox="1"/>
            <p:nvPr/>
          </p:nvSpPr>
          <p:spPr>
            <a:xfrm>
              <a:off x="1136372" y="2546229"/>
              <a:ext cx="1722976" cy="307777"/>
            </a:xfrm>
            <a:prstGeom prst="rect">
              <a:avLst/>
            </a:prstGeom>
            <a:solidFill>
              <a:schemeClr val="bg1"/>
            </a:solidFill>
            <a:ln>
              <a:noFill/>
            </a:ln>
          </p:spPr>
          <p:txBody>
            <a:bodyPr wrap="square" rtlCol="0">
              <a:spAutoFit/>
            </a:bodyPr>
            <a:lstStyle/>
            <a:p>
              <a:endParaRPr lang="en-US" sz="1400" dirty="0">
                <a:latin typeface="Cambria Math" panose="02040503050406030204" pitchFamily="18" charset="0"/>
                <a:ea typeface="Cambria Math" panose="02040503050406030204" pitchFamily="18" charset="0"/>
              </a:endParaRPr>
            </a:p>
          </p:txBody>
        </p:sp>
        <p:sp>
          <p:nvSpPr>
            <p:cNvPr id="54" name="TextBox 53">
              <a:extLst>
                <a:ext uri="{FF2B5EF4-FFF2-40B4-BE49-F238E27FC236}">
                  <a16:creationId xmlns:a16="http://schemas.microsoft.com/office/drawing/2014/main" id="{58AC4D98-14D5-2157-F131-509A5130ED62}"/>
                </a:ext>
              </a:extLst>
            </p:cNvPr>
            <p:cNvSpPr txBox="1"/>
            <p:nvPr/>
          </p:nvSpPr>
          <p:spPr>
            <a:xfrm>
              <a:off x="2523487" y="442607"/>
              <a:ext cx="981359" cy="307777"/>
            </a:xfrm>
            <a:prstGeom prst="rect">
              <a:avLst/>
            </a:prstGeom>
            <a:solidFill>
              <a:schemeClr val="bg1"/>
            </a:solid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N = 8 disk</a:t>
              </a:r>
            </a:p>
          </p:txBody>
        </p:sp>
        <p:cxnSp>
          <p:nvCxnSpPr>
            <p:cNvPr id="57" name="Straight Arrow Connector 56">
              <a:extLst>
                <a:ext uri="{FF2B5EF4-FFF2-40B4-BE49-F238E27FC236}">
                  <a16:creationId xmlns:a16="http://schemas.microsoft.com/office/drawing/2014/main" id="{19F9E16F-94B2-6D97-E6F5-8E2AFE116E95}"/>
                </a:ext>
              </a:extLst>
            </p:cNvPr>
            <p:cNvCxnSpPr>
              <a:cxnSpLocks/>
            </p:cNvCxnSpPr>
            <p:nvPr/>
          </p:nvCxnSpPr>
          <p:spPr>
            <a:xfrm flipH="1">
              <a:off x="1087609" y="3220991"/>
              <a:ext cx="2820" cy="1265401"/>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6" name="TextBox 55">
              <a:extLst>
                <a:ext uri="{FF2B5EF4-FFF2-40B4-BE49-F238E27FC236}">
                  <a16:creationId xmlns:a16="http://schemas.microsoft.com/office/drawing/2014/main" id="{E7FA3B6D-774B-AE8F-EC7E-8B60D72B90D1}"/>
                </a:ext>
              </a:extLst>
            </p:cNvPr>
            <p:cNvSpPr txBox="1"/>
            <p:nvPr/>
          </p:nvSpPr>
          <p:spPr>
            <a:xfrm>
              <a:off x="742806" y="3692525"/>
              <a:ext cx="966192" cy="307777"/>
            </a:xfrm>
            <a:prstGeom prst="rect">
              <a:avLst/>
            </a:prstGeom>
            <a:solidFill>
              <a:schemeClr val="bg1"/>
            </a:solidFill>
            <a:ln>
              <a:solidFill>
                <a:schemeClr val="tx1"/>
              </a:solidFill>
            </a:ln>
          </p:spPr>
          <p:txBody>
            <a:bodyPr wrap="square">
              <a:spAutoFit/>
            </a:bodyPr>
            <a:lstStyle/>
            <a:p>
              <a:r>
                <a:rPr lang="en-US" sz="1400" dirty="0">
                  <a:latin typeface="Cambria Math" panose="02040503050406030204" pitchFamily="18" charset="0"/>
                  <a:ea typeface="Cambria Math" panose="02040503050406030204" pitchFamily="18" charset="0"/>
                </a:rPr>
                <a:t>(li = 5cm)</a:t>
              </a:r>
              <a:endParaRPr lang="en-IN" sz="1400" dirty="0">
                <a:latin typeface="Cambria Math" panose="02040503050406030204" pitchFamily="18" charset="0"/>
                <a:ea typeface="Cambria Math" panose="02040503050406030204" pitchFamily="18" charset="0"/>
              </a:endParaRPr>
            </a:p>
          </p:txBody>
        </p:sp>
        <p:cxnSp>
          <p:nvCxnSpPr>
            <p:cNvPr id="59" name="Straight Connector 58">
              <a:extLst>
                <a:ext uri="{FF2B5EF4-FFF2-40B4-BE49-F238E27FC236}">
                  <a16:creationId xmlns:a16="http://schemas.microsoft.com/office/drawing/2014/main" id="{F995EDEA-8337-0C15-8FF6-D3357B559FBD}"/>
                </a:ext>
              </a:extLst>
            </p:cNvPr>
            <p:cNvCxnSpPr>
              <a:cxnSpLocks/>
            </p:cNvCxnSpPr>
            <p:nvPr/>
          </p:nvCxnSpPr>
          <p:spPr>
            <a:xfrm>
              <a:off x="742806" y="3220991"/>
              <a:ext cx="1040563"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ED748045-CD42-680D-CF01-AC91F5D946BD}"/>
                </a:ext>
              </a:extLst>
            </p:cNvPr>
            <p:cNvCxnSpPr>
              <a:cxnSpLocks/>
            </p:cNvCxnSpPr>
            <p:nvPr/>
          </p:nvCxnSpPr>
          <p:spPr>
            <a:xfrm>
              <a:off x="742806" y="4486392"/>
              <a:ext cx="1040563"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Arrow Connector 61">
              <a:extLst>
                <a:ext uri="{FF2B5EF4-FFF2-40B4-BE49-F238E27FC236}">
                  <a16:creationId xmlns:a16="http://schemas.microsoft.com/office/drawing/2014/main" id="{832BBBBB-DBF3-FBC5-4680-B23FC6F89951}"/>
                </a:ext>
              </a:extLst>
            </p:cNvPr>
            <p:cNvCxnSpPr>
              <a:cxnSpLocks/>
            </p:cNvCxnSpPr>
            <p:nvPr/>
          </p:nvCxnSpPr>
          <p:spPr>
            <a:xfrm flipH="1" flipV="1">
              <a:off x="1883311" y="5217242"/>
              <a:ext cx="705653" cy="7952"/>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65" name="TextBox 64">
              <a:extLst>
                <a:ext uri="{FF2B5EF4-FFF2-40B4-BE49-F238E27FC236}">
                  <a16:creationId xmlns:a16="http://schemas.microsoft.com/office/drawing/2014/main" id="{0658454A-D7A1-7258-A6D1-6A5AF85523EA}"/>
                </a:ext>
              </a:extLst>
            </p:cNvPr>
            <p:cNvSpPr txBox="1"/>
            <p:nvPr/>
          </p:nvSpPr>
          <p:spPr>
            <a:xfrm>
              <a:off x="2684780" y="5063353"/>
              <a:ext cx="1098378" cy="307777"/>
            </a:xfrm>
            <a:prstGeom prst="rect">
              <a:avLst/>
            </a:prstGeom>
            <a:solidFill>
              <a:schemeClr val="bg1"/>
            </a:solidFill>
            <a:ln>
              <a:solidFill>
                <a:schemeClr val="tx1"/>
              </a:solidFill>
            </a:ln>
          </p:spPr>
          <p:txBody>
            <a:bodyPr wrap="none" rtlCol="0">
              <a:spAutoFit/>
            </a:bodyPr>
            <a:lstStyle/>
            <a:p>
              <a:r>
                <a:rPr lang="en-US" sz="1400" dirty="0" err="1">
                  <a:latin typeface="Cambria Math" panose="02040503050406030204" pitchFamily="18" charset="0"/>
                  <a:ea typeface="Cambria Math" panose="02040503050406030204" pitchFamily="18" charset="0"/>
                </a:rPr>
                <a:t>t_r</a:t>
              </a:r>
              <a:r>
                <a:rPr lang="en-US" sz="1400" dirty="0">
                  <a:latin typeface="Cambria Math" panose="02040503050406030204" pitchFamily="18" charset="0"/>
                  <a:ea typeface="Cambria Math" panose="02040503050406030204" pitchFamily="18" charset="0"/>
                </a:rPr>
                <a:t> = 12mm</a:t>
              </a:r>
            </a:p>
          </p:txBody>
        </p:sp>
        <p:cxnSp>
          <p:nvCxnSpPr>
            <p:cNvPr id="66" name="Straight Connector 65">
              <a:extLst>
                <a:ext uri="{FF2B5EF4-FFF2-40B4-BE49-F238E27FC236}">
                  <a16:creationId xmlns:a16="http://schemas.microsoft.com/office/drawing/2014/main" id="{F2CC5FD8-25AE-B570-9766-A4C6B64FDFE8}"/>
                </a:ext>
              </a:extLst>
            </p:cNvPr>
            <p:cNvCxnSpPr>
              <a:cxnSpLocks/>
              <a:endCxn id="24" idx="2"/>
            </p:cNvCxnSpPr>
            <p:nvPr/>
          </p:nvCxnSpPr>
          <p:spPr>
            <a:xfrm flipH="1">
              <a:off x="1851022" y="362711"/>
              <a:ext cx="19222" cy="423962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2" name="TextBox 71">
              <a:extLst>
                <a:ext uri="{FF2B5EF4-FFF2-40B4-BE49-F238E27FC236}">
                  <a16:creationId xmlns:a16="http://schemas.microsoft.com/office/drawing/2014/main" id="{7F48C98D-FBF2-B94B-E10C-23C7425DD92A}"/>
                </a:ext>
              </a:extLst>
            </p:cNvPr>
            <p:cNvSpPr txBox="1"/>
            <p:nvPr/>
          </p:nvSpPr>
          <p:spPr>
            <a:xfrm>
              <a:off x="627206" y="241686"/>
              <a:ext cx="1133324" cy="523220"/>
            </a:xfrm>
            <a:prstGeom prst="rect">
              <a:avLst/>
            </a:prstGeom>
            <a:solidFill>
              <a:schemeClr val="bg1"/>
            </a:solid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E = 175MPa</a:t>
              </a:r>
            </a:p>
            <a:p>
              <a:r>
                <a:rPr lang="en-US" sz="1400" dirty="0">
                  <a:latin typeface="Cambria Math" panose="02040503050406030204" pitchFamily="18" charset="0"/>
                  <a:ea typeface="Cambria Math" panose="02040503050406030204" pitchFamily="18" charset="0"/>
                </a:rPr>
                <a:t>mu = 0.45</a:t>
              </a:r>
            </a:p>
          </p:txBody>
        </p:sp>
        <p:sp>
          <p:nvSpPr>
            <p:cNvPr id="50" name="TextBox 49">
              <a:extLst>
                <a:ext uri="{FF2B5EF4-FFF2-40B4-BE49-F238E27FC236}">
                  <a16:creationId xmlns:a16="http://schemas.microsoft.com/office/drawing/2014/main" id="{55129C0F-DCAE-9537-1638-D28C9ED3F68E}"/>
                </a:ext>
              </a:extLst>
            </p:cNvPr>
            <p:cNvSpPr txBox="1"/>
            <p:nvPr/>
          </p:nvSpPr>
          <p:spPr>
            <a:xfrm>
              <a:off x="130345" y="2673718"/>
              <a:ext cx="1091966" cy="307777"/>
            </a:xfrm>
            <a:prstGeom prst="rect">
              <a:avLst/>
            </a:prstGeom>
            <a:solidFill>
              <a:schemeClr val="bg1"/>
            </a:solidFill>
            <a:ln>
              <a:solidFill>
                <a:schemeClr val="tx1"/>
              </a:solidFill>
            </a:ln>
          </p:spPr>
          <p:txBody>
            <a:bodyPr wrap="none" rtlCol="0">
              <a:spAutoFit/>
            </a:bodyPr>
            <a:lstStyle/>
            <a:p>
              <a:r>
                <a:rPr lang="en-US" sz="1400" dirty="0">
                  <a:latin typeface="Cambria Math" panose="02040503050406030204" pitchFamily="18" charset="0"/>
                  <a:ea typeface="Cambria Math" panose="02040503050406030204" pitchFamily="18" charset="0"/>
                </a:rPr>
                <a:t>L = 400mm</a:t>
              </a:r>
            </a:p>
          </p:txBody>
        </p:sp>
      </p:grpSp>
      <p:sp>
        <p:nvSpPr>
          <p:cNvPr id="104" name="TextBox 103">
            <a:extLst>
              <a:ext uri="{FF2B5EF4-FFF2-40B4-BE49-F238E27FC236}">
                <a16:creationId xmlns:a16="http://schemas.microsoft.com/office/drawing/2014/main" id="{95CD9479-43FE-AE60-9B7C-D0DA9F9DEC2A}"/>
              </a:ext>
            </a:extLst>
          </p:cNvPr>
          <p:cNvSpPr txBox="1"/>
          <p:nvPr/>
        </p:nvSpPr>
        <p:spPr>
          <a:xfrm>
            <a:off x="334452" y="370192"/>
            <a:ext cx="2875339" cy="400110"/>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Configuration of the </a:t>
            </a:r>
            <a:r>
              <a:rPr lang="en-US" sz="2000" dirty="0">
                <a:latin typeface="Cambria Math" panose="02040503050406030204" pitchFamily="18" charset="0"/>
                <a:ea typeface="Cambria Math" panose="02040503050406030204" pitchFamily="18" charset="0"/>
              </a:rPr>
              <a:t>setup:</a:t>
            </a:r>
            <a:endParaRPr lang="en-IN" dirty="0">
              <a:latin typeface="Cambria Math" panose="02040503050406030204" pitchFamily="18" charset="0"/>
              <a:ea typeface="Cambria Math" panose="02040503050406030204" pitchFamily="18" charset="0"/>
            </a:endParaRPr>
          </a:p>
        </p:txBody>
      </p:sp>
      <p:grpSp>
        <p:nvGrpSpPr>
          <p:cNvPr id="109" name="Group 108">
            <a:extLst>
              <a:ext uri="{FF2B5EF4-FFF2-40B4-BE49-F238E27FC236}">
                <a16:creationId xmlns:a16="http://schemas.microsoft.com/office/drawing/2014/main" id="{02E87A4B-0169-EDAF-6D21-732FC88F59BF}"/>
              </a:ext>
            </a:extLst>
          </p:cNvPr>
          <p:cNvGrpSpPr/>
          <p:nvPr/>
        </p:nvGrpSpPr>
        <p:grpSpPr>
          <a:xfrm>
            <a:off x="7190112" y="1770630"/>
            <a:ext cx="2272748" cy="3670964"/>
            <a:chOff x="7128546" y="408292"/>
            <a:chExt cx="2272748" cy="3670964"/>
          </a:xfrm>
        </p:grpSpPr>
        <p:sp>
          <p:nvSpPr>
            <p:cNvPr id="74" name="Cylinder 73">
              <a:extLst>
                <a:ext uri="{FF2B5EF4-FFF2-40B4-BE49-F238E27FC236}">
                  <a16:creationId xmlns:a16="http://schemas.microsoft.com/office/drawing/2014/main" id="{F3847C6E-1E70-A242-6FC9-1B920D376E02}"/>
                </a:ext>
              </a:extLst>
            </p:cNvPr>
            <p:cNvSpPr/>
            <p:nvPr/>
          </p:nvSpPr>
          <p:spPr>
            <a:xfrm>
              <a:off x="7128546" y="1480378"/>
              <a:ext cx="2001520" cy="1303299"/>
            </a:xfrm>
            <a:prstGeom prst="can">
              <a:avLst>
                <a:gd name="adj"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79" name="TextBox 78">
              <a:extLst>
                <a:ext uri="{FF2B5EF4-FFF2-40B4-BE49-F238E27FC236}">
                  <a16:creationId xmlns:a16="http://schemas.microsoft.com/office/drawing/2014/main" id="{F7F03C25-D5E8-4A5D-169E-9E70A67AF596}"/>
                </a:ext>
              </a:extLst>
            </p:cNvPr>
            <p:cNvSpPr txBox="1"/>
            <p:nvPr/>
          </p:nvSpPr>
          <p:spPr>
            <a:xfrm>
              <a:off x="9130066" y="1509442"/>
              <a:ext cx="271228"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x</a:t>
              </a:r>
              <a:endParaRPr lang="en-IN" sz="1400" dirty="0">
                <a:latin typeface="Cambria Math" panose="02040503050406030204" pitchFamily="18" charset="0"/>
                <a:ea typeface="Cambria Math" panose="02040503050406030204" pitchFamily="18" charset="0"/>
              </a:endParaRPr>
            </a:p>
          </p:txBody>
        </p:sp>
        <p:sp>
          <p:nvSpPr>
            <p:cNvPr id="83" name="TextBox 82">
              <a:extLst>
                <a:ext uri="{FF2B5EF4-FFF2-40B4-BE49-F238E27FC236}">
                  <a16:creationId xmlns:a16="http://schemas.microsoft.com/office/drawing/2014/main" id="{1E0D2C6F-79DE-F179-AD66-743722669850}"/>
                </a:ext>
              </a:extLst>
            </p:cNvPr>
            <p:cNvSpPr txBox="1"/>
            <p:nvPr/>
          </p:nvSpPr>
          <p:spPr>
            <a:xfrm>
              <a:off x="7406466" y="2072568"/>
              <a:ext cx="274434"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y</a:t>
              </a:r>
              <a:endParaRPr lang="en-IN" sz="1400" dirty="0">
                <a:latin typeface="Cambria Math" panose="02040503050406030204" pitchFamily="18" charset="0"/>
                <a:ea typeface="Cambria Math" panose="02040503050406030204" pitchFamily="18" charset="0"/>
              </a:endParaRPr>
            </a:p>
          </p:txBody>
        </p:sp>
        <p:sp>
          <p:nvSpPr>
            <p:cNvPr id="87" name="Oval 86">
              <a:extLst>
                <a:ext uri="{FF2B5EF4-FFF2-40B4-BE49-F238E27FC236}">
                  <a16:creationId xmlns:a16="http://schemas.microsoft.com/office/drawing/2014/main" id="{1047FA10-AD1F-0A02-8068-05789FD238D5}"/>
                </a:ext>
              </a:extLst>
            </p:cNvPr>
            <p:cNvSpPr/>
            <p:nvPr/>
          </p:nvSpPr>
          <p:spPr>
            <a:xfrm rot="21441531">
              <a:off x="8603620" y="1790671"/>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89" name="Oval 88">
              <a:extLst>
                <a:ext uri="{FF2B5EF4-FFF2-40B4-BE49-F238E27FC236}">
                  <a16:creationId xmlns:a16="http://schemas.microsoft.com/office/drawing/2014/main" id="{8E49F60B-1205-54A8-F4FD-208277C90653}"/>
                </a:ext>
              </a:extLst>
            </p:cNvPr>
            <p:cNvSpPr/>
            <p:nvPr/>
          </p:nvSpPr>
          <p:spPr>
            <a:xfrm rot="21441531">
              <a:off x="7836551" y="1601626"/>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sp>
          <p:nvSpPr>
            <p:cNvPr id="91" name="Oval 90">
              <a:extLst>
                <a:ext uri="{FF2B5EF4-FFF2-40B4-BE49-F238E27FC236}">
                  <a16:creationId xmlns:a16="http://schemas.microsoft.com/office/drawing/2014/main" id="{D4CEB10E-78FB-93CA-955E-007DB12321A0}"/>
                </a:ext>
              </a:extLst>
            </p:cNvPr>
            <p:cNvSpPr/>
            <p:nvPr/>
          </p:nvSpPr>
          <p:spPr>
            <a:xfrm rot="21441531">
              <a:off x="7613031" y="1894674"/>
              <a:ext cx="148630" cy="8472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cxnSp>
          <p:nvCxnSpPr>
            <p:cNvPr id="92" name="Straight Arrow Connector 91">
              <a:extLst>
                <a:ext uri="{FF2B5EF4-FFF2-40B4-BE49-F238E27FC236}">
                  <a16:creationId xmlns:a16="http://schemas.microsoft.com/office/drawing/2014/main" id="{45118DCD-BA64-7957-EDB1-4E2DF09A6B5A}"/>
                </a:ext>
              </a:extLst>
            </p:cNvPr>
            <p:cNvCxnSpPr>
              <a:cxnSpLocks/>
            </p:cNvCxnSpPr>
            <p:nvPr/>
          </p:nvCxnSpPr>
          <p:spPr>
            <a:xfrm flipH="1">
              <a:off x="8665597" y="1950414"/>
              <a:ext cx="12338" cy="1728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EBDC5195-F010-5948-3937-721091553AB3}"/>
                </a:ext>
              </a:extLst>
            </p:cNvPr>
            <p:cNvCxnSpPr>
              <a:cxnSpLocks/>
            </p:cNvCxnSpPr>
            <p:nvPr/>
          </p:nvCxnSpPr>
          <p:spPr>
            <a:xfrm flipH="1">
              <a:off x="7619242" y="2056715"/>
              <a:ext cx="12338" cy="1728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B847FE18-1F93-7455-A0FE-7B6A19F7FA62}"/>
                </a:ext>
              </a:extLst>
            </p:cNvPr>
            <p:cNvSpPr txBox="1"/>
            <p:nvPr/>
          </p:nvSpPr>
          <p:spPr>
            <a:xfrm>
              <a:off x="8538406" y="3691586"/>
              <a:ext cx="389850"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T1</a:t>
              </a:r>
              <a:endParaRPr lang="en-IN" sz="1400" dirty="0">
                <a:latin typeface="Cambria Math" panose="02040503050406030204" pitchFamily="18" charset="0"/>
                <a:ea typeface="Cambria Math" panose="02040503050406030204" pitchFamily="18" charset="0"/>
              </a:endParaRPr>
            </a:p>
          </p:txBody>
        </p:sp>
        <p:cxnSp>
          <p:nvCxnSpPr>
            <p:cNvPr id="95" name="Straight Arrow Connector 94">
              <a:extLst>
                <a:ext uri="{FF2B5EF4-FFF2-40B4-BE49-F238E27FC236}">
                  <a16:creationId xmlns:a16="http://schemas.microsoft.com/office/drawing/2014/main" id="{49C9470F-FFE0-CD0B-4BC2-CC9111D272A0}"/>
                </a:ext>
              </a:extLst>
            </p:cNvPr>
            <p:cNvCxnSpPr>
              <a:cxnSpLocks/>
            </p:cNvCxnSpPr>
            <p:nvPr/>
          </p:nvCxnSpPr>
          <p:spPr>
            <a:xfrm flipH="1">
              <a:off x="7932999" y="1709984"/>
              <a:ext cx="12338" cy="1728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629C52DE-D2E5-8B4B-D4A1-2296EAA55901}"/>
                </a:ext>
              </a:extLst>
            </p:cNvPr>
            <p:cNvSpPr txBox="1"/>
            <p:nvPr/>
          </p:nvSpPr>
          <p:spPr>
            <a:xfrm>
              <a:off x="7788426" y="3411664"/>
              <a:ext cx="389850"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T2</a:t>
              </a:r>
              <a:endParaRPr lang="en-IN" sz="1400" dirty="0">
                <a:latin typeface="Cambria Math" panose="02040503050406030204" pitchFamily="18" charset="0"/>
                <a:ea typeface="Cambria Math" panose="02040503050406030204" pitchFamily="18" charset="0"/>
              </a:endParaRPr>
            </a:p>
          </p:txBody>
        </p:sp>
        <p:sp>
          <p:nvSpPr>
            <p:cNvPr id="101" name="TextBox 100">
              <a:extLst>
                <a:ext uri="{FF2B5EF4-FFF2-40B4-BE49-F238E27FC236}">
                  <a16:creationId xmlns:a16="http://schemas.microsoft.com/office/drawing/2014/main" id="{5471E8DD-CB24-0DCA-55A1-BC2E23A07C61}"/>
                </a:ext>
              </a:extLst>
            </p:cNvPr>
            <p:cNvSpPr txBox="1"/>
            <p:nvPr/>
          </p:nvSpPr>
          <p:spPr>
            <a:xfrm>
              <a:off x="7436655" y="3771479"/>
              <a:ext cx="389850"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T3</a:t>
              </a:r>
              <a:endParaRPr lang="en-IN" sz="1400" dirty="0">
                <a:latin typeface="Cambria Math" panose="02040503050406030204" pitchFamily="18" charset="0"/>
                <a:ea typeface="Cambria Math" panose="02040503050406030204" pitchFamily="18" charset="0"/>
              </a:endParaRPr>
            </a:p>
          </p:txBody>
        </p:sp>
        <p:sp>
          <p:nvSpPr>
            <p:cNvPr id="108" name="Cylinder 107">
              <a:extLst>
                <a:ext uri="{FF2B5EF4-FFF2-40B4-BE49-F238E27FC236}">
                  <a16:creationId xmlns:a16="http://schemas.microsoft.com/office/drawing/2014/main" id="{6DD6CFD5-89DC-8456-44E9-9CCF7CD19A48}"/>
                </a:ext>
              </a:extLst>
            </p:cNvPr>
            <p:cNvSpPr/>
            <p:nvPr/>
          </p:nvSpPr>
          <p:spPr>
            <a:xfrm>
              <a:off x="7955859" y="408292"/>
              <a:ext cx="370627" cy="1447027"/>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1400">
                <a:latin typeface="Cambria Math" panose="02040503050406030204" pitchFamily="18" charset="0"/>
                <a:ea typeface="Cambria Math" panose="02040503050406030204" pitchFamily="18" charset="0"/>
              </a:endParaRPr>
            </a:p>
          </p:txBody>
        </p:sp>
        <p:cxnSp>
          <p:nvCxnSpPr>
            <p:cNvPr id="75" name="Straight Arrow Connector 74">
              <a:extLst>
                <a:ext uri="{FF2B5EF4-FFF2-40B4-BE49-F238E27FC236}">
                  <a16:creationId xmlns:a16="http://schemas.microsoft.com/office/drawing/2014/main" id="{4261861C-FBAD-67A6-B529-21D46B764FB4}"/>
                </a:ext>
              </a:extLst>
            </p:cNvPr>
            <p:cNvCxnSpPr>
              <a:cxnSpLocks/>
            </p:cNvCxnSpPr>
            <p:nvPr/>
          </p:nvCxnSpPr>
          <p:spPr>
            <a:xfrm>
              <a:off x="8144546" y="1817219"/>
              <a:ext cx="98552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33836B51-0BF7-77AE-2CE1-9E179CA3E710}"/>
                </a:ext>
              </a:extLst>
            </p:cNvPr>
            <p:cNvCxnSpPr>
              <a:cxnSpLocks/>
            </p:cNvCxnSpPr>
            <p:nvPr/>
          </p:nvCxnSpPr>
          <p:spPr>
            <a:xfrm flipH="1">
              <a:off x="7687346" y="1817219"/>
              <a:ext cx="457200" cy="43180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81" name="TextBox 80">
              <a:extLst>
                <a:ext uri="{FF2B5EF4-FFF2-40B4-BE49-F238E27FC236}">
                  <a16:creationId xmlns:a16="http://schemas.microsoft.com/office/drawing/2014/main" id="{947838CD-DADB-073B-8C8C-F44026512D94}"/>
                </a:ext>
              </a:extLst>
            </p:cNvPr>
            <p:cNvSpPr txBox="1"/>
            <p:nvPr/>
          </p:nvSpPr>
          <p:spPr>
            <a:xfrm>
              <a:off x="7995746" y="585636"/>
              <a:ext cx="266420"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z</a:t>
              </a:r>
              <a:endParaRPr lang="en-IN" sz="1400" dirty="0">
                <a:latin typeface="Cambria Math" panose="02040503050406030204" pitchFamily="18" charset="0"/>
                <a:ea typeface="Cambria Math" panose="02040503050406030204" pitchFamily="18" charset="0"/>
              </a:endParaRPr>
            </a:p>
          </p:txBody>
        </p:sp>
        <p:cxnSp>
          <p:nvCxnSpPr>
            <p:cNvPr id="76" name="Straight Arrow Connector 75">
              <a:extLst>
                <a:ext uri="{FF2B5EF4-FFF2-40B4-BE49-F238E27FC236}">
                  <a16:creationId xmlns:a16="http://schemas.microsoft.com/office/drawing/2014/main" id="{BF45D10E-0A18-AA9C-B78E-43268EE96CC9}"/>
                </a:ext>
              </a:extLst>
            </p:cNvPr>
            <p:cNvCxnSpPr>
              <a:cxnSpLocks/>
            </p:cNvCxnSpPr>
            <p:nvPr/>
          </p:nvCxnSpPr>
          <p:spPr>
            <a:xfrm flipV="1">
              <a:off x="8144546" y="979019"/>
              <a:ext cx="0" cy="838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157256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iagram displays three sets of coordinates (tip position, kinematic position, and z-axis position) plotted against time, showing the motion of an object over a period.&#10;&#10;AI-generated content may be incorrect.">
            <a:extLst>
              <a:ext uri="{FF2B5EF4-FFF2-40B4-BE49-F238E27FC236}">
                <a16:creationId xmlns:a16="http://schemas.microsoft.com/office/drawing/2014/main" id="{CC413CC0-CEFD-AD86-C0C5-D9CEC6DDA210}"/>
              </a:ext>
            </a:extLst>
          </p:cNvPr>
          <p:cNvPicPr>
            <a:picLocks noChangeAspect="1"/>
          </p:cNvPicPr>
          <p:nvPr/>
        </p:nvPicPr>
        <p:blipFill>
          <a:blip r:embed="rId2"/>
          <a:stretch>
            <a:fillRect/>
          </a:stretch>
        </p:blipFill>
        <p:spPr>
          <a:xfrm>
            <a:off x="4764087" y="980016"/>
            <a:ext cx="6988696" cy="5400000"/>
          </a:xfrm>
          <a:prstGeom prst="rect">
            <a:avLst/>
          </a:prstGeom>
        </p:spPr>
      </p:pic>
      <p:pic>
        <p:nvPicPr>
          <p:cNvPr id="5" name="Picture 4" descr="The graph depicts the tension in three different tendons over time, with tension values ranging from 0 to 2 newtons at intervals of 0.25 seconds.&#10;&#10;AI-generated content may be incorrect.">
            <a:extLst>
              <a:ext uri="{FF2B5EF4-FFF2-40B4-BE49-F238E27FC236}">
                <a16:creationId xmlns:a16="http://schemas.microsoft.com/office/drawing/2014/main" id="{FBD29E7A-40BA-CBEE-24B0-551C4F47B9A4}"/>
              </a:ext>
            </a:extLst>
          </p:cNvPr>
          <p:cNvPicPr>
            <a:picLocks noChangeAspect="1"/>
          </p:cNvPicPr>
          <p:nvPr/>
        </p:nvPicPr>
        <p:blipFill>
          <a:blip r:embed="rId3"/>
          <a:stretch>
            <a:fillRect/>
          </a:stretch>
        </p:blipFill>
        <p:spPr>
          <a:xfrm>
            <a:off x="64558" y="4336146"/>
            <a:ext cx="4580996" cy="2261504"/>
          </a:xfrm>
          <a:prstGeom prst="rect">
            <a:avLst/>
          </a:prstGeom>
          <a:ln>
            <a:solidFill>
              <a:schemeClr val="tx1"/>
            </a:solidFill>
          </a:ln>
        </p:spPr>
      </p:pic>
      <p:sp>
        <p:nvSpPr>
          <p:cNvPr id="7" name="TextBox 6">
            <a:extLst>
              <a:ext uri="{FF2B5EF4-FFF2-40B4-BE49-F238E27FC236}">
                <a16:creationId xmlns:a16="http://schemas.microsoft.com/office/drawing/2014/main" id="{8DBDFC2E-C857-E8A9-4959-AF5B71FF5A42}"/>
              </a:ext>
            </a:extLst>
          </p:cNvPr>
          <p:cNvSpPr txBox="1"/>
          <p:nvPr/>
        </p:nvSpPr>
        <p:spPr>
          <a:xfrm>
            <a:off x="334452" y="370192"/>
            <a:ext cx="2326278"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T1(t)= 10</a:t>
            </a:r>
            <a:endParaRPr lang="en-IN" dirty="0">
              <a:latin typeface="Cambria Math" panose="02040503050406030204" pitchFamily="18" charset="0"/>
              <a:ea typeface="Cambria Math" panose="02040503050406030204" pitchFamily="18" charset="0"/>
            </a:endParaRPr>
          </a:p>
        </p:txBody>
      </p:sp>
      <p:pic>
        <p:nvPicPr>
          <p:cNvPr id="9" name="Picture 8"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1D497AA4-0642-4585-9F1E-534504064D12}"/>
              </a:ext>
            </a:extLst>
          </p:cNvPr>
          <p:cNvPicPr>
            <a:picLocks noChangeAspect="1"/>
          </p:cNvPicPr>
          <p:nvPr/>
        </p:nvPicPr>
        <p:blipFill>
          <a:blip r:embed="rId4"/>
          <a:stretch>
            <a:fillRect/>
          </a:stretch>
        </p:blipFill>
        <p:spPr>
          <a:xfrm>
            <a:off x="934562" y="879055"/>
            <a:ext cx="3249977" cy="3219024"/>
          </a:xfrm>
          <a:prstGeom prst="rect">
            <a:avLst/>
          </a:prstGeom>
          <a:ln>
            <a:solidFill>
              <a:schemeClr val="tx1"/>
            </a:solidFill>
          </a:ln>
        </p:spPr>
      </p:pic>
    </p:spTree>
    <p:extLst>
      <p:ext uri="{BB962C8B-B14F-4D97-AF65-F5344CB8AC3E}">
        <p14:creationId xmlns:p14="http://schemas.microsoft.com/office/powerpoint/2010/main" val="2773143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3D trajectory plot, showing a dynamic cosserat tip movement, with coordinates plotted along the Z and Y axes, and additional parameters such as K_pm, K_dist, and Csrt_dist.&#10;&#10;AI-generated content may be incorrect.">
            <a:extLst>
              <a:ext uri="{FF2B5EF4-FFF2-40B4-BE49-F238E27FC236}">
                <a16:creationId xmlns:a16="http://schemas.microsoft.com/office/drawing/2014/main" id="{7F8FBAF8-1276-F131-CB18-52FED4FDFADA}"/>
              </a:ext>
            </a:extLst>
          </p:cNvPr>
          <p:cNvPicPr>
            <a:picLocks noChangeAspect="1"/>
          </p:cNvPicPr>
          <p:nvPr/>
        </p:nvPicPr>
        <p:blipFill>
          <a:blip r:embed="rId2"/>
          <a:stretch>
            <a:fillRect/>
          </a:stretch>
        </p:blipFill>
        <p:spPr>
          <a:xfrm>
            <a:off x="7210425" y="549000"/>
            <a:ext cx="3240000" cy="3357462"/>
          </a:xfrm>
          <a:prstGeom prst="rect">
            <a:avLst/>
          </a:prstGeom>
          <a:ln>
            <a:solidFill>
              <a:schemeClr val="tx1"/>
            </a:solidFill>
          </a:ln>
        </p:spPr>
      </p:pic>
      <p:pic>
        <p:nvPicPr>
          <p:cNvPr id="5" name="Picture 4" descr="The diagram illustrates a dynamic Cosserat tip trajectory in a 3D space, showing position (X and Z coordinates) and movement parameters (K_pm, K_dist, Csrt_pm, Csrt_dist) over time.&#10;&#10;AI-generated content may be incorrect.">
            <a:extLst>
              <a:ext uri="{FF2B5EF4-FFF2-40B4-BE49-F238E27FC236}">
                <a16:creationId xmlns:a16="http://schemas.microsoft.com/office/drawing/2014/main" id="{7E5495C2-45DA-D220-17FF-86A7F9E76DC6}"/>
              </a:ext>
            </a:extLst>
          </p:cNvPr>
          <p:cNvPicPr>
            <a:picLocks noChangeAspect="1"/>
          </p:cNvPicPr>
          <p:nvPr/>
        </p:nvPicPr>
        <p:blipFill>
          <a:blip r:embed="rId3"/>
          <a:stretch>
            <a:fillRect/>
          </a:stretch>
        </p:blipFill>
        <p:spPr>
          <a:xfrm>
            <a:off x="6798996" y="4012520"/>
            <a:ext cx="4062857" cy="2520000"/>
          </a:xfrm>
          <a:prstGeom prst="rect">
            <a:avLst/>
          </a:prstGeom>
          <a:ln>
            <a:solidFill>
              <a:schemeClr val="tx1"/>
            </a:solidFill>
          </a:ln>
        </p:spPr>
      </p:pic>
      <p:pic>
        <p:nvPicPr>
          <p:cNvPr id="7" name="Picture 6" descr="The image displays a Cosserat rod shape with specified parameters for position (Z and Y), dynamic properties (K_pm, K_dist, Csrt_pm, Csrt_dist), and a final state value.&#10;&#10;AI-generated content may be incorrect.">
            <a:extLst>
              <a:ext uri="{FF2B5EF4-FFF2-40B4-BE49-F238E27FC236}">
                <a16:creationId xmlns:a16="http://schemas.microsoft.com/office/drawing/2014/main" id="{0CB99983-C349-8F9B-73BA-7DBDA5A1B0A0}"/>
              </a:ext>
            </a:extLst>
          </p:cNvPr>
          <p:cNvPicPr>
            <a:picLocks noChangeAspect="1"/>
          </p:cNvPicPr>
          <p:nvPr/>
        </p:nvPicPr>
        <p:blipFill>
          <a:blip r:embed="rId4"/>
          <a:stretch>
            <a:fillRect/>
          </a:stretch>
        </p:blipFill>
        <p:spPr>
          <a:xfrm>
            <a:off x="1106805" y="821690"/>
            <a:ext cx="5289474" cy="5400000"/>
          </a:xfrm>
          <a:prstGeom prst="rect">
            <a:avLst/>
          </a:prstGeom>
          <a:ln>
            <a:solidFill>
              <a:schemeClr val="tx1"/>
            </a:solidFill>
          </a:ln>
        </p:spPr>
      </p:pic>
      <p:sp>
        <p:nvSpPr>
          <p:cNvPr id="9" name="TextBox 8">
            <a:extLst>
              <a:ext uri="{FF2B5EF4-FFF2-40B4-BE49-F238E27FC236}">
                <a16:creationId xmlns:a16="http://schemas.microsoft.com/office/drawing/2014/main" id="{FFAC98C3-7E0A-4873-19B6-D6D05D79725D}"/>
              </a:ext>
            </a:extLst>
          </p:cNvPr>
          <p:cNvSpPr txBox="1"/>
          <p:nvPr/>
        </p:nvSpPr>
        <p:spPr>
          <a:xfrm>
            <a:off x="334452" y="370192"/>
            <a:ext cx="2326278"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T1(t)= 10</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88312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5AB1D-4D70-01FB-56CB-0E81A9AD9219}"/>
            </a:ext>
          </a:extLst>
        </p:cNvPr>
        <p:cNvGrpSpPr/>
        <p:nvPr/>
      </p:nvGrpSpPr>
      <p:grpSpPr>
        <a:xfrm>
          <a:off x="0" y="0"/>
          <a:ext cx="0" cy="0"/>
          <a:chOff x="0" y="0"/>
          <a:chExt cx="0" cy="0"/>
        </a:xfrm>
      </p:grpSpPr>
      <p:sp>
        <p:nvSpPr>
          <p:cNvPr id="104" name="TextBox 103">
            <a:extLst>
              <a:ext uri="{FF2B5EF4-FFF2-40B4-BE49-F238E27FC236}">
                <a16:creationId xmlns:a16="http://schemas.microsoft.com/office/drawing/2014/main" id="{8BC8438F-6E01-D2C0-E4AD-49F2F70B9F04}"/>
              </a:ext>
            </a:extLst>
          </p:cNvPr>
          <p:cNvSpPr txBox="1"/>
          <p:nvPr/>
        </p:nvSpPr>
        <p:spPr>
          <a:xfrm>
            <a:off x="334452" y="370192"/>
            <a:ext cx="2606804"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1: T1(t) = 2*t </a:t>
            </a:r>
            <a:endParaRPr lang="en-IN" dirty="0">
              <a:latin typeface="Cambria Math" panose="02040503050406030204" pitchFamily="18" charset="0"/>
              <a:ea typeface="Cambria Math" panose="02040503050406030204" pitchFamily="18" charset="0"/>
            </a:endParaRPr>
          </a:p>
        </p:txBody>
      </p:sp>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5ACD3CCD-E1A9-86E6-B119-D187FE32A41E}"/>
              </a:ext>
            </a:extLst>
          </p:cNvPr>
          <p:cNvPicPr>
            <a:picLocks noChangeAspect="1"/>
          </p:cNvPicPr>
          <p:nvPr/>
        </p:nvPicPr>
        <p:blipFill>
          <a:blip r:embed="rId2"/>
          <a:stretch>
            <a:fillRect/>
          </a:stretch>
        </p:blipFill>
        <p:spPr>
          <a:xfrm>
            <a:off x="934562" y="879055"/>
            <a:ext cx="3249977" cy="3219024"/>
          </a:xfrm>
          <a:prstGeom prst="rect">
            <a:avLst/>
          </a:prstGeom>
          <a:ln>
            <a:solidFill>
              <a:schemeClr val="tx1"/>
            </a:solidFill>
          </a:ln>
        </p:spPr>
      </p:pic>
      <p:pic>
        <p:nvPicPr>
          <p:cNvPr id="158" name="Picture 157" descr="The diagram illustrates a graph showing the variation of tendon tension over time, with different tendons (1, 2, and 3) displaying different tension levels ranging from 0.00 N to 2.00 N.&#10;&#10;AI-generated content may be incorrect.">
            <a:extLst>
              <a:ext uri="{FF2B5EF4-FFF2-40B4-BE49-F238E27FC236}">
                <a16:creationId xmlns:a16="http://schemas.microsoft.com/office/drawing/2014/main" id="{BD01EE80-78F6-7217-70AA-B7CCCCBB21CA}"/>
              </a:ext>
            </a:extLst>
          </p:cNvPr>
          <p:cNvPicPr>
            <a:picLocks noChangeAspect="1"/>
          </p:cNvPicPr>
          <p:nvPr/>
        </p:nvPicPr>
        <p:blipFill>
          <a:blip r:embed="rId3"/>
          <a:stretch>
            <a:fillRect/>
          </a:stretch>
        </p:blipFill>
        <p:spPr>
          <a:xfrm>
            <a:off x="334452" y="4228727"/>
            <a:ext cx="4450199" cy="2196934"/>
          </a:xfrm>
          <a:prstGeom prst="rect">
            <a:avLst/>
          </a:prstGeom>
          <a:ln>
            <a:solidFill>
              <a:schemeClr val="tx1"/>
            </a:solidFill>
          </a:ln>
        </p:spPr>
      </p:pic>
      <p:pic>
        <p:nvPicPr>
          <p:cNvPr id="160" name="Picture 159" descr="The image displays a graph comparing the tip positions of a point load versus time, showing the movement of a tip under two different loading conditions: Kirchhoff (point load) and Cosserat (distributed load), with additional numerical data points for position and time.&#10;&#10;AI-generated content may be incorrect.">
            <a:extLst>
              <a:ext uri="{FF2B5EF4-FFF2-40B4-BE49-F238E27FC236}">
                <a16:creationId xmlns:a16="http://schemas.microsoft.com/office/drawing/2014/main" id="{0B46E3D0-DB5E-09DD-7F6A-A1C001BBF4F6}"/>
              </a:ext>
            </a:extLst>
          </p:cNvPr>
          <p:cNvPicPr>
            <a:picLocks noChangeAspect="1"/>
          </p:cNvPicPr>
          <p:nvPr/>
        </p:nvPicPr>
        <p:blipFill>
          <a:blip r:embed="rId4"/>
          <a:stretch>
            <a:fillRect/>
          </a:stretch>
        </p:blipFill>
        <p:spPr>
          <a:xfrm>
            <a:off x="4892331" y="879055"/>
            <a:ext cx="6965217" cy="5400000"/>
          </a:xfrm>
          <a:prstGeom prst="rect">
            <a:avLst/>
          </a:prstGeom>
        </p:spPr>
      </p:pic>
    </p:spTree>
    <p:extLst>
      <p:ext uri="{BB962C8B-B14F-4D97-AF65-F5344CB8AC3E}">
        <p14:creationId xmlns:p14="http://schemas.microsoft.com/office/powerpoint/2010/main" val="3044383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The diagram illustrates a 3D trajectory comparison between Cosserat and Kirchhoff load models in MuJoCo, showing their respective responses in terms of displacement (Z), load (X, Y), and load increment (le).&#10;&#10;AI-generated content may be incorrect.">
            <a:extLst>
              <a:ext uri="{FF2B5EF4-FFF2-40B4-BE49-F238E27FC236}">
                <a16:creationId xmlns:a16="http://schemas.microsoft.com/office/drawing/2014/main" id="{7C1BBB8E-2A70-6BAE-F89C-74EA38D4B6A4}"/>
              </a:ext>
            </a:extLst>
          </p:cNvPr>
          <p:cNvPicPr>
            <a:picLocks noChangeAspect="1"/>
          </p:cNvPicPr>
          <p:nvPr/>
        </p:nvPicPr>
        <p:blipFill>
          <a:blip r:embed="rId2"/>
          <a:stretch>
            <a:fillRect/>
          </a:stretch>
        </p:blipFill>
        <p:spPr>
          <a:xfrm>
            <a:off x="1211134" y="739524"/>
            <a:ext cx="5224499" cy="5400000"/>
          </a:xfrm>
          <a:prstGeom prst="rect">
            <a:avLst/>
          </a:prstGeom>
          <a:ln>
            <a:solidFill>
              <a:schemeClr val="tx1"/>
            </a:solidFill>
          </a:ln>
        </p:spPr>
      </p:pic>
      <p:pic>
        <p:nvPicPr>
          <p:cNvPr id="3" name="Picture 2" descr="The image is a graph displaying the final state of a dynamic Cosserat rod under various types of load, with values plotted for Z (depth in meters) and Y (height in meters).&#10;&#10;AI-generated content may be incorrect.">
            <a:extLst>
              <a:ext uri="{FF2B5EF4-FFF2-40B4-BE49-F238E27FC236}">
                <a16:creationId xmlns:a16="http://schemas.microsoft.com/office/drawing/2014/main" id="{5635E7DE-5969-1B0A-4838-A10547B2D819}"/>
              </a:ext>
            </a:extLst>
          </p:cNvPr>
          <p:cNvPicPr>
            <a:picLocks noChangeAspect="1"/>
          </p:cNvPicPr>
          <p:nvPr/>
        </p:nvPicPr>
        <p:blipFill>
          <a:blip r:embed="rId3"/>
          <a:stretch>
            <a:fillRect/>
          </a:stretch>
        </p:blipFill>
        <p:spPr>
          <a:xfrm>
            <a:off x="7362849" y="554858"/>
            <a:ext cx="3240000" cy="3314580"/>
          </a:xfrm>
          <a:prstGeom prst="rect">
            <a:avLst/>
          </a:prstGeom>
          <a:ln>
            <a:solidFill>
              <a:schemeClr val="tx1"/>
            </a:solidFill>
          </a:ln>
        </p:spPr>
      </p:pic>
      <p:pic>
        <p:nvPicPr>
          <p:cNvPr id="5" name="Picture 4" descr="The image depicts a graph comparing dynamic Cosserat tip trajectories for different load scenarios (point and distributed) in a MuJoCo simulation, showing values along the X and Z axes.&#10;&#10;AI-generated content may be incorrect.">
            <a:extLst>
              <a:ext uri="{FF2B5EF4-FFF2-40B4-BE49-F238E27FC236}">
                <a16:creationId xmlns:a16="http://schemas.microsoft.com/office/drawing/2014/main" id="{D57BCF90-573A-31F1-770B-8513766BBE81}"/>
              </a:ext>
            </a:extLst>
          </p:cNvPr>
          <p:cNvPicPr>
            <a:picLocks noChangeAspect="1"/>
          </p:cNvPicPr>
          <p:nvPr/>
        </p:nvPicPr>
        <p:blipFill>
          <a:blip r:embed="rId4"/>
          <a:stretch>
            <a:fillRect/>
          </a:stretch>
        </p:blipFill>
        <p:spPr>
          <a:xfrm>
            <a:off x="6995600" y="3902690"/>
            <a:ext cx="4064516" cy="2520000"/>
          </a:xfrm>
          <a:prstGeom prst="rect">
            <a:avLst/>
          </a:prstGeom>
          <a:ln>
            <a:solidFill>
              <a:schemeClr val="tx1"/>
            </a:solidFill>
          </a:ln>
        </p:spPr>
      </p:pic>
      <p:sp>
        <p:nvSpPr>
          <p:cNvPr id="17" name="TextBox 16">
            <a:extLst>
              <a:ext uri="{FF2B5EF4-FFF2-40B4-BE49-F238E27FC236}">
                <a16:creationId xmlns:a16="http://schemas.microsoft.com/office/drawing/2014/main" id="{B69D1857-EF85-8C88-0E30-A625020E7A4F}"/>
              </a:ext>
            </a:extLst>
          </p:cNvPr>
          <p:cNvSpPr txBox="1"/>
          <p:nvPr/>
        </p:nvSpPr>
        <p:spPr>
          <a:xfrm>
            <a:off x="334452" y="370192"/>
            <a:ext cx="2606804"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1: T1(t) = 2*t </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1240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8E001-FC3B-5554-3114-D7D3BA139999}"/>
            </a:ext>
          </a:extLst>
        </p:cNvPr>
        <p:cNvGrpSpPr/>
        <p:nvPr/>
      </p:nvGrpSpPr>
      <p:grpSpPr>
        <a:xfrm>
          <a:off x="0" y="0"/>
          <a:ext cx="0" cy="0"/>
          <a:chOff x="0" y="0"/>
          <a:chExt cx="0" cy="0"/>
        </a:xfrm>
      </p:grpSpPr>
      <p:pic>
        <p:nvPicPr>
          <p:cNvPr id="5" name="Picture 4" descr="The diagram illustrates a graph showing the variation in tendon tension over time, with tendons labeled 1 through 3 and tension values ranging from 0 to 2 N.&#10;&#10;AI-generated content may be incorrect.">
            <a:extLst>
              <a:ext uri="{FF2B5EF4-FFF2-40B4-BE49-F238E27FC236}">
                <a16:creationId xmlns:a16="http://schemas.microsoft.com/office/drawing/2014/main" id="{63F005EC-AB8C-4F97-5AAF-BBF1738EF2D5}"/>
              </a:ext>
            </a:extLst>
          </p:cNvPr>
          <p:cNvPicPr>
            <a:picLocks noChangeAspect="1"/>
          </p:cNvPicPr>
          <p:nvPr/>
        </p:nvPicPr>
        <p:blipFill>
          <a:blip r:embed="rId2"/>
          <a:stretch>
            <a:fillRect/>
          </a:stretch>
        </p:blipFill>
        <p:spPr>
          <a:xfrm>
            <a:off x="334452" y="4237610"/>
            <a:ext cx="4450199" cy="2196934"/>
          </a:xfrm>
          <a:prstGeom prst="rect">
            <a:avLst/>
          </a:prstGeom>
          <a:ln>
            <a:solidFill>
              <a:schemeClr val="tx1"/>
            </a:solidFill>
          </a:ln>
        </p:spPr>
      </p:pic>
      <p:sp>
        <p:nvSpPr>
          <p:cNvPr id="104" name="TextBox 103">
            <a:extLst>
              <a:ext uri="{FF2B5EF4-FFF2-40B4-BE49-F238E27FC236}">
                <a16:creationId xmlns:a16="http://schemas.microsoft.com/office/drawing/2014/main" id="{8085E5EF-ECBB-6698-E35C-9D64CC5E99B1}"/>
              </a:ext>
            </a:extLst>
          </p:cNvPr>
          <p:cNvSpPr txBox="1"/>
          <p:nvPr/>
        </p:nvSpPr>
        <p:spPr>
          <a:xfrm>
            <a:off x="334452" y="378659"/>
            <a:ext cx="2635658"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2: T1(t) = t^2 </a:t>
            </a:r>
            <a:endParaRPr lang="en-IN" dirty="0">
              <a:latin typeface="Cambria Math" panose="02040503050406030204" pitchFamily="18" charset="0"/>
              <a:ea typeface="Cambria Math" panose="02040503050406030204" pitchFamily="18" charset="0"/>
            </a:endParaRPr>
          </a:p>
        </p:txBody>
      </p:sp>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A1695BE7-0B41-A3CE-205D-778628BC8359}"/>
              </a:ext>
            </a:extLst>
          </p:cNvPr>
          <p:cNvPicPr>
            <a:picLocks noChangeAspect="1"/>
          </p:cNvPicPr>
          <p:nvPr/>
        </p:nvPicPr>
        <p:blipFill>
          <a:blip r:embed="rId3"/>
          <a:stretch>
            <a:fillRect/>
          </a:stretch>
        </p:blipFill>
        <p:spPr>
          <a:xfrm>
            <a:off x="934562" y="879055"/>
            <a:ext cx="3249977" cy="3219024"/>
          </a:xfrm>
          <a:prstGeom prst="rect">
            <a:avLst/>
          </a:prstGeom>
          <a:ln>
            <a:solidFill>
              <a:schemeClr val="tx1"/>
            </a:solidFill>
          </a:ln>
        </p:spPr>
      </p:pic>
      <p:pic>
        <p:nvPicPr>
          <p:cNvPr id="9" name="Picture 8" descr="The image displays a graph with two lines, one representing Kirchhoff's point load and the other Cosserat's distributed load, plotted against time and displacement, showing how these forces change over a series of time intervals.&#10;&#10;AI-generated content may be incorrect.">
            <a:extLst>
              <a:ext uri="{FF2B5EF4-FFF2-40B4-BE49-F238E27FC236}">
                <a16:creationId xmlns:a16="http://schemas.microsoft.com/office/drawing/2014/main" id="{C94B7250-41EE-CF02-8444-08BB82B444E3}"/>
              </a:ext>
            </a:extLst>
          </p:cNvPr>
          <p:cNvPicPr>
            <a:picLocks noChangeAspect="1"/>
          </p:cNvPicPr>
          <p:nvPr/>
        </p:nvPicPr>
        <p:blipFill>
          <a:blip r:embed="rId4"/>
          <a:stretch>
            <a:fillRect/>
          </a:stretch>
        </p:blipFill>
        <p:spPr>
          <a:xfrm>
            <a:off x="4964431" y="879055"/>
            <a:ext cx="6965217" cy="5400000"/>
          </a:xfrm>
          <a:prstGeom prst="rect">
            <a:avLst/>
          </a:prstGeom>
        </p:spPr>
      </p:pic>
    </p:spTree>
    <p:extLst>
      <p:ext uri="{BB962C8B-B14F-4D97-AF65-F5344CB8AC3E}">
        <p14:creationId xmlns:p14="http://schemas.microsoft.com/office/powerpoint/2010/main" val="1398540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graph displaying the final shape of a Dynamic Cosserat Rod under different load conditions, showing both point and distributed load effects on the rod's deformation over a spatial grid.&#10;&#10;AI-generated content may be incorrect.">
            <a:extLst>
              <a:ext uri="{FF2B5EF4-FFF2-40B4-BE49-F238E27FC236}">
                <a16:creationId xmlns:a16="http://schemas.microsoft.com/office/drawing/2014/main" id="{981BB66D-7B16-8858-0AD9-E56C2CFADC2F}"/>
              </a:ext>
            </a:extLst>
          </p:cNvPr>
          <p:cNvPicPr>
            <a:picLocks noChangeAspect="1"/>
          </p:cNvPicPr>
          <p:nvPr/>
        </p:nvPicPr>
        <p:blipFill>
          <a:blip r:embed="rId2"/>
          <a:stretch>
            <a:fillRect/>
          </a:stretch>
        </p:blipFill>
        <p:spPr>
          <a:xfrm>
            <a:off x="7367332" y="488725"/>
            <a:ext cx="3240000" cy="3312645"/>
          </a:xfrm>
          <a:prstGeom prst="rect">
            <a:avLst/>
          </a:prstGeom>
          <a:ln>
            <a:solidFill>
              <a:schemeClr val="tx1"/>
            </a:solidFill>
          </a:ln>
        </p:spPr>
      </p:pic>
      <p:pic>
        <p:nvPicPr>
          <p:cNvPr id="5" name="Picture 4" descr="The diagram illustrates the displacement in meters (Z) over time for two different load scenarios (Kirchhoff and Cosserat) on a MuJoCo simulation, showing the dynamic response of a Cosserat tip trajectory under a point load.&#10;&#10;AI-generated content may be incorrect.">
            <a:extLst>
              <a:ext uri="{FF2B5EF4-FFF2-40B4-BE49-F238E27FC236}">
                <a16:creationId xmlns:a16="http://schemas.microsoft.com/office/drawing/2014/main" id="{8A80ED22-5170-E466-D727-58AE6BD1700F}"/>
              </a:ext>
            </a:extLst>
          </p:cNvPr>
          <p:cNvPicPr>
            <a:picLocks noChangeAspect="1"/>
          </p:cNvPicPr>
          <p:nvPr/>
        </p:nvPicPr>
        <p:blipFill>
          <a:blip r:embed="rId3"/>
          <a:stretch>
            <a:fillRect/>
          </a:stretch>
        </p:blipFill>
        <p:spPr>
          <a:xfrm>
            <a:off x="6955904" y="4086341"/>
            <a:ext cx="4062857" cy="2520000"/>
          </a:xfrm>
          <a:prstGeom prst="rect">
            <a:avLst/>
          </a:prstGeom>
          <a:ln>
            <a:solidFill>
              <a:schemeClr val="tx1"/>
            </a:solidFill>
          </a:ln>
        </p:spPr>
      </p:pic>
      <p:sp>
        <p:nvSpPr>
          <p:cNvPr id="7" name="TextBox 6">
            <a:extLst>
              <a:ext uri="{FF2B5EF4-FFF2-40B4-BE49-F238E27FC236}">
                <a16:creationId xmlns:a16="http://schemas.microsoft.com/office/drawing/2014/main" id="{E57352A5-43C4-DA36-8B90-31851B301957}"/>
              </a:ext>
            </a:extLst>
          </p:cNvPr>
          <p:cNvSpPr txBox="1"/>
          <p:nvPr/>
        </p:nvSpPr>
        <p:spPr>
          <a:xfrm>
            <a:off x="334452" y="370192"/>
            <a:ext cx="2635658"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2: T1(t) = t^2 </a:t>
            </a:r>
            <a:endParaRPr lang="en-IN" dirty="0">
              <a:latin typeface="Cambria Math" panose="02040503050406030204" pitchFamily="18" charset="0"/>
              <a:ea typeface="Cambria Math" panose="02040503050406030204" pitchFamily="18" charset="0"/>
            </a:endParaRPr>
          </a:p>
        </p:txBody>
      </p:sp>
      <p:pic>
        <p:nvPicPr>
          <p:cNvPr id="9" name="Picture 8" descr="The image depicts a three-dimensional trajectory plot comparing dynamic cosserat tip and kirchhoff point load effects, showing values for mujo-co simulation parameters.&#10;&#10;AI-generated content may be incorrect.">
            <a:extLst>
              <a:ext uri="{FF2B5EF4-FFF2-40B4-BE49-F238E27FC236}">
                <a16:creationId xmlns:a16="http://schemas.microsoft.com/office/drawing/2014/main" id="{B9B13235-D4E5-09D4-995B-4DC146669CE7}"/>
              </a:ext>
            </a:extLst>
          </p:cNvPr>
          <p:cNvPicPr>
            <a:picLocks noChangeAspect="1"/>
          </p:cNvPicPr>
          <p:nvPr/>
        </p:nvPicPr>
        <p:blipFill>
          <a:blip r:embed="rId4"/>
          <a:stretch>
            <a:fillRect/>
          </a:stretch>
        </p:blipFill>
        <p:spPr>
          <a:xfrm>
            <a:off x="975287" y="1087808"/>
            <a:ext cx="5281579" cy="5400000"/>
          </a:xfrm>
          <a:prstGeom prst="rect">
            <a:avLst/>
          </a:prstGeom>
          <a:ln>
            <a:solidFill>
              <a:schemeClr val="tx1"/>
            </a:solidFill>
          </a:ln>
        </p:spPr>
      </p:pic>
    </p:spTree>
    <p:extLst>
      <p:ext uri="{BB962C8B-B14F-4D97-AF65-F5344CB8AC3E}">
        <p14:creationId xmlns:p14="http://schemas.microsoft.com/office/powerpoint/2010/main" val="930423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78FE4-2869-F0A3-70FF-B4879C8904A9}"/>
            </a:ext>
          </a:extLst>
        </p:cNvPr>
        <p:cNvGrpSpPr/>
        <p:nvPr/>
      </p:nvGrpSpPr>
      <p:grpSpPr>
        <a:xfrm>
          <a:off x="0" y="0"/>
          <a:ext cx="0" cy="0"/>
          <a:chOff x="0" y="0"/>
          <a:chExt cx="0" cy="0"/>
        </a:xfrm>
      </p:grpSpPr>
      <p:pic>
        <p:nvPicPr>
          <p:cNvPr id="5" name="Picture 4" descr="The diagram illustrates a graph showing the variation in tendon tension over time, with tendons labeled 1 through 3 and tension values ranging from 0 to 2 N.&#10;&#10;AI-generated content may be incorrect.">
            <a:extLst>
              <a:ext uri="{FF2B5EF4-FFF2-40B4-BE49-F238E27FC236}">
                <a16:creationId xmlns:a16="http://schemas.microsoft.com/office/drawing/2014/main" id="{E03E319B-AE3B-395E-0684-30B2F640AFE5}"/>
              </a:ext>
            </a:extLst>
          </p:cNvPr>
          <p:cNvPicPr>
            <a:picLocks noChangeAspect="1"/>
          </p:cNvPicPr>
          <p:nvPr/>
        </p:nvPicPr>
        <p:blipFill>
          <a:blip r:embed="rId2"/>
          <a:stretch>
            <a:fillRect/>
          </a:stretch>
        </p:blipFill>
        <p:spPr>
          <a:xfrm>
            <a:off x="334452" y="4237610"/>
            <a:ext cx="4450199" cy="2196934"/>
          </a:xfrm>
          <a:prstGeom prst="rect">
            <a:avLst/>
          </a:prstGeom>
          <a:ln>
            <a:solidFill>
              <a:schemeClr val="tx1"/>
            </a:solidFill>
          </a:ln>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71161F88-D542-1B53-1521-B255727161FB}"/>
                  </a:ext>
                </a:extLst>
              </p:cNvPr>
              <p:cNvSpPr txBox="1"/>
              <p:nvPr/>
            </p:nvSpPr>
            <p:spPr>
              <a:xfrm>
                <a:off x="334452" y="370192"/>
                <a:ext cx="3955763"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3: T1(t) = 10*abs(sin(</a:t>
                </a:r>
                <a14:m>
                  <m:oMath xmlns:m="http://schemas.openxmlformats.org/officeDocument/2006/math">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t>
                </a:r>
                <a:endParaRPr lang="en-IN" dirty="0">
                  <a:latin typeface="Cambria Math" panose="02040503050406030204" pitchFamily="18" charset="0"/>
                  <a:ea typeface="Cambria Math" panose="02040503050406030204" pitchFamily="18" charset="0"/>
                </a:endParaRPr>
              </a:p>
            </p:txBody>
          </p:sp>
        </mc:Choice>
        <mc:Fallback xmlns="">
          <p:sp>
            <p:nvSpPr>
              <p:cNvPr id="104" name="TextBox 103">
                <a:extLst>
                  <a:ext uri="{FF2B5EF4-FFF2-40B4-BE49-F238E27FC236}">
                    <a16:creationId xmlns:a16="http://schemas.microsoft.com/office/drawing/2014/main" id="{71161F88-D542-1B53-1521-B255727161FB}"/>
                  </a:ext>
                </a:extLst>
              </p:cNvPr>
              <p:cNvSpPr txBox="1">
                <a:spLocks noRot="1" noChangeAspect="1" noMove="1" noResize="1" noEditPoints="1" noAdjustHandles="1" noChangeArrowheads="1" noChangeShapeType="1" noTextEdit="1"/>
              </p:cNvSpPr>
              <p:nvPr/>
            </p:nvSpPr>
            <p:spPr>
              <a:xfrm>
                <a:off x="334452" y="370192"/>
                <a:ext cx="3955763" cy="369332"/>
              </a:xfrm>
              <a:prstGeom prst="rect">
                <a:avLst/>
              </a:prstGeom>
              <a:blipFill>
                <a:blip r:embed="rId3"/>
                <a:stretch>
                  <a:fillRect l="-1387" t="-11667" r="-154" b="-25000"/>
                </a:stretch>
              </a:blipFill>
            </p:spPr>
            <p:txBody>
              <a:bodyPr/>
              <a:lstStyle/>
              <a:p>
                <a:r>
                  <a:rPr lang="en-IN">
                    <a:noFill/>
                  </a:rPr>
                  <a:t> </a:t>
                </a:r>
              </a:p>
            </p:txBody>
          </p:sp>
        </mc:Fallback>
      </mc:AlternateContent>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EDBCEA5A-D327-510C-74E3-0CBB54F38EF8}"/>
              </a:ext>
            </a:extLst>
          </p:cNvPr>
          <p:cNvPicPr>
            <a:picLocks noChangeAspect="1"/>
          </p:cNvPicPr>
          <p:nvPr/>
        </p:nvPicPr>
        <p:blipFill>
          <a:blip r:embed="rId4"/>
          <a:stretch>
            <a:fillRect/>
          </a:stretch>
        </p:blipFill>
        <p:spPr>
          <a:xfrm>
            <a:off x="934562" y="879055"/>
            <a:ext cx="3249977" cy="3219024"/>
          </a:xfrm>
          <a:prstGeom prst="rect">
            <a:avLst/>
          </a:prstGeom>
          <a:ln>
            <a:solidFill>
              <a:schemeClr val="tx1"/>
            </a:solidFill>
          </a:ln>
        </p:spPr>
      </p:pic>
      <p:pic>
        <p:nvPicPr>
          <p:cNvPr id="6" name="Picture 5" descr="The diagram depicts the tension in three tendons over time, with tension values in Newtons increasing linearly from 0 to 2 Newtons across time intervals of 0.25 seconds.&#10;&#10;AI-generated content may be incorrect.">
            <a:extLst>
              <a:ext uri="{FF2B5EF4-FFF2-40B4-BE49-F238E27FC236}">
                <a16:creationId xmlns:a16="http://schemas.microsoft.com/office/drawing/2014/main" id="{D55DAD3F-F306-561F-A525-66BA853B1C6F}"/>
              </a:ext>
            </a:extLst>
          </p:cNvPr>
          <p:cNvPicPr>
            <a:picLocks noChangeAspect="1"/>
          </p:cNvPicPr>
          <p:nvPr/>
        </p:nvPicPr>
        <p:blipFill>
          <a:blip r:embed="rId5"/>
          <a:stretch>
            <a:fillRect/>
          </a:stretch>
        </p:blipFill>
        <p:spPr>
          <a:xfrm>
            <a:off x="334452" y="4237610"/>
            <a:ext cx="4450199" cy="2196934"/>
          </a:xfrm>
          <a:prstGeom prst="rect">
            <a:avLst/>
          </a:prstGeom>
          <a:ln>
            <a:solidFill>
              <a:schemeClr val="tx1"/>
            </a:solidFill>
          </a:ln>
        </p:spPr>
      </p:pic>
      <p:pic>
        <p:nvPicPr>
          <p:cNvPr id="10" name="Picture 9" descr="The diagram illustrates the tip position coordinates of a point load over time, comparing Kirchhoff and Cosserat methods for distributed loads, with additional data points for MuJoCo.&#10;&#10;AI-generated content may be incorrect.">
            <a:extLst>
              <a:ext uri="{FF2B5EF4-FFF2-40B4-BE49-F238E27FC236}">
                <a16:creationId xmlns:a16="http://schemas.microsoft.com/office/drawing/2014/main" id="{23615DC2-CBA4-CA5F-7CE1-4E9D5BEFEA5B}"/>
              </a:ext>
            </a:extLst>
          </p:cNvPr>
          <p:cNvPicPr>
            <a:picLocks noChangeAspect="1"/>
          </p:cNvPicPr>
          <p:nvPr/>
        </p:nvPicPr>
        <p:blipFill>
          <a:blip r:embed="rId6"/>
          <a:stretch>
            <a:fillRect/>
          </a:stretch>
        </p:blipFill>
        <p:spPr>
          <a:xfrm>
            <a:off x="4892331" y="879055"/>
            <a:ext cx="6965217" cy="5400000"/>
          </a:xfrm>
          <a:prstGeom prst="rect">
            <a:avLst/>
          </a:prstGeom>
        </p:spPr>
      </p:pic>
    </p:spTree>
    <p:extLst>
      <p:ext uri="{BB962C8B-B14F-4D97-AF65-F5344CB8AC3E}">
        <p14:creationId xmlns:p14="http://schemas.microsoft.com/office/powerpoint/2010/main" val="222520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iagram illustrates a Dynamic Cosserat Rod under various loading conditions, showing the deformation in terms of displacement (Z), length (X), and other factors over a series of increments.&#10;&#10;AI-generated content may be incorrect.">
            <a:extLst>
              <a:ext uri="{FF2B5EF4-FFF2-40B4-BE49-F238E27FC236}">
                <a16:creationId xmlns:a16="http://schemas.microsoft.com/office/drawing/2014/main" id="{A8CA951D-6563-AB1C-22AA-3328269A9543}"/>
              </a:ext>
            </a:extLst>
          </p:cNvPr>
          <p:cNvPicPr>
            <a:picLocks noChangeAspect="1"/>
          </p:cNvPicPr>
          <p:nvPr/>
        </p:nvPicPr>
        <p:blipFill>
          <a:blip r:embed="rId2"/>
          <a:stretch>
            <a:fillRect/>
          </a:stretch>
        </p:blipFill>
        <p:spPr>
          <a:xfrm>
            <a:off x="7202680" y="405999"/>
            <a:ext cx="3240000" cy="3327436"/>
          </a:xfrm>
          <a:prstGeom prst="rect">
            <a:avLst/>
          </a:prstGeom>
          <a:ln>
            <a:solidFill>
              <a:schemeClr val="tx1"/>
            </a:solidFill>
          </a:ln>
        </p:spPr>
      </p:pic>
      <p:pic>
        <p:nvPicPr>
          <p:cNvPr id="5" name="Picture 4" descr="The diagram illustrates a comparison of different methods (Kirchhoff, Cosserat, and MuJoCo) for calculating the dynamic response of a Cosserat tip under various load conditions, plotted against displacement in meters.&#10;&#10;AI-generated content may be incorrect.">
            <a:extLst>
              <a:ext uri="{FF2B5EF4-FFF2-40B4-BE49-F238E27FC236}">
                <a16:creationId xmlns:a16="http://schemas.microsoft.com/office/drawing/2014/main" id="{58A78860-6D2D-7510-85D8-2B2BC77EE146}"/>
              </a:ext>
            </a:extLst>
          </p:cNvPr>
          <p:cNvPicPr>
            <a:picLocks noChangeAspect="1"/>
          </p:cNvPicPr>
          <p:nvPr/>
        </p:nvPicPr>
        <p:blipFill>
          <a:blip r:embed="rId3"/>
          <a:stretch>
            <a:fillRect/>
          </a:stretch>
        </p:blipFill>
        <p:spPr>
          <a:xfrm>
            <a:off x="6999817" y="3966481"/>
            <a:ext cx="4052572" cy="2520000"/>
          </a:xfrm>
          <a:prstGeom prst="rect">
            <a:avLst/>
          </a:prstGeom>
          <a:ln>
            <a:solidFill>
              <a:schemeClr val="tx1"/>
            </a:solidFill>
          </a:ln>
        </p:spPr>
      </p:pic>
      <p:pic>
        <p:nvPicPr>
          <p:cNvPr id="7" name="Picture 6">
            <a:extLst>
              <a:ext uri="{FF2B5EF4-FFF2-40B4-BE49-F238E27FC236}">
                <a16:creationId xmlns:a16="http://schemas.microsoft.com/office/drawing/2014/main" id="{0D229D9D-1D43-1460-BE72-23C6B54A0192}"/>
              </a:ext>
            </a:extLst>
          </p:cNvPr>
          <p:cNvPicPr>
            <a:picLocks noChangeAspect="1"/>
          </p:cNvPicPr>
          <p:nvPr/>
        </p:nvPicPr>
        <p:blipFill>
          <a:blip r:embed="rId4"/>
          <a:stretch>
            <a:fillRect/>
          </a:stretch>
        </p:blipFill>
        <p:spPr>
          <a:xfrm>
            <a:off x="1342920" y="933179"/>
            <a:ext cx="5203207" cy="5400000"/>
          </a:xfrm>
          <a:prstGeom prst="rect">
            <a:avLst/>
          </a:prstGeom>
          <a:ln>
            <a:solidFill>
              <a:schemeClr val="tx1"/>
            </a:solid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8E092A-D6AC-7FB2-E13F-E8AF5BBA8529}"/>
                  </a:ext>
                </a:extLst>
              </p:cNvPr>
              <p:cNvSpPr txBox="1"/>
              <p:nvPr/>
            </p:nvSpPr>
            <p:spPr>
              <a:xfrm>
                <a:off x="334452" y="370192"/>
                <a:ext cx="3955763"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3: T1(t) = 10*abs(sin(</a:t>
                </a:r>
                <a14:m>
                  <m:oMath xmlns:m="http://schemas.openxmlformats.org/officeDocument/2006/math">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t>
                </a:r>
                <a:endParaRPr lang="en-IN"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DD8E092A-D6AC-7FB2-E13F-E8AF5BBA8529}"/>
                  </a:ext>
                </a:extLst>
              </p:cNvPr>
              <p:cNvSpPr txBox="1">
                <a:spLocks noRot="1" noChangeAspect="1" noMove="1" noResize="1" noEditPoints="1" noAdjustHandles="1" noChangeArrowheads="1" noChangeShapeType="1" noTextEdit="1"/>
              </p:cNvSpPr>
              <p:nvPr/>
            </p:nvSpPr>
            <p:spPr>
              <a:xfrm>
                <a:off x="334452" y="370192"/>
                <a:ext cx="3955763" cy="369332"/>
              </a:xfrm>
              <a:prstGeom prst="rect">
                <a:avLst/>
              </a:prstGeom>
              <a:blipFill>
                <a:blip r:embed="rId5"/>
                <a:stretch>
                  <a:fillRect l="-1387" t="-11667" r="-154" b="-25000"/>
                </a:stretch>
              </a:blipFill>
            </p:spPr>
            <p:txBody>
              <a:bodyPr/>
              <a:lstStyle/>
              <a:p>
                <a:r>
                  <a:rPr lang="en-IN">
                    <a:noFill/>
                  </a:rPr>
                  <a:t> </a:t>
                </a:r>
              </a:p>
            </p:txBody>
          </p:sp>
        </mc:Fallback>
      </mc:AlternateContent>
    </p:spTree>
    <p:extLst>
      <p:ext uri="{BB962C8B-B14F-4D97-AF65-F5344CB8AC3E}">
        <p14:creationId xmlns:p14="http://schemas.microsoft.com/office/powerpoint/2010/main" val="1754895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2D8A-69B9-2593-A927-7EE718CF2B3D}"/>
            </a:ext>
          </a:extLst>
        </p:cNvPr>
        <p:cNvGrpSpPr/>
        <p:nvPr/>
      </p:nvGrpSpPr>
      <p:grpSpPr>
        <a:xfrm>
          <a:off x="0" y="0"/>
          <a:ext cx="0" cy="0"/>
          <a:chOff x="0" y="0"/>
          <a:chExt cx="0" cy="0"/>
        </a:xfrm>
      </p:grpSpPr>
      <p:pic>
        <p:nvPicPr>
          <p:cNvPr id="5" name="Picture 4" descr="The diagram illustrates a graph showing the variation in tendon tension over time, with tendons labeled 1 through 3 and tension values ranging from 0 to 2 N.&#10;&#10;AI-generated content may be incorrect.">
            <a:extLst>
              <a:ext uri="{FF2B5EF4-FFF2-40B4-BE49-F238E27FC236}">
                <a16:creationId xmlns:a16="http://schemas.microsoft.com/office/drawing/2014/main" id="{12734819-8B90-2158-FA58-2BF393D054F1}"/>
              </a:ext>
            </a:extLst>
          </p:cNvPr>
          <p:cNvPicPr>
            <a:picLocks noChangeAspect="1"/>
          </p:cNvPicPr>
          <p:nvPr/>
        </p:nvPicPr>
        <p:blipFill>
          <a:blip r:embed="rId2"/>
          <a:stretch>
            <a:fillRect/>
          </a:stretch>
        </p:blipFill>
        <p:spPr>
          <a:xfrm>
            <a:off x="334452" y="4237610"/>
            <a:ext cx="4450199" cy="2196934"/>
          </a:xfrm>
          <a:prstGeom prst="rect">
            <a:avLst/>
          </a:prstGeom>
          <a:ln>
            <a:solidFill>
              <a:schemeClr val="tx1"/>
            </a:solidFill>
          </a:ln>
        </p:spPr>
      </p:pic>
      <p:sp>
        <p:nvSpPr>
          <p:cNvPr id="104" name="TextBox 103">
            <a:extLst>
              <a:ext uri="{FF2B5EF4-FFF2-40B4-BE49-F238E27FC236}">
                <a16:creationId xmlns:a16="http://schemas.microsoft.com/office/drawing/2014/main" id="{071F79C5-7220-3190-5B53-D5F2D2F3C2E5}"/>
              </a:ext>
            </a:extLst>
          </p:cNvPr>
          <p:cNvSpPr txBox="1"/>
          <p:nvPr/>
        </p:nvSpPr>
        <p:spPr>
          <a:xfrm>
            <a:off x="334452" y="370192"/>
            <a:ext cx="3366627"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4: T1(t)= T2(t)= 2*t  </a:t>
            </a:r>
            <a:endParaRPr lang="en-IN" dirty="0">
              <a:latin typeface="Cambria Math" panose="02040503050406030204" pitchFamily="18" charset="0"/>
              <a:ea typeface="Cambria Math" panose="02040503050406030204" pitchFamily="18" charset="0"/>
            </a:endParaRPr>
          </a:p>
        </p:txBody>
      </p:sp>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67EB24A9-AE64-8DA7-A2A9-97DA8D40E64C}"/>
              </a:ext>
            </a:extLst>
          </p:cNvPr>
          <p:cNvPicPr>
            <a:picLocks noChangeAspect="1"/>
          </p:cNvPicPr>
          <p:nvPr/>
        </p:nvPicPr>
        <p:blipFill>
          <a:blip r:embed="rId3"/>
          <a:stretch>
            <a:fillRect/>
          </a:stretch>
        </p:blipFill>
        <p:spPr>
          <a:xfrm>
            <a:off x="934562" y="879055"/>
            <a:ext cx="3249977" cy="3219024"/>
          </a:xfrm>
          <a:prstGeom prst="rect">
            <a:avLst/>
          </a:prstGeom>
          <a:ln>
            <a:solidFill>
              <a:schemeClr val="tx1"/>
            </a:solidFill>
          </a:ln>
        </p:spPr>
      </p:pic>
      <p:pic>
        <p:nvPicPr>
          <p:cNvPr id="3" name="Picture 2" descr="The diagram depicts a time-varying tension graph for three tendons, showing tension values in Newtons across different time intervals.&#10;&#10;AI-generated content may be incorrect.">
            <a:extLst>
              <a:ext uri="{FF2B5EF4-FFF2-40B4-BE49-F238E27FC236}">
                <a16:creationId xmlns:a16="http://schemas.microsoft.com/office/drawing/2014/main" id="{C6E0BD78-A9AE-EBFC-3DD0-D7E83D54B1D6}"/>
              </a:ext>
            </a:extLst>
          </p:cNvPr>
          <p:cNvPicPr>
            <a:picLocks noChangeAspect="1"/>
          </p:cNvPicPr>
          <p:nvPr/>
        </p:nvPicPr>
        <p:blipFill>
          <a:blip r:embed="rId4"/>
          <a:stretch>
            <a:fillRect/>
          </a:stretch>
        </p:blipFill>
        <p:spPr>
          <a:xfrm>
            <a:off x="334452" y="4237610"/>
            <a:ext cx="4450199" cy="2196934"/>
          </a:xfrm>
          <a:prstGeom prst="rect">
            <a:avLst/>
          </a:prstGeom>
        </p:spPr>
      </p:pic>
      <p:pic>
        <p:nvPicPr>
          <p:cNvPr id="7" name="Picture 6" descr="The diagram illustrates the tip position coordinates for various load scenarios (Kirchhoff, Cosserat, and MuJoCo) over time, showing changes in position on the X and Z axes.&#10;&#10;AI-generated content may be incorrect.">
            <a:extLst>
              <a:ext uri="{FF2B5EF4-FFF2-40B4-BE49-F238E27FC236}">
                <a16:creationId xmlns:a16="http://schemas.microsoft.com/office/drawing/2014/main" id="{482EFC84-61F6-EEFD-161E-C5B776562AA4}"/>
              </a:ext>
            </a:extLst>
          </p:cNvPr>
          <p:cNvPicPr>
            <a:picLocks noChangeAspect="1"/>
          </p:cNvPicPr>
          <p:nvPr/>
        </p:nvPicPr>
        <p:blipFill>
          <a:blip r:embed="rId5"/>
          <a:stretch>
            <a:fillRect/>
          </a:stretch>
        </p:blipFill>
        <p:spPr>
          <a:xfrm>
            <a:off x="4892330" y="879055"/>
            <a:ext cx="6965218" cy="5400000"/>
          </a:xfrm>
          <a:prstGeom prst="rect">
            <a:avLst/>
          </a:prstGeom>
        </p:spPr>
      </p:pic>
    </p:spTree>
    <p:extLst>
      <p:ext uri="{BB962C8B-B14F-4D97-AF65-F5344CB8AC3E}">
        <p14:creationId xmlns:p14="http://schemas.microsoft.com/office/powerpoint/2010/main" val="2031143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graph displaying the final state of a Cosserat rod under various types of load (Point Load and Distributed), with negative values indicating compression and the X and Y axes representing spatial dimensions.&#10;&#10;AI-generated content may be incorrect.">
            <a:extLst>
              <a:ext uri="{FF2B5EF4-FFF2-40B4-BE49-F238E27FC236}">
                <a16:creationId xmlns:a16="http://schemas.microsoft.com/office/drawing/2014/main" id="{2BFB0D53-EA43-BE7D-3630-67AF91A7FAAB}"/>
              </a:ext>
            </a:extLst>
          </p:cNvPr>
          <p:cNvPicPr>
            <a:picLocks noChangeAspect="1"/>
          </p:cNvPicPr>
          <p:nvPr/>
        </p:nvPicPr>
        <p:blipFill>
          <a:blip r:embed="rId2"/>
          <a:stretch>
            <a:fillRect/>
          </a:stretch>
        </p:blipFill>
        <p:spPr>
          <a:xfrm>
            <a:off x="6859694" y="3767331"/>
            <a:ext cx="2816842" cy="2880000"/>
          </a:xfrm>
          <a:prstGeom prst="rect">
            <a:avLst/>
          </a:prstGeom>
          <a:ln>
            <a:solidFill>
              <a:schemeClr val="tx1"/>
            </a:solidFill>
          </a:ln>
        </p:spPr>
      </p:pic>
      <p:pic>
        <p:nvPicPr>
          <p:cNvPr id="5" name="Picture 4" descr="The diagram illustrates a dynamic Cosserat tip trajectory for different load conditions, showing positions on an X-Y plane.&#10;&#10;AI-generated content may be incorrect.">
            <a:extLst>
              <a:ext uri="{FF2B5EF4-FFF2-40B4-BE49-F238E27FC236}">
                <a16:creationId xmlns:a16="http://schemas.microsoft.com/office/drawing/2014/main" id="{B63E9E50-1299-9BE5-7BBC-7801F9ED1C0C}"/>
              </a:ext>
            </a:extLst>
          </p:cNvPr>
          <p:cNvPicPr>
            <a:picLocks noChangeAspect="1"/>
          </p:cNvPicPr>
          <p:nvPr/>
        </p:nvPicPr>
        <p:blipFill>
          <a:blip r:embed="rId3"/>
          <a:stretch>
            <a:fillRect/>
          </a:stretch>
        </p:blipFill>
        <p:spPr>
          <a:xfrm>
            <a:off x="2109838" y="3767331"/>
            <a:ext cx="4649143" cy="2880000"/>
          </a:xfrm>
          <a:prstGeom prst="rect">
            <a:avLst/>
          </a:prstGeom>
          <a:ln>
            <a:solidFill>
              <a:schemeClr val="tx1"/>
            </a:solidFill>
          </a:ln>
        </p:spPr>
      </p:pic>
      <p:pic>
        <p:nvPicPr>
          <p:cNvPr id="7" name="Picture 6" descr="The diagram illustrates a dynamic Cosserat tip trajectory with load conditions plotted against distance, showing Kirchhoff (Point Load) and Cosserat (Point Load) distributions.&#10;&#10;AI-generated content may be incorrect.">
            <a:extLst>
              <a:ext uri="{FF2B5EF4-FFF2-40B4-BE49-F238E27FC236}">
                <a16:creationId xmlns:a16="http://schemas.microsoft.com/office/drawing/2014/main" id="{DAF090E7-E832-3FE0-B142-E69E1CD4052B}"/>
              </a:ext>
            </a:extLst>
          </p:cNvPr>
          <p:cNvPicPr>
            <a:picLocks noChangeAspect="1"/>
          </p:cNvPicPr>
          <p:nvPr/>
        </p:nvPicPr>
        <p:blipFill>
          <a:blip r:embed="rId4"/>
          <a:stretch>
            <a:fillRect/>
          </a:stretch>
        </p:blipFill>
        <p:spPr>
          <a:xfrm>
            <a:off x="2115717" y="832657"/>
            <a:ext cx="4643264" cy="2880000"/>
          </a:xfrm>
          <a:prstGeom prst="rect">
            <a:avLst/>
          </a:prstGeom>
          <a:ln>
            <a:solidFill>
              <a:schemeClr val="tx1"/>
            </a:solidFill>
          </a:ln>
        </p:spPr>
      </p:pic>
      <p:sp>
        <p:nvSpPr>
          <p:cNvPr id="9" name="TextBox 8">
            <a:extLst>
              <a:ext uri="{FF2B5EF4-FFF2-40B4-BE49-F238E27FC236}">
                <a16:creationId xmlns:a16="http://schemas.microsoft.com/office/drawing/2014/main" id="{AD56A2CD-E26A-37F8-18CC-69EBB801B0F7}"/>
              </a:ext>
            </a:extLst>
          </p:cNvPr>
          <p:cNvSpPr txBox="1"/>
          <p:nvPr/>
        </p:nvSpPr>
        <p:spPr>
          <a:xfrm>
            <a:off x="334452" y="370192"/>
            <a:ext cx="3366627"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4: T1(t)= T2(t)= 2*t  </a:t>
            </a:r>
            <a:endParaRPr lang="en-IN" dirty="0">
              <a:latin typeface="Cambria Math" panose="02040503050406030204" pitchFamily="18" charset="0"/>
              <a:ea typeface="Cambria Math" panose="02040503050406030204" pitchFamily="18" charset="0"/>
            </a:endParaRPr>
          </a:p>
        </p:txBody>
      </p:sp>
      <p:pic>
        <p:nvPicPr>
          <p:cNvPr id="11" name="Picture 10" descr="The diagram illustrates the dynamic movement of a Cosserat tip under various loading conditions, depicting its trajectory over time and space.&#10;&#10;AI-generated content may be incorrect.">
            <a:extLst>
              <a:ext uri="{FF2B5EF4-FFF2-40B4-BE49-F238E27FC236}">
                <a16:creationId xmlns:a16="http://schemas.microsoft.com/office/drawing/2014/main" id="{1DA018DE-7B28-2879-F75B-51E3C166CD49}"/>
              </a:ext>
            </a:extLst>
          </p:cNvPr>
          <p:cNvPicPr>
            <a:picLocks noChangeAspect="1"/>
          </p:cNvPicPr>
          <p:nvPr/>
        </p:nvPicPr>
        <p:blipFill>
          <a:blip r:embed="rId5"/>
          <a:stretch>
            <a:fillRect/>
          </a:stretch>
        </p:blipFill>
        <p:spPr>
          <a:xfrm>
            <a:off x="6859694" y="832657"/>
            <a:ext cx="2816842" cy="2880000"/>
          </a:xfrm>
          <a:prstGeom prst="rect">
            <a:avLst/>
          </a:prstGeom>
          <a:ln>
            <a:solidFill>
              <a:schemeClr val="tx1"/>
            </a:solidFill>
          </a:ln>
        </p:spPr>
      </p:pic>
    </p:spTree>
    <p:extLst>
      <p:ext uri="{BB962C8B-B14F-4D97-AF65-F5344CB8AC3E}">
        <p14:creationId xmlns:p14="http://schemas.microsoft.com/office/powerpoint/2010/main" val="4191864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35CB0-0A9D-EA4E-4337-60EE13404C64}"/>
            </a:ext>
          </a:extLst>
        </p:cNvPr>
        <p:cNvGrpSpPr/>
        <p:nvPr/>
      </p:nvGrpSpPr>
      <p:grpSpPr>
        <a:xfrm>
          <a:off x="0" y="0"/>
          <a:ext cx="0" cy="0"/>
          <a:chOff x="0" y="0"/>
          <a:chExt cx="0" cy="0"/>
        </a:xfrm>
      </p:grpSpPr>
      <p:pic>
        <p:nvPicPr>
          <p:cNvPr id="5" name="Picture 4" descr="The diagram illustrates a graph showing the variation in tendon tension over time, with tendons labeled 1 through 3 and tension values ranging from 0 to 2 N.&#10;&#10;AI-generated content may be incorrect.">
            <a:extLst>
              <a:ext uri="{FF2B5EF4-FFF2-40B4-BE49-F238E27FC236}">
                <a16:creationId xmlns:a16="http://schemas.microsoft.com/office/drawing/2014/main" id="{D77132D0-120D-A161-68F1-19A06C4944B2}"/>
              </a:ext>
            </a:extLst>
          </p:cNvPr>
          <p:cNvPicPr>
            <a:picLocks noChangeAspect="1"/>
          </p:cNvPicPr>
          <p:nvPr/>
        </p:nvPicPr>
        <p:blipFill>
          <a:blip r:embed="rId2"/>
          <a:stretch>
            <a:fillRect/>
          </a:stretch>
        </p:blipFill>
        <p:spPr>
          <a:xfrm>
            <a:off x="334452" y="4237610"/>
            <a:ext cx="4450199" cy="2196934"/>
          </a:xfrm>
          <a:prstGeom prst="rect">
            <a:avLst/>
          </a:prstGeom>
          <a:ln>
            <a:solidFill>
              <a:schemeClr val="tx1"/>
            </a:solidFill>
          </a:ln>
        </p:spPr>
      </p:pic>
      <p:sp>
        <p:nvSpPr>
          <p:cNvPr id="104" name="TextBox 103">
            <a:extLst>
              <a:ext uri="{FF2B5EF4-FFF2-40B4-BE49-F238E27FC236}">
                <a16:creationId xmlns:a16="http://schemas.microsoft.com/office/drawing/2014/main" id="{F994438B-1503-E140-4C64-BB8209FCFA78}"/>
              </a:ext>
            </a:extLst>
          </p:cNvPr>
          <p:cNvSpPr txBox="1"/>
          <p:nvPr/>
        </p:nvSpPr>
        <p:spPr>
          <a:xfrm>
            <a:off x="334452" y="370192"/>
            <a:ext cx="3395481"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5: T1(t)= T2(t)= t^2  </a:t>
            </a:r>
            <a:endParaRPr lang="en-IN" dirty="0">
              <a:latin typeface="Cambria Math" panose="02040503050406030204" pitchFamily="18" charset="0"/>
              <a:ea typeface="Cambria Math" panose="02040503050406030204" pitchFamily="18" charset="0"/>
            </a:endParaRPr>
          </a:p>
        </p:txBody>
      </p:sp>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16B9BFA1-AC0E-DF84-FAEA-3BDEC827CF21}"/>
              </a:ext>
            </a:extLst>
          </p:cNvPr>
          <p:cNvPicPr>
            <a:picLocks noChangeAspect="1"/>
          </p:cNvPicPr>
          <p:nvPr/>
        </p:nvPicPr>
        <p:blipFill>
          <a:blip r:embed="rId3"/>
          <a:stretch>
            <a:fillRect/>
          </a:stretch>
        </p:blipFill>
        <p:spPr>
          <a:xfrm>
            <a:off x="934562" y="879055"/>
            <a:ext cx="3249977" cy="3219024"/>
          </a:xfrm>
          <a:prstGeom prst="rect">
            <a:avLst/>
          </a:prstGeom>
          <a:ln>
            <a:solidFill>
              <a:schemeClr val="tx1"/>
            </a:solidFill>
          </a:ln>
        </p:spPr>
      </p:pic>
      <p:pic>
        <p:nvPicPr>
          <p:cNvPr id="4" name="Picture 3" descr="The image is a graph showing the tension in three different tendons over time, with tension values increasing from 0.0 N to 2.0 N as time progresses from 0 to 2.0 seconds.&#10;&#10;AI-generated content may be incorrect.">
            <a:extLst>
              <a:ext uri="{FF2B5EF4-FFF2-40B4-BE49-F238E27FC236}">
                <a16:creationId xmlns:a16="http://schemas.microsoft.com/office/drawing/2014/main" id="{6A802218-C250-AB02-8D98-3B4AF56F2D01}"/>
              </a:ext>
            </a:extLst>
          </p:cNvPr>
          <p:cNvPicPr>
            <a:picLocks noChangeAspect="1"/>
          </p:cNvPicPr>
          <p:nvPr/>
        </p:nvPicPr>
        <p:blipFill>
          <a:blip r:embed="rId4"/>
          <a:stretch>
            <a:fillRect/>
          </a:stretch>
        </p:blipFill>
        <p:spPr>
          <a:xfrm>
            <a:off x="334452" y="4237610"/>
            <a:ext cx="4450200" cy="2196934"/>
          </a:xfrm>
          <a:prstGeom prst="rect">
            <a:avLst/>
          </a:prstGeom>
        </p:spPr>
      </p:pic>
      <p:pic>
        <p:nvPicPr>
          <p:cNvPr id="8" name="Picture 7" descr="The diagram illustrates the tip position coordinates of various methods (Kirchhoff, Cosserat, MuJoCo) over time, showing the movement of an object.&#10;&#10;AI-generated content may be incorrect.">
            <a:extLst>
              <a:ext uri="{FF2B5EF4-FFF2-40B4-BE49-F238E27FC236}">
                <a16:creationId xmlns:a16="http://schemas.microsoft.com/office/drawing/2014/main" id="{AA170919-149E-5E0C-D72A-EF966D275EC1}"/>
              </a:ext>
            </a:extLst>
          </p:cNvPr>
          <p:cNvPicPr>
            <a:picLocks noChangeAspect="1"/>
          </p:cNvPicPr>
          <p:nvPr/>
        </p:nvPicPr>
        <p:blipFill>
          <a:blip r:embed="rId5"/>
          <a:stretch>
            <a:fillRect/>
          </a:stretch>
        </p:blipFill>
        <p:spPr>
          <a:xfrm>
            <a:off x="4982540" y="879055"/>
            <a:ext cx="6965217" cy="5400000"/>
          </a:xfrm>
          <a:prstGeom prst="rect">
            <a:avLst/>
          </a:prstGeom>
        </p:spPr>
      </p:pic>
    </p:spTree>
    <p:extLst>
      <p:ext uri="{BB962C8B-B14F-4D97-AF65-F5344CB8AC3E}">
        <p14:creationId xmlns:p14="http://schemas.microsoft.com/office/powerpoint/2010/main" val="755989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graph displaying the final shape of a Cosserat rod under different loading conditions, with values plotted against position along the rod's length.&#10;&#10;AI-generated content may be incorrect.">
            <a:extLst>
              <a:ext uri="{FF2B5EF4-FFF2-40B4-BE49-F238E27FC236}">
                <a16:creationId xmlns:a16="http://schemas.microsoft.com/office/drawing/2014/main" id="{75C37258-B828-0BFA-6FA9-1CFB793D4423}"/>
              </a:ext>
            </a:extLst>
          </p:cNvPr>
          <p:cNvPicPr>
            <a:picLocks noChangeAspect="1"/>
          </p:cNvPicPr>
          <p:nvPr/>
        </p:nvPicPr>
        <p:blipFill>
          <a:blip r:embed="rId2"/>
          <a:stretch>
            <a:fillRect/>
          </a:stretch>
        </p:blipFill>
        <p:spPr>
          <a:xfrm>
            <a:off x="7029026" y="3821219"/>
            <a:ext cx="2816842" cy="2880000"/>
          </a:xfrm>
          <a:prstGeom prst="rect">
            <a:avLst/>
          </a:prstGeom>
          <a:ln>
            <a:solidFill>
              <a:schemeClr val="tx1"/>
            </a:solidFill>
          </a:ln>
        </p:spPr>
      </p:pic>
      <p:pic>
        <p:nvPicPr>
          <p:cNvPr id="5" name="Picture 4" descr="The diagram illustrates a comparison of different methods (Kirchhoff, Cosserat, and MuJoCo) for calculating dynamic tip trajectories, with values plotted against a displacement (Y) axis in meters.&#10;&#10;AI-generated content may be incorrect.">
            <a:extLst>
              <a:ext uri="{FF2B5EF4-FFF2-40B4-BE49-F238E27FC236}">
                <a16:creationId xmlns:a16="http://schemas.microsoft.com/office/drawing/2014/main" id="{B5B20C45-C374-263D-4A3A-A1F2FEE07BC5}"/>
              </a:ext>
            </a:extLst>
          </p:cNvPr>
          <p:cNvPicPr>
            <a:picLocks noChangeAspect="1"/>
          </p:cNvPicPr>
          <p:nvPr/>
        </p:nvPicPr>
        <p:blipFill>
          <a:blip r:embed="rId3"/>
          <a:stretch>
            <a:fillRect/>
          </a:stretch>
        </p:blipFill>
        <p:spPr>
          <a:xfrm>
            <a:off x="2278275" y="3821219"/>
            <a:ext cx="4649143" cy="2880000"/>
          </a:xfrm>
          <a:prstGeom prst="rect">
            <a:avLst/>
          </a:prstGeom>
          <a:ln>
            <a:solidFill>
              <a:schemeClr val="tx1"/>
            </a:solidFill>
          </a:ln>
        </p:spPr>
      </p:pic>
      <p:pic>
        <p:nvPicPr>
          <p:cNvPr id="7" name="Picture 6" descr="The diagram illustrates a comparison of displacement (in meters) for different loading scenarios: a point load, a distributed Kirchhoff load, and a distributed Cosserat load, all under dynamic conditions.&#10;&#10;AI-generated content may be incorrect.">
            <a:extLst>
              <a:ext uri="{FF2B5EF4-FFF2-40B4-BE49-F238E27FC236}">
                <a16:creationId xmlns:a16="http://schemas.microsoft.com/office/drawing/2014/main" id="{BAF7E9D7-2E9F-22CD-1F0D-8261AC6BBCF5}"/>
              </a:ext>
            </a:extLst>
          </p:cNvPr>
          <p:cNvPicPr>
            <a:picLocks noChangeAspect="1"/>
          </p:cNvPicPr>
          <p:nvPr/>
        </p:nvPicPr>
        <p:blipFill>
          <a:blip r:embed="rId4"/>
          <a:stretch>
            <a:fillRect/>
          </a:stretch>
        </p:blipFill>
        <p:spPr>
          <a:xfrm>
            <a:off x="2278275" y="853801"/>
            <a:ext cx="4643265" cy="2880000"/>
          </a:xfrm>
          <a:prstGeom prst="rect">
            <a:avLst/>
          </a:prstGeom>
          <a:ln>
            <a:solidFill>
              <a:schemeClr val="tx1"/>
            </a:solidFill>
          </a:ln>
        </p:spPr>
      </p:pic>
      <p:pic>
        <p:nvPicPr>
          <p:cNvPr id="9" name="Picture 8" descr="The diagram illustrates the dynamic trajectory of a Cosserat tip under point and distributed load conditions, with a focus on the deformation parameters (Z, X, Y) across various positions.&#10;&#10;AI-generated content may be incorrect.">
            <a:extLst>
              <a:ext uri="{FF2B5EF4-FFF2-40B4-BE49-F238E27FC236}">
                <a16:creationId xmlns:a16="http://schemas.microsoft.com/office/drawing/2014/main" id="{3097CCE8-6B65-36F6-6E4E-4695FC68C8C9}"/>
              </a:ext>
            </a:extLst>
          </p:cNvPr>
          <p:cNvPicPr>
            <a:picLocks noChangeAspect="1"/>
          </p:cNvPicPr>
          <p:nvPr/>
        </p:nvPicPr>
        <p:blipFill>
          <a:blip r:embed="rId5"/>
          <a:stretch>
            <a:fillRect/>
          </a:stretch>
        </p:blipFill>
        <p:spPr>
          <a:xfrm>
            <a:off x="7029026" y="853801"/>
            <a:ext cx="2816842" cy="2880000"/>
          </a:xfrm>
          <a:prstGeom prst="rect">
            <a:avLst/>
          </a:prstGeom>
          <a:ln>
            <a:solidFill>
              <a:schemeClr val="tx1"/>
            </a:solidFill>
          </a:ln>
        </p:spPr>
      </p:pic>
      <p:sp>
        <p:nvSpPr>
          <p:cNvPr id="11" name="TextBox 10">
            <a:extLst>
              <a:ext uri="{FF2B5EF4-FFF2-40B4-BE49-F238E27FC236}">
                <a16:creationId xmlns:a16="http://schemas.microsoft.com/office/drawing/2014/main" id="{3F57EF37-C401-C0E1-C252-2173CB45AB47}"/>
              </a:ext>
            </a:extLst>
          </p:cNvPr>
          <p:cNvSpPr txBox="1"/>
          <p:nvPr/>
        </p:nvSpPr>
        <p:spPr>
          <a:xfrm>
            <a:off x="334452" y="370192"/>
            <a:ext cx="3395481"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5: T1(t)= T2(t)= t^2  </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7369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0DA9-CCD1-4A5D-65A2-C75EF8198FCC}"/>
            </a:ext>
          </a:extLst>
        </p:cNvPr>
        <p:cNvGrpSpPr/>
        <p:nvPr/>
      </p:nvGrpSpPr>
      <p:grpSpPr>
        <a:xfrm>
          <a:off x="0" y="0"/>
          <a:ext cx="0" cy="0"/>
          <a:chOff x="0" y="0"/>
          <a:chExt cx="0" cy="0"/>
        </a:xfrm>
      </p:grpSpPr>
      <p:pic>
        <p:nvPicPr>
          <p:cNvPr id="5" name="Picture 4" descr="The diagram illustrates a graph showing the variation in tendon tension over time, with tendons labeled 1 through 3 and tension values ranging from 0 to 2 N.&#10;&#10;AI-generated content may be incorrect.">
            <a:extLst>
              <a:ext uri="{FF2B5EF4-FFF2-40B4-BE49-F238E27FC236}">
                <a16:creationId xmlns:a16="http://schemas.microsoft.com/office/drawing/2014/main" id="{3868D969-E480-271B-362B-82E309BBE665}"/>
              </a:ext>
            </a:extLst>
          </p:cNvPr>
          <p:cNvPicPr>
            <a:picLocks noChangeAspect="1"/>
          </p:cNvPicPr>
          <p:nvPr/>
        </p:nvPicPr>
        <p:blipFill>
          <a:blip r:embed="rId2"/>
          <a:stretch>
            <a:fillRect/>
          </a:stretch>
        </p:blipFill>
        <p:spPr>
          <a:xfrm>
            <a:off x="334452" y="4237610"/>
            <a:ext cx="4450199" cy="2196934"/>
          </a:xfrm>
          <a:prstGeom prst="rect">
            <a:avLst/>
          </a:prstGeom>
          <a:ln>
            <a:solidFill>
              <a:schemeClr val="tx1"/>
            </a:solidFill>
          </a:ln>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E3878B8F-2791-BD71-BDF9-9F912EB0FFF4}"/>
                  </a:ext>
                </a:extLst>
              </p:cNvPr>
              <p:cNvSpPr txBox="1"/>
              <p:nvPr/>
            </p:nvSpPr>
            <p:spPr>
              <a:xfrm>
                <a:off x="334452" y="370192"/>
                <a:ext cx="4664290"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6: T1(t)= T2(t)= 10*abs(sin(</a:t>
                </a:r>
                <a14:m>
                  <m:oMath xmlns:m="http://schemas.openxmlformats.org/officeDocument/2006/math">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t>
                </a:r>
                <a:endParaRPr lang="en-IN" dirty="0">
                  <a:latin typeface="Cambria Math" panose="02040503050406030204" pitchFamily="18" charset="0"/>
                  <a:ea typeface="Cambria Math" panose="02040503050406030204" pitchFamily="18" charset="0"/>
                </a:endParaRPr>
              </a:p>
            </p:txBody>
          </p:sp>
        </mc:Choice>
        <mc:Fallback xmlns="">
          <p:sp>
            <p:nvSpPr>
              <p:cNvPr id="104" name="TextBox 103">
                <a:extLst>
                  <a:ext uri="{FF2B5EF4-FFF2-40B4-BE49-F238E27FC236}">
                    <a16:creationId xmlns:a16="http://schemas.microsoft.com/office/drawing/2014/main" id="{E3878B8F-2791-BD71-BDF9-9F912EB0FFF4}"/>
                  </a:ext>
                </a:extLst>
              </p:cNvPr>
              <p:cNvSpPr txBox="1">
                <a:spLocks noRot="1" noChangeAspect="1" noMove="1" noResize="1" noEditPoints="1" noAdjustHandles="1" noChangeArrowheads="1" noChangeShapeType="1" noTextEdit="1"/>
              </p:cNvSpPr>
              <p:nvPr/>
            </p:nvSpPr>
            <p:spPr>
              <a:xfrm>
                <a:off x="334452" y="370192"/>
                <a:ext cx="4664290" cy="369332"/>
              </a:xfrm>
              <a:prstGeom prst="rect">
                <a:avLst/>
              </a:prstGeom>
              <a:blipFill>
                <a:blip r:embed="rId3"/>
                <a:stretch>
                  <a:fillRect l="-1176" t="-11667" r="-131" b="-25000"/>
                </a:stretch>
              </a:blipFill>
            </p:spPr>
            <p:txBody>
              <a:bodyPr/>
              <a:lstStyle/>
              <a:p>
                <a:r>
                  <a:rPr lang="en-IN">
                    <a:noFill/>
                  </a:rPr>
                  <a:t> </a:t>
                </a:r>
              </a:p>
            </p:txBody>
          </p:sp>
        </mc:Fallback>
      </mc:AlternateContent>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12B985B4-2C2D-70C6-3E2E-0B77AEAFB852}"/>
              </a:ext>
            </a:extLst>
          </p:cNvPr>
          <p:cNvPicPr>
            <a:picLocks noChangeAspect="1"/>
          </p:cNvPicPr>
          <p:nvPr/>
        </p:nvPicPr>
        <p:blipFill>
          <a:blip r:embed="rId4"/>
          <a:stretch>
            <a:fillRect/>
          </a:stretch>
        </p:blipFill>
        <p:spPr>
          <a:xfrm>
            <a:off x="934562" y="879055"/>
            <a:ext cx="3249977" cy="3219024"/>
          </a:xfrm>
          <a:prstGeom prst="rect">
            <a:avLst/>
          </a:prstGeom>
          <a:ln>
            <a:solidFill>
              <a:schemeClr val="tx1"/>
            </a:solidFill>
          </a:ln>
        </p:spPr>
      </p:pic>
      <p:pic>
        <p:nvPicPr>
          <p:cNvPr id="3" name="Picture 2" descr="The image displays a graph showing the variation in tendon tension over time, with tendons 1 through 3 having tensions ranging from 0 to 2 Newtons at intervals of 0.25 seconds.&#10;&#10;AI-generated content may be incorrect.">
            <a:extLst>
              <a:ext uri="{FF2B5EF4-FFF2-40B4-BE49-F238E27FC236}">
                <a16:creationId xmlns:a16="http://schemas.microsoft.com/office/drawing/2014/main" id="{F0C29571-6903-5D03-B7BF-B867BB3F543D}"/>
              </a:ext>
            </a:extLst>
          </p:cNvPr>
          <p:cNvPicPr>
            <a:picLocks noChangeAspect="1"/>
          </p:cNvPicPr>
          <p:nvPr/>
        </p:nvPicPr>
        <p:blipFill>
          <a:blip r:embed="rId5"/>
          <a:stretch>
            <a:fillRect/>
          </a:stretch>
        </p:blipFill>
        <p:spPr>
          <a:xfrm>
            <a:off x="334451" y="4237610"/>
            <a:ext cx="4450200" cy="2196934"/>
          </a:xfrm>
          <a:prstGeom prst="rect">
            <a:avLst/>
          </a:prstGeom>
        </p:spPr>
      </p:pic>
      <p:pic>
        <p:nvPicPr>
          <p:cNvPr id="7" name="Picture 6" descr="The diagram displays the change in tip position (in meters) over time (in seconds) for three different load types: Point Load (Kirchhoff and Cosserat) and a MuJoCo simulation, showing a pattern of increasing tip position from 0.00 to 2.00 meters as time progresses from 0.00 to 2.00 seconds.&#10;&#10;AI-generated content may be incorrect.">
            <a:extLst>
              <a:ext uri="{FF2B5EF4-FFF2-40B4-BE49-F238E27FC236}">
                <a16:creationId xmlns:a16="http://schemas.microsoft.com/office/drawing/2014/main" id="{CEB71121-E78A-B0DA-76A2-DFABA8825D55}"/>
              </a:ext>
            </a:extLst>
          </p:cNvPr>
          <p:cNvPicPr>
            <a:picLocks noChangeAspect="1"/>
          </p:cNvPicPr>
          <p:nvPr/>
        </p:nvPicPr>
        <p:blipFill>
          <a:blip r:embed="rId6"/>
          <a:stretch>
            <a:fillRect/>
          </a:stretch>
        </p:blipFill>
        <p:spPr>
          <a:xfrm>
            <a:off x="4962766" y="879055"/>
            <a:ext cx="6894782" cy="5400000"/>
          </a:xfrm>
          <a:prstGeom prst="rect">
            <a:avLst/>
          </a:prstGeom>
        </p:spPr>
      </p:pic>
    </p:spTree>
    <p:extLst>
      <p:ext uri="{BB962C8B-B14F-4D97-AF65-F5344CB8AC3E}">
        <p14:creationId xmlns:p14="http://schemas.microsoft.com/office/powerpoint/2010/main" val="4086811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three-dimensional representation of a Cosserat rod's deformation under different loading conditions, showing the variations in Z, Y, and X coordinates over a range of values.&#10;&#10;AI-generated content may be incorrect.">
            <a:extLst>
              <a:ext uri="{FF2B5EF4-FFF2-40B4-BE49-F238E27FC236}">
                <a16:creationId xmlns:a16="http://schemas.microsoft.com/office/drawing/2014/main" id="{74E2CCF2-1DF1-A8AC-BAA3-4DA9B1E55E64}"/>
              </a:ext>
            </a:extLst>
          </p:cNvPr>
          <p:cNvPicPr>
            <a:picLocks noChangeAspect="1"/>
          </p:cNvPicPr>
          <p:nvPr/>
        </p:nvPicPr>
        <p:blipFill>
          <a:blip r:embed="rId2"/>
          <a:stretch>
            <a:fillRect/>
          </a:stretch>
        </p:blipFill>
        <p:spPr>
          <a:xfrm>
            <a:off x="6809122" y="3819956"/>
            <a:ext cx="2791837" cy="2880000"/>
          </a:xfrm>
          <a:prstGeom prst="rect">
            <a:avLst/>
          </a:prstGeom>
          <a:ln>
            <a:solidFill>
              <a:schemeClr val="tx1"/>
            </a:solidFill>
          </a:ln>
        </p:spPr>
      </p:pic>
      <p:pic>
        <p:nvPicPr>
          <p:cNvPr id="5" name="Picture 4" descr="The diagram illustrates a dynamic analysis of a Cosserat tip trajectory under various load conditions, depicting both Kirchhoff and Cosserat effects, with measurements in meters.&#10;&#10;AI-generated content may be incorrect.">
            <a:extLst>
              <a:ext uri="{FF2B5EF4-FFF2-40B4-BE49-F238E27FC236}">
                <a16:creationId xmlns:a16="http://schemas.microsoft.com/office/drawing/2014/main" id="{F4855C4A-9162-F349-ACAC-C712BA3AB125}"/>
              </a:ext>
            </a:extLst>
          </p:cNvPr>
          <p:cNvPicPr>
            <a:picLocks noChangeAspect="1"/>
          </p:cNvPicPr>
          <p:nvPr/>
        </p:nvPicPr>
        <p:blipFill>
          <a:blip r:embed="rId3"/>
          <a:stretch>
            <a:fillRect/>
          </a:stretch>
        </p:blipFill>
        <p:spPr>
          <a:xfrm>
            <a:off x="2043929" y="3819956"/>
            <a:ext cx="4619756" cy="2880000"/>
          </a:xfrm>
          <a:prstGeom prst="rect">
            <a:avLst/>
          </a:prstGeom>
          <a:ln>
            <a:solidFill>
              <a:schemeClr val="tx1"/>
            </a:solidFill>
          </a:ln>
        </p:spPr>
      </p:pic>
      <p:pic>
        <p:nvPicPr>
          <p:cNvPr id="7" name="Picture 6" descr="The diagram illustrates the movement of a Dynamic Cosserat Tip under various load conditions, showing different trajectories for point and distributed loads on a Z-axis.&#10;&#10;AI-generated content may be incorrect.">
            <a:extLst>
              <a:ext uri="{FF2B5EF4-FFF2-40B4-BE49-F238E27FC236}">
                <a16:creationId xmlns:a16="http://schemas.microsoft.com/office/drawing/2014/main" id="{EDFB1EB3-981D-892F-BA18-BA478593295F}"/>
              </a:ext>
            </a:extLst>
          </p:cNvPr>
          <p:cNvPicPr>
            <a:picLocks noChangeAspect="1"/>
          </p:cNvPicPr>
          <p:nvPr/>
        </p:nvPicPr>
        <p:blipFill>
          <a:blip r:embed="rId4"/>
          <a:stretch>
            <a:fillRect/>
          </a:stretch>
        </p:blipFill>
        <p:spPr>
          <a:xfrm>
            <a:off x="2026298" y="739524"/>
            <a:ext cx="4637387" cy="2880000"/>
          </a:xfrm>
          <a:prstGeom prst="rect">
            <a:avLst/>
          </a:prstGeom>
          <a:ln>
            <a:solidFill>
              <a:schemeClr val="tx1"/>
            </a:solid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EF26FE6-F602-BB10-E140-C9F9BE218243}"/>
                  </a:ext>
                </a:extLst>
              </p:cNvPr>
              <p:cNvSpPr txBox="1"/>
              <p:nvPr/>
            </p:nvSpPr>
            <p:spPr>
              <a:xfrm>
                <a:off x="334452" y="370192"/>
                <a:ext cx="4664290"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6: T1(t)= T2(t)= 10*abs(sin(</a:t>
                </a:r>
                <a14:m>
                  <m:oMath xmlns:m="http://schemas.openxmlformats.org/officeDocument/2006/math">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t>
                </a:r>
                <a:endParaRPr lang="en-IN"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4EF26FE6-F602-BB10-E140-C9F9BE218243}"/>
                  </a:ext>
                </a:extLst>
              </p:cNvPr>
              <p:cNvSpPr txBox="1">
                <a:spLocks noRot="1" noChangeAspect="1" noMove="1" noResize="1" noEditPoints="1" noAdjustHandles="1" noChangeArrowheads="1" noChangeShapeType="1" noTextEdit="1"/>
              </p:cNvSpPr>
              <p:nvPr/>
            </p:nvSpPr>
            <p:spPr>
              <a:xfrm>
                <a:off x="334452" y="370192"/>
                <a:ext cx="4664290" cy="369332"/>
              </a:xfrm>
              <a:prstGeom prst="rect">
                <a:avLst/>
              </a:prstGeom>
              <a:blipFill>
                <a:blip r:embed="rId5"/>
                <a:stretch>
                  <a:fillRect l="-1176" t="-11667" r="-131" b="-25000"/>
                </a:stretch>
              </a:blipFill>
            </p:spPr>
            <p:txBody>
              <a:bodyPr/>
              <a:lstStyle/>
              <a:p>
                <a:r>
                  <a:rPr lang="en-IN">
                    <a:noFill/>
                  </a:rPr>
                  <a:t> </a:t>
                </a:r>
              </a:p>
            </p:txBody>
          </p:sp>
        </mc:Fallback>
      </mc:AlternateContent>
      <p:pic>
        <p:nvPicPr>
          <p:cNvPr id="11" name="Picture 10" descr="The diagram illustrates the movement trajectory of a Dynamic Cosserat Tip under different loading conditions, showing the effects of both Kirchhoff and Cosserat models on the tip's displacement.&#10;&#10;AI-generated content may be incorrect.">
            <a:extLst>
              <a:ext uri="{FF2B5EF4-FFF2-40B4-BE49-F238E27FC236}">
                <a16:creationId xmlns:a16="http://schemas.microsoft.com/office/drawing/2014/main" id="{461AF262-BBDE-DF1C-2F99-C00B5A471596}"/>
              </a:ext>
            </a:extLst>
          </p:cNvPr>
          <p:cNvPicPr>
            <a:picLocks noChangeAspect="1"/>
          </p:cNvPicPr>
          <p:nvPr/>
        </p:nvPicPr>
        <p:blipFill>
          <a:blip r:embed="rId6"/>
          <a:stretch>
            <a:fillRect/>
          </a:stretch>
        </p:blipFill>
        <p:spPr>
          <a:xfrm>
            <a:off x="6809122" y="739524"/>
            <a:ext cx="2775044" cy="2880000"/>
          </a:xfrm>
          <a:prstGeom prst="rect">
            <a:avLst/>
          </a:prstGeom>
          <a:ln>
            <a:solidFill>
              <a:schemeClr val="tx1"/>
            </a:solidFill>
          </a:ln>
        </p:spPr>
      </p:pic>
    </p:spTree>
    <p:extLst>
      <p:ext uri="{BB962C8B-B14F-4D97-AF65-F5344CB8AC3E}">
        <p14:creationId xmlns:p14="http://schemas.microsoft.com/office/powerpoint/2010/main" val="1030570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F58FB-CC2C-70F0-A04E-6EFBE7533997}"/>
            </a:ext>
          </a:extLst>
        </p:cNvPr>
        <p:cNvGrpSpPr/>
        <p:nvPr/>
      </p:nvGrpSpPr>
      <p:grpSpPr>
        <a:xfrm>
          <a:off x="0" y="0"/>
          <a:ext cx="0" cy="0"/>
          <a:chOff x="0" y="0"/>
          <a:chExt cx="0" cy="0"/>
        </a:xfrm>
      </p:grpSpPr>
      <p:pic>
        <p:nvPicPr>
          <p:cNvPr id="5" name="Picture 4" descr="The diagram illustrates a graph showing the variation in tendon tension over time, with tendons labeled 1 through 3 and tension values ranging from 0 to 2 N.&#10;&#10;AI-generated content may be incorrect.">
            <a:extLst>
              <a:ext uri="{FF2B5EF4-FFF2-40B4-BE49-F238E27FC236}">
                <a16:creationId xmlns:a16="http://schemas.microsoft.com/office/drawing/2014/main" id="{9F801F64-3F45-9354-A20A-0654B8E59AB1}"/>
              </a:ext>
            </a:extLst>
          </p:cNvPr>
          <p:cNvPicPr>
            <a:picLocks noChangeAspect="1"/>
          </p:cNvPicPr>
          <p:nvPr/>
        </p:nvPicPr>
        <p:blipFill>
          <a:blip r:embed="rId2"/>
          <a:stretch>
            <a:fillRect/>
          </a:stretch>
        </p:blipFill>
        <p:spPr>
          <a:xfrm>
            <a:off x="334452" y="4237610"/>
            <a:ext cx="4450199" cy="2196934"/>
          </a:xfrm>
          <a:prstGeom prst="rect">
            <a:avLst/>
          </a:prstGeom>
          <a:ln>
            <a:solidFill>
              <a:schemeClr val="tx1"/>
            </a:solidFill>
          </a:ln>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1D0D257-DD46-A029-863F-4640BDB3121F}"/>
                  </a:ext>
                </a:extLst>
              </p:cNvPr>
              <p:cNvSpPr txBox="1"/>
              <p:nvPr/>
            </p:nvSpPr>
            <p:spPr>
              <a:xfrm>
                <a:off x="334452" y="370192"/>
                <a:ext cx="6244082"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7: T1(t)= 10*abs(sin(</a:t>
                </a:r>
                <a14:m>
                  <m:oMath xmlns:m="http://schemas.openxmlformats.org/officeDocument/2006/math">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nor/>
                      </m:rPr>
                      <a:rPr lang="en-US" i="0" dirty="0">
                        <a:latin typeface="Cambria Math" panose="02040503050406030204" pitchFamily="18" charset="0"/>
                        <a:ea typeface="Cambria Math" panose="02040503050406030204" pitchFamily="18" charset="0"/>
                      </a:rPr>
                      <m:t>T2(t)=10∗abs(</m:t>
                    </m:r>
                    <m:r>
                      <m:rPr>
                        <m:nor/>
                      </m:rPr>
                      <a:rPr lang="en-US" b="0" i="0" dirty="0" smtClean="0">
                        <a:latin typeface="Cambria Math" panose="02040503050406030204" pitchFamily="18" charset="0"/>
                        <a:ea typeface="Cambria Math" panose="02040503050406030204" pitchFamily="18" charset="0"/>
                      </a:rPr>
                      <m:t>cos</m:t>
                    </m:r>
                    <m:r>
                      <m:rPr>
                        <m:nor/>
                      </m:rPr>
                      <a:rPr lang="en-US" i="0" dirty="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oMath>
                </a14:m>
                <a:endParaRPr lang="en-IN" dirty="0">
                  <a:latin typeface="Cambria Math" panose="02040503050406030204" pitchFamily="18" charset="0"/>
                  <a:ea typeface="Cambria Math" panose="02040503050406030204" pitchFamily="18" charset="0"/>
                </a:endParaRPr>
              </a:p>
            </p:txBody>
          </p:sp>
        </mc:Choice>
        <mc:Fallback xmlns="">
          <p:sp>
            <p:nvSpPr>
              <p:cNvPr id="104" name="TextBox 103">
                <a:extLst>
                  <a:ext uri="{FF2B5EF4-FFF2-40B4-BE49-F238E27FC236}">
                    <a16:creationId xmlns:a16="http://schemas.microsoft.com/office/drawing/2014/main" id="{61D0D257-DD46-A029-863F-4640BDB3121F}"/>
                  </a:ext>
                </a:extLst>
              </p:cNvPr>
              <p:cNvSpPr txBox="1">
                <a:spLocks noRot="1" noChangeAspect="1" noMove="1" noResize="1" noEditPoints="1" noAdjustHandles="1" noChangeArrowheads="1" noChangeShapeType="1" noTextEdit="1"/>
              </p:cNvSpPr>
              <p:nvPr/>
            </p:nvSpPr>
            <p:spPr>
              <a:xfrm>
                <a:off x="334452" y="370192"/>
                <a:ext cx="6244082" cy="369332"/>
              </a:xfrm>
              <a:prstGeom prst="rect">
                <a:avLst/>
              </a:prstGeom>
              <a:blipFill>
                <a:blip r:embed="rId3"/>
                <a:stretch>
                  <a:fillRect l="-879" t="-11667" b="-25000"/>
                </a:stretch>
              </a:blipFill>
            </p:spPr>
            <p:txBody>
              <a:bodyPr/>
              <a:lstStyle/>
              <a:p>
                <a:r>
                  <a:rPr lang="en-IN">
                    <a:noFill/>
                  </a:rPr>
                  <a:t> </a:t>
                </a:r>
              </a:p>
            </p:txBody>
          </p:sp>
        </mc:Fallback>
      </mc:AlternateContent>
      <p:pic>
        <p:nvPicPr>
          <p:cNvPr id="156" name="Picture 155" descr="The diagram illustrates a mechanical testing setup, showing a torque-speed relationship for a shaft with various parameters such as torsional modulus (E), shear modulus (mu), number of disks (N), radius (r), length (L), and torsional moments (T1, T2, T3) with a given internal radius (li) and torsional resistance (t_r).&#10;&#10;AI-generated content may be incorrect.">
            <a:extLst>
              <a:ext uri="{FF2B5EF4-FFF2-40B4-BE49-F238E27FC236}">
                <a16:creationId xmlns:a16="http://schemas.microsoft.com/office/drawing/2014/main" id="{641F027C-ED11-EBBB-4328-4B6FFA0F93B6}"/>
              </a:ext>
            </a:extLst>
          </p:cNvPr>
          <p:cNvPicPr>
            <a:picLocks noChangeAspect="1"/>
          </p:cNvPicPr>
          <p:nvPr/>
        </p:nvPicPr>
        <p:blipFill>
          <a:blip r:embed="rId4"/>
          <a:stretch>
            <a:fillRect/>
          </a:stretch>
        </p:blipFill>
        <p:spPr>
          <a:xfrm>
            <a:off x="934562" y="879055"/>
            <a:ext cx="3249977" cy="3219024"/>
          </a:xfrm>
          <a:prstGeom prst="rect">
            <a:avLst/>
          </a:prstGeom>
          <a:ln>
            <a:solidFill>
              <a:schemeClr val="tx1"/>
            </a:solidFill>
          </a:ln>
        </p:spPr>
      </p:pic>
      <p:pic>
        <p:nvPicPr>
          <p:cNvPr id="4" name="Picture 3" descr="The image displays a graph depicting the variation in tendon tension (in Newtons) over time (in seconds), with three tendons (Tendon 1, Tendon 2, Tendon 3) showing different tension values at various time intervals.&#10;&#10;AI-generated content may be incorrect.">
            <a:extLst>
              <a:ext uri="{FF2B5EF4-FFF2-40B4-BE49-F238E27FC236}">
                <a16:creationId xmlns:a16="http://schemas.microsoft.com/office/drawing/2014/main" id="{057CE541-1174-AFA2-E243-C86B0182CD7A}"/>
              </a:ext>
            </a:extLst>
          </p:cNvPr>
          <p:cNvPicPr>
            <a:picLocks noChangeAspect="1"/>
          </p:cNvPicPr>
          <p:nvPr/>
        </p:nvPicPr>
        <p:blipFill>
          <a:blip r:embed="rId5"/>
          <a:stretch>
            <a:fillRect/>
          </a:stretch>
        </p:blipFill>
        <p:spPr>
          <a:xfrm>
            <a:off x="334452" y="4237610"/>
            <a:ext cx="4450199" cy="2196934"/>
          </a:xfrm>
          <a:prstGeom prst="rect">
            <a:avLst/>
          </a:prstGeom>
        </p:spPr>
      </p:pic>
      <p:pic>
        <p:nvPicPr>
          <p:cNvPr id="8" name="Picture 7" descr="The image depicts a graph showing the tip position coordinates over time for different load types (Kirchhoff, Cosserat, and MuJoCo) on a three-dimensional scale.&#10;&#10;AI-generated content may be incorrect.">
            <a:extLst>
              <a:ext uri="{FF2B5EF4-FFF2-40B4-BE49-F238E27FC236}">
                <a16:creationId xmlns:a16="http://schemas.microsoft.com/office/drawing/2014/main" id="{F3E104E3-C967-5571-796A-6280EB355F66}"/>
              </a:ext>
            </a:extLst>
          </p:cNvPr>
          <p:cNvPicPr>
            <a:picLocks noChangeAspect="1"/>
          </p:cNvPicPr>
          <p:nvPr/>
        </p:nvPicPr>
        <p:blipFill>
          <a:blip r:embed="rId6"/>
          <a:stretch>
            <a:fillRect/>
          </a:stretch>
        </p:blipFill>
        <p:spPr>
          <a:xfrm>
            <a:off x="4892331" y="879055"/>
            <a:ext cx="6965217" cy="5400000"/>
          </a:xfrm>
          <a:prstGeom prst="rect">
            <a:avLst/>
          </a:prstGeom>
        </p:spPr>
      </p:pic>
    </p:spTree>
    <p:extLst>
      <p:ext uri="{BB962C8B-B14F-4D97-AF65-F5344CB8AC3E}">
        <p14:creationId xmlns:p14="http://schemas.microsoft.com/office/powerpoint/2010/main" val="1610959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iagram illustrates the trajectory of a Cosserat tip under different load conditions, showing comparative positions and magnitudes for various load types.&#10;&#10;AI-generated content may be incorrect.">
            <a:extLst>
              <a:ext uri="{FF2B5EF4-FFF2-40B4-BE49-F238E27FC236}">
                <a16:creationId xmlns:a16="http://schemas.microsoft.com/office/drawing/2014/main" id="{22DB9455-56E2-CD28-74C7-47B710FA2ADB}"/>
              </a:ext>
            </a:extLst>
          </p:cNvPr>
          <p:cNvPicPr>
            <a:picLocks noChangeAspect="1"/>
          </p:cNvPicPr>
          <p:nvPr/>
        </p:nvPicPr>
        <p:blipFill>
          <a:blip r:embed="rId2"/>
          <a:stretch>
            <a:fillRect/>
          </a:stretch>
        </p:blipFill>
        <p:spPr>
          <a:xfrm>
            <a:off x="2066422" y="799628"/>
            <a:ext cx="4643265" cy="2880000"/>
          </a:xfrm>
          <a:prstGeom prst="rect">
            <a:avLst/>
          </a:prstGeom>
          <a:ln>
            <a:solidFill>
              <a:schemeClr val="tx1"/>
            </a:solidFill>
          </a:ln>
        </p:spPr>
      </p:pic>
      <p:pic>
        <p:nvPicPr>
          <p:cNvPr id="5" name="Picture 4" descr="The image depicts a three-dimensional representation of a Cosserat rod's deformation under different types of loading, with Z and Y axes indicating displacement in meters.&#10;&#10;AI-generated content may be incorrect.">
            <a:extLst>
              <a:ext uri="{FF2B5EF4-FFF2-40B4-BE49-F238E27FC236}">
                <a16:creationId xmlns:a16="http://schemas.microsoft.com/office/drawing/2014/main" id="{15B60A79-8201-D0D3-7B8C-41C30BEB7778}"/>
              </a:ext>
            </a:extLst>
          </p:cNvPr>
          <p:cNvPicPr>
            <a:picLocks noChangeAspect="1"/>
          </p:cNvPicPr>
          <p:nvPr/>
        </p:nvPicPr>
        <p:blipFill>
          <a:blip r:embed="rId3"/>
          <a:stretch>
            <a:fillRect/>
          </a:stretch>
        </p:blipFill>
        <p:spPr>
          <a:xfrm>
            <a:off x="6845154" y="3852334"/>
            <a:ext cx="2791708" cy="2880000"/>
          </a:xfrm>
          <a:prstGeom prst="rect">
            <a:avLst/>
          </a:prstGeom>
          <a:ln>
            <a:solidFill>
              <a:schemeClr val="tx1"/>
            </a:solidFill>
          </a:ln>
        </p:spPr>
      </p:pic>
      <p:pic>
        <p:nvPicPr>
          <p:cNvPr id="7" name="Picture 6" descr="The diagram illustrates a dynamic analysis of a Cosserat tip trajectory, showing various load types and their impacts on a structure at specified distances.&#10;&#10;AI-generated content may be incorrect.">
            <a:extLst>
              <a:ext uri="{FF2B5EF4-FFF2-40B4-BE49-F238E27FC236}">
                <a16:creationId xmlns:a16="http://schemas.microsoft.com/office/drawing/2014/main" id="{DD353D0B-5CC6-C529-62C4-09726D203FB2}"/>
              </a:ext>
            </a:extLst>
          </p:cNvPr>
          <p:cNvPicPr>
            <a:picLocks noChangeAspect="1"/>
          </p:cNvPicPr>
          <p:nvPr/>
        </p:nvPicPr>
        <p:blipFill>
          <a:blip r:embed="rId4"/>
          <a:stretch>
            <a:fillRect/>
          </a:stretch>
        </p:blipFill>
        <p:spPr>
          <a:xfrm>
            <a:off x="2066421" y="3852334"/>
            <a:ext cx="4643266" cy="2880000"/>
          </a:xfrm>
          <a:prstGeom prst="rect">
            <a:avLst/>
          </a:prstGeom>
          <a:ln>
            <a:solidFill>
              <a:schemeClr val="tx1"/>
            </a:solidFill>
          </a:ln>
        </p:spPr>
      </p:pic>
      <p:pic>
        <p:nvPicPr>
          <p:cNvPr id="9" name="Picture 8" descr="The image illustrates a 3D trajectory plot for a Cosserat tip under a point load, showing the position and magnitude of forces in the X and Y directions.&#10;&#10;AI-generated content may be incorrect.">
            <a:extLst>
              <a:ext uri="{FF2B5EF4-FFF2-40B4-BE49-F238E27FC236}">
                <a16:creationId xmlns:a16="http://schemas.microsoft.com/office/drawing/2014/main" id="{99F29FD3-9D9C-5B05-6EAE-F4DFC2C9B93C}"/>
              </a:ext>
            </a:extLst>
          </p:cNvPr>
          <p:cNvPicPr>
            <a:picLocks noChangeAspect="1"/>
          </p:cNvPicPr>
          <p:nvPr/>
        </p:nvPicPr>
        <p:blipFill>
          <a:blip r:embed="rId5"/>
          <a:stretch>
            <a:fillRect/>
          </a:stretch>
        </p:blipFill>
        <p:spPr>
          <a:xfrm>
            <a:off x="6845154" y="799628"/>
            <a:ext cx="2796035" cy="2880000"/>
          </a:xfrm>
          <a:prstGeom prst="rect">
            <a:avLst/>
          </a:prstGeom>
          <a:ln>
            <a:solidFill>
              <a:schemeClr val="tx1"/>
            </a:solid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61AE73E-0895-CBD2-D2FE-8894327CA22C}"/>
                  </a:ext>
                </a:extLst>
              </p:cNvPr>
              <p:cNvSpPr txBox="1"/>
              <p:nvPr/>
            </p:nvSpPr>
            <p:spPr>
              <a:xfrm>
                <a:off x="334452" y="370192"/>
                <a:ext cx="6244082"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Load case 7: T1(t)= 10*abs(sin(</a:t>
                </a:r>
                <a14:m>
                  <m:oMath xmlns:m="http://schemas.openxmlformats.org/officeDocument/2006/math">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nor/>
                      </m:rPr>
                      <a:rPr lang="en-US" i="0" dirty="0">
                        <a:latin typeface="Cambria Math" panose="02040503050406030204" pitchFamily="18" charset="0"/>
                        <a:ea typeface="Cambria Math" panose="02040503050406030204" pitchFamily="18" charset="0"/>
                      </a:rPr>
                      <m:t>T2(t)=10∗abs(</m:t>
                    </m:r>
                    <m:r>
                      <m:rPr>
                        <m:nor/>
                      </m:rPr>
                      <a:rPr lang="en-US" b="0" i="0" dirty="0" smtClean="0">
                        <a:latin typeface="Cambria Math" panose="02040503050406030204" pitchFamily="18" charset="0"/>
                        <a:ea typeface="Cambria Math" panose="02040503050406030204" pitchFamily="18" charset="0"/>
                      </a:rPr>
                      <m:t>cos</m:t>
                    </m:r>
                    <m:r>
                      <m:rPr>
                        <m:nor/>
                      </m:rPr>
                      <a:rPr lang="en-US" i="0" dirty="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oMath>
                </a14:m>
                <a:endParaRPr lang="en-IN" dirty="0">
                  <a:latin typeface="Cambria Math" panose="02040503050406030204" pitchFamily="18" charset="0"/>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061AE73E-0895-CBD2-D2FE-8894327CA22C}"/>
                  </a:ext>
                </a:extLst>
              </p:cNvPr>
              <p:cNvSpPr txBox="1">
                <a:spLocks noRot="1" noChangeAspect="1" noMove="1" noResize="1" noEditPoints="1" noAdjustHandles="1" noChangeArrowheads="1" noChangeShapeType="1" noTextEdit="1"/>
              </p:cNvSpPr>
              <p:nvPr/>
            </p:nvSpPr>
            <p:spPr>
              <a:xfrm>
                <a:off x="334452" y="370192"/>
                <a:ext cx="6244082" cy="369332"/>
              </a:xfrm>
              <a:prstGeom prst="rect">
                <a:avLst/>
              </a:prstGeom>
              <a:blipFill>
                <a:blip r:embed="rId6"/>
                <a:stretch>
                  <a:fillRect l="-879" t="-11667" b="-25000"/>
                </a:stretch>
              </a:blipFill>
            </p:spPr>
            <p:txBody>
              <a:bodyPr/>
              <a:lstStyle/>
              <a:p>
                <a:r>
                  <a:rPr lang="en-IN">
                    <a:noFill/>
                  </a:rPr>
                  <a:t> </a:t>
                </a:r>
              </a:p>
            </p:txBody>
          </p:sp>
        </mc:Fallback>
      </mc:AlternateContent>
    </p:spTree>
    <p:extLst>
      <p:ext uri="{BB962C8B-B14F-4D97-AF65-F5344CB8AC3E}">
        <p14:creationId xmlns:p14="http://schemas.microsoft.com/office/powerpoint/2010/main" val="527858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8095678" cy="523220"/>
          </a:xfrm>
          <a:prstGeom prst="rect">
            <a:avLst/>
          </a:prstGeom>
          <a:noFill/>
        </p:spPr>
        <p:txBody>
          <a:bodyPr wrap="none">
            <a:spAutoFit/>
          </a:bodyPr>
          <a:lstStyle/>
          <a:p>
            <a:pPr>
              <a:defRPr sz="2800" b="1">
                <a:solidFill>
                  <a:srgbClr val="142237"/>
                </a:solidFill>
              </a:defRPr>
            </a:pPr>
            <a:r>
              <a:rPr dirty="0">
                <a:latin typeface="Cambria Math" panose="02040503050406030204" pitchFamily="18" charset="0"/>
                <a:ea typeface="Cambria Math" panose="02040503050406030204" pitchFamily="18" charset="0"/>
              </a:rPr>
              <a:t>GVS / strain parameterization</a:t>
            </a:r>
            <a:r>
              <a:rPr lang="en-US" dirty="0">
                <a:latin typeface="Cambria Math" panose="02040503050406030204" pitchFamily="18" charset="0"/>
                <a:ea typeface="Cambria Math" panose="02040503050406030204" pitchFamily="18" charset="0"/>
              </a:rPr>
              <a:t> – Anup </a:t>
            </a:r>
            <a:r>
              <a:rPr lang="en-US" dirty="0" err="1">
                <a:latin typeface="Cambria Math" panose="02040503050406030204" pitchFamily="18" charset="0"/>
                <a:ea typeface="Cambria Math" panose="02040503050406030204" pitchFamily="18" charset="0"/>
              </a:rPr>
              <a:t>Theejo</a:t>
            </a:r>
            <a:r>
              <a:rPr lang="en-US" dirty="0">
                <a:latin typeface="Cambria Math" panose="02040503050406030204" pitchFamily="18" charset="0"/>
                <a:ea typeface="Cambria Math" panose="02040503050406030204" pitchFamily="18" charset="0"/>
              </a:rPr>
              <a:t> Mattew</a:t>
            </a:r>
            <a:endParaRPr dirty="0">
              <a:latin typeface="Cambria Math" panose="02040503050406030204" pitchFamily="18" charset="0"/>
              <a:ea typeface="Cambria Math" panose="02040503050406030204" pitchFamily="18" charset="0"/>
            </a:endParaRPr>
          </a:p>
        </p:txBody>
      </p:sp>
      <p:sp>
        <p:nvSpPr>
          <p:cNvPr id="4" name="TextBox 3"/>
          <p:cNvSpPr txBox="1"/>
          <p:nvPr/>
        </p:nvSpPr>
        <p:spPr>
          <a:xfrm>
            <a:off x="533400" y="757612"/>
            <a:ext cx="2430537" cy="276999"/>
          </a:xfrm>
          <a:prstGeom prst="rect">
            <a:avLst/>
          </a:prstGeom>
          <a:noFill/>
        </p:spPr>
        <p:txBody>
          <a:bodyPr wrap="none">
            <a:spAutoFit/>
          </a:bodyPr>
          <a:lstStyle/>
          <a:p>
            <a:pPr>
              <a:defRPr sz="1200">
                <a:solidFill>
                  <a:srgbClr val="5A6978"/>
                </a:solidFill>
              </a:defRPr>
            </a:pPr>
            <a:r>
              <a:rPr lang="en-US" dirty="0">
                <a:latin typeface="Cambria Math" panose="02040503050406030204" pitchFamily="18" charset="0"/>
                <a:ea typeface="Cambria Math" panose="02040503050406030204" pitchFamily="18" charset="0"/>
              </a:rPr>
              <a:t>Method for model order reduction</a:t>
            </a:r>
            <a:endParaRPr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6" name="TextBox 5"/>
              <p:cNvSpPr txBox="1"/>
              <p:nvPr/>
            </p:nvSpPr>
            <p:spPr>
              <a:xfrm>
                <a:off x="822960" y="1124712"/>
                <a:ext cx="4417907" cy="400110"/>
              </a:xfrm>
              <a:prstGeom prst="rect">
                <a:avLst/>
              </a:prstGeom>
              <a:noFill/>
            </p:spPr>
            <p:txBody>
              <a:bodyPr wrap="square">
                <a:spAutoFit/>
              </a:bodyPr>
              <a:lstStyle/>
              <a:p>
                <a:pPr algn="ctr">
                  <a:defRPr sz="2000">
                    <a:solidFill>
                      <a:srgbClr val="142237"/>
                    </a:solidFill>
                  </a:defRPr>
                </a:pPr>
                <a14:m>
                  <m:oMathPara xmlns:m="http://schemas.openxmlformats.org/officeDocument/2006/math">
                    <m:oMath>
                      <m:r>
                        <a:rPr lang="ar-AE" i="1" dirty="0" smtClean="0">
                          <a:solidFill>
                            <a:schemeClr val="tx1"/>
                          </a:solidFill>
                          <a:latin typeface="Cambria Math" panose="02040503050406030204" pitchFamily="18" charset="0"/>
                          <a:ea typeface="Cambria Math" panose="02040503050406030204" pitchFamily="18" charset="0"/>
                        </a:rPr>
                        <m:t>𝜉</m:t>
                      </m:r>
                      <m:r>
                        <a:rPr lang="ar-AE" i="1" dirty="0" smtClean="0">
                          <a:solidFill>
                            <a:schemeClr val="tx1"/>
                          </a:solidFill>
                          <a:latin typeface="Cambria Math" panose="02040503050406030204" pitchFamily="18" charset="0"/>
                          <a:ea typeface="Cambria Math" panose="02040503050406030204" pitchFamily="18" charset="0"/>
                        </a:rPr>
                        <m:t>(</m:t>
                      </m:r>
                      <m:r>
                        <a:rPr lang="ar-AE" i="1" dirty="0" err="1">
                          <a:solidFill>
                            <a:schemeClr val="tx1"/>
                          </a:solidFill>
                          <a:latin typeface="Cambria Math" panose="02040503050406030204" pitchFamily="18" charset="0"/>
                          <a:ea typeface="Cambria Math" panose="02040503050406030204" pitchFamily="18" charset="0"/>
                        </a:rPr>
                        <m:t>𝑋</m:t>
                      </m:r>
                      <m:r>
                        <a:rPr lang="ar-AE" i="1" dirty="0" err="1">
                          <a:solidFill>
                            <a:schemeClr val="tx1"/>
                          </a:solidFill>
                          <a:latin typeface="Cambria Math" panose="02040503050406030204" pitchFamily="18" charset="0"/>
                          <a:ea typeface="Cambria Math" panose="02040503050406030204" pitchFamily="18" charset="0"/>
                        </a:rPr>
                        <m:t>,</m:t>
                      </m:r>
                      <m:r>
                        <a:rPr lang="ar-AE" i="1" dirty="0" err="1">
                          <a:solidFill>
                            <a:schemeClr val="tx1"/>
                          </a:solidFill>
                          <a:latin typeface="Cambria Math" panose="02040503050406030204" pitchFamily="18" charset="0"/>
                          <a:ea typeface="Cambria Math" panose="02040503050406030204" pitchFamily="18" charset="0"/>
                        </a:rPr>
                        <m:t>𝑞</m:t>
                      </m:r>
                      <m:r>
                        <a:rPr lang="ar-AE" i="1" dirty="0" err="1">
                          <a:solidFill>
                            <a:schemeClr val="tx1"/>
                          </a:solidFill>
                          <a:latin typeface="Cambria Math" panose="02040503050406030204" pitchFamily="18" charset="0"/>
                          <a:ea typeface="Cambria Math" panose="02040503050406030204" pitchFamily="18" charset="0"/>
                        </a:rPr>
                        <m:t>,</m:t>
                      </m:r>
                      <m:r>
                        <a:rPr lang="ar-AE" i="1" dirty="0" err="1">
                          <a:solidFill>
                            <a:schemeClr val="tx1"/>
                          </a:solidFill>
                          <a:latin typeface="Cambria Math" panose="02040503050406030204" pitchFamily="18" charset="0"/>
                          <a:ea typeface="Cambria Math" panose="02040503050406030204" pitchFamily="18" charset="0"/>
                        </a:rPr>
                        <m:t>𝑡</m:t>
                      </m:r>
                      <m:r>
                        <a:rPr lang="ar-AE" i="1" dirty="0" smtClean="0">
                          <a:solidFill>
                            <a:schemeClr val="tx1"/>
                          </a:solidFill>
                          <a:latin typeface="Cambria Math" panose="02040503050406030204" pitchFamily="18" charset="0"/>
                          <a:ea typeface="Cambria Math" panose="02040503050406030204" pitchFamily="18" charset="0"/>
                        </a:rPr>
                        <m:t>)</m:t>
                      </m:r>
                      <m:r>
                        <a:rPr lang="ar-AE" i="1" dirty="0">
                          <a:solidFill>
                            <a:schemeClr val="tx1"/>
                          </a:solidFill>
                          <a:latin typeface="Cambria Math" panose="02040503050406030204" pitchFamily="18" charset="0"/>
                          <a:ea typeface="Cambria Math" panose="02040503050406030204" pitchFamily="18" charset="0"/>
                        </a:rPr>
                        <m:t>= </m:t>
                      </m:r>
                      <m:sSup>
                        <m:sSupPr>
                          <m:ctrlPr>
                            <a:rPr lang="ar-AE" i="1" dirty="0">
                              <a:solidFill>
                                <a:schemeClr val="tx1"/>
                              </a:solidFill>
                              <a:latin typeface="Cambria Math" panose="02040503050406030204" pitchFamily="18" charset="0"/>
                              <a:ea typeface="Cambria Math" panose="02040503050406030204" pitchFamily="18" charset="0"/>
                            </a:rPr>
                          </m:ctrlPr>
                        </m:sSupPr>
                        <m:e>
                          <m:r>
                            <a:rPr lang="ar-AE" i="1" dirty="0">
                              <a:solidFill>
                                <a:schemeClr val="tx1"/>
                              </a:solidFill>
                              <a:latin typeface="Cambria Math" panose="02040503050406030204" pitchFamily="18" charset="0"/>
                              <a:ea typeface="Cambria Math" panose="02040503050406030204" pitchFamily="18" charset="0"/>
                            </a:rPr>
                            <m:t>𝜉</m:t>
                          </m:r>
                        </m:e>
                        <m:sup>
                          <m:r>
                            <a:rPr lang="ar-AE" b="0" i="1" dirty="0" smtClean="0">
                              <a:solidFill>
                                <a:schemeClr val="tx1"/>
                              </a:solidFill>
                              <a:latin typeface="Cambria Math" panose="02040503050406030204" pitchFamily="18" charset="0"/>
                              <a:ea typeface="Cambria Math" panose="02040503050406030204" pitchFamily="18" charset="0"/>
                            </a:rPr>
                            <m:t>∗</m:t>
                          </m:r>
                        </m:sup>
                      </m:sSup>
                      <m:r>
                        <a:rPr lang="ar-AE" i="1" dirty="0">
                          <a:solidFill>
                            <a:schemeClr val="tx1"/>
                          </a:solidFill>
                          <a:latin typeface="Cambria Math" panose="02040503050406030204" pitchFamily="18" charset="0"/>
                          <a:ea typeface="Cambria Math" panose="02040503050406030204" pitchFamily="18" charset="0"/>
                        </a:rPr>
                        <m:t>(</m:t>
                      </m:r>
                      <m:r>
                        <a:rPr lang="ar-AE" i="1" dirty="0">
                          <a:solidFill>
                            <a:schemeClr val="tx1"/>
                          </a:solidFill>
                          <a:latin typeface="Cambria Math" panose="02040503050406030204" pitchFamily="18" charset="0"/>
                          <a:ea typeface="Cambria Math" panose="02040503050406030204" pitchFamily="18" charset="0"/>
                        </a:rPr>
                        <m:t>𝑋</m:t>
                      </m:r>
                      <m:r>
                        <a:rPr lang="ar-AE" i="1" dirty="0">
                          <a:solidFill>
                            <a:schemeClr val="tx1"/>
                          </a:solidFill>
                          <a:latin typeface="Cambria Math" panose="02040503050406030204" pitchFamily="18" charset="0"/>
                          <a:ea typeface="Cambria Math" panose="02040503050406030204" pitchFamily="18" charset="0"/>
                        </a:rPr>
                        <m:t>) + </m:t>
                      </m:r>
                      <m:r>
                        <m:rPr>
                          <m:sty m:val="p"/>
                        </m:rPr>
                        <a:rPr lang="el-GR" i="0" dirty="0">
                          <a:solidFill>
                            <a:schemeClr val="tx1"/>
                          </a:solidFill>
                          <a:latin typeface="Cambria Math" panose="02040503050406030204" pitchFamily="18" charset="0"/>
                          <a:ea typeface="Cambria Math" panose="02040503050406030204" pitchFamily="18" charset="0"/>
                        </a:rPr>
                        <m:t>Φ</m:t>
                      </m:r>
                      <m:r>
                        <a:rPr lang="el-GR" i="1" dirty="0">
                          <a:solidFill>
                            <a:schemeClr val="tx1"/>
                          </a:solidFill>
                          <a:latin typeface="Cambria Math" panose="02040503050406030204" pitchFamily="18" charset="0"/>
                          <a:ea typeface="Cambria Math" panose="02040503050406030204" pitchFamily="18" charset="0"/>
                        </a:rPr>
                        <m:t>(</m:t>
                      </m:r>
                      <m:r>
                        <a:rPr lang="el-GR" i="1" dirty="0" err="1">
                          <a:solidFill>
                            <a:schemeClr val="tx1"/>
                          </a:solidFill>
                          <a:latin typeface="Cambria Math" panose="02040503050406030204" pitchFamily="18" charset="0"/>
                          <a:ea typeface="Cambria Math" panose="02040503050406030204" pitchFamily="18" charset="0"/>
                        </a:rPr>
                        <m:t>𝑋</m:t>
                      </m:r>
                      <m:r>
                        <a:rPr lang="el-GR" i="1" dirty="0">
                          <a:solidFill>
                            <a:schemeClr val="tx1"/>
                          </a:solidFill>
                          <a:latin typeface="Cambria Math" panose="02040503050406030204" pitchFamily="18" charset="0"/>
                          <a:ea typeface="Cambria Math" panose="02040503050406030204" pitchFamily="18" charset="0"/>
                        </a:rPr>
                        <m:t>) </m:t>
                      </m:r>
                      <m:r>
                        <a:rPr lang="el-GR" i="1" dirty="0">
                          <a:solidFill>
                            <a:schemeClr val="tx1"/>
                          </a:solidFill>
                          <a:latin typeface="Cambria Math" panose="02040503050406030204" pitchFamily="18" charset="0"/>
                          <a:ea typeface="Cambria Math" panose="02040503050406030204" pitchFamily="18" charset="0"/>
                        </a:rPr>
                        <m:t>𝑞</m:t>
                      </m:r>
                    </m:oMath>
                  </m:oMathPara>
                </a14:m>
                <a:endParaRPr lang="el-GR" dirty="0"/>
              </a:p>
            </p:txBody>
          </p:sp>
        </mc:Choice>
        <mc:Fallback xmlns="">
          <p:sp>
            <p:nvSpPr>
              <p:cNvPr id="6" name="TextBox 5"/>
              <p:cNvSpPr txBox="1">
                <a:spLocks noRot="1" noChangeAspect="1" noMove="1" noResize="1" noEditPoints="1" noAdjustHandles="1" noChangeArrowheads="1" noChangeShapeType="1" noTextEdit="1"/>
              </p:cNvSpPr>
              <p:nvPr/>
            </p:nvSpPr>
            <p:spPr>
              <a:xfrm>
                <a:off x="822960" y="1124712"/>
                <a:ext cx="4417907" cy="400110"/>
              </a:xfrm>
              <a:prstGeom prst="rect">
                <a:avLst/>
              </a:prstGeom>
              <a:blipFill>
                <a:blip r:embed="rId2"/>
                <a:stretch>
                  <a:fillRect b="-153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997616" y="1617293"/>
                <a:ext cx="2681760" cy="1097993"/>
              </a:xfrm>
              <a:prstGeom prst="rect">
                <a:avLst/>
              </a:prstGeom>
              <a:noFill/>
            </p:spPr>
            <p:txBody>
              <a:bodyPr wrap="none">
                <a:spAutoFit/>
              </a:bodyPr>
              <a:lstStyle/>
              <a:p>
                <a:pPr algn="ctr">
                  <a:defRPr sz="2000">
                    <a:solidFill>
                      <a:srgbClr val="142237"/>
                    </a:solidFill>
                  </a:defRPr>
                </a:pPr>
                <a14:m>
                  <m:oMathPara xmlns:m="http://schemas.openxmlformats.org/officeDocument/2006/math">
                    <m:oMath>
                      <m:sSub>
                        <m:sSubPr>
                          <m:ctrlPr>
                            <a:rPr lang="en-IN" i="1" dirty="0" smtClean="0">
                              <a:solidFill>
                                <a:schemeClr val="tx1"/>
                              </a:solidFill>
                              <a:latin typeface="Cambria Math" panose="02040503050406030204" pitchFamily="18" charset="0"/>
                              <a:ea typeface="Cambria Math" panose="02040503050406030204" pitchFamily="18" charset="0"/>
                            </a:rPr>
                          </m:ctrlPr>
                        </m:sSubPr>
                        <m:e>
                          <m:r>
                            <a:rPr lang="en-IN" i="1" dirty="0" smtClean="0">
                              <a:solidFill>
                                <a:schemeClr val="tx1"/>
                              </a:solidFill>
                              <a:latin typeface="Cambria Math" panose="02040503050406030204" pitchFamily="18" charset="0"/>
                              <a:ea typeface="Cambria Math" panose="02040503050406030204" pitchFamily="18" charset="0"/>
                            </a:rPr>
                            <m:t>𝑔</m:t>
                          </m:r>
                        </m:e>
                        <m:sub>
                          <m:r>
                            <a:rPr lang="en-US" b="0" i="1" dirty="0" smtClean="0">
                              <a:solidFill>
                                <a:schemeClr val="tx1"/>
                              </a:solidFill>
                              <a:latin typeface="Cambria Math" panose="02040503050406030204" pitchFamily="18" charset="0"/>
                              <a:ea typeface="Cambria Math" panose="02040503050406030204" pitchFamily="18" charset="0"/>
                            </a:rPr>
                            <m:t>𝑠</m:t>
                          </m:r>
                        </m:sub>
                      </m:sSub>
                      <m:r>
                        <a:rPr lang="en-IN" i="1" dirty="0">
                          <a:solidFill>
                            <a:schemeClr val="tx1"/>
                          </a:solidFill>
                          <a:latin typeface="Cambria Math" panose="02040503050406030204" pitchFamily="18" charset="0"/>
                          <a:ea typeface="Cambria Math" panose="02040503050406030204" pitchFamily="18" charset="0"/>
                        </a:rPr>
                        <m:t> = </m:t>
                      </m:r>
                      <m:r>
                        <a:rPr lang="en-IN" i="1" dirty="0">
                          <a:solidFill>
                            <a:schemeClr val="tx1"/>
                          </a:solidFill>
                          <a:latin typeface="Cambria Math" panose="02040503050406030204" pitchFamily="18" charset="0"/>
                          <a:ea typeface="Cambria Math" panose="02040503050406030204" pitchFamily="18" charset="0"/>
                        </a:rPr>
                        <m:t>𝑔</m:t>
                      </m:r>
                      <m:r>
                        <a:rPr lang="en-IN" i="1" dirty="0">
                          <a:solidFill>
                            <a:schemeClr val="tx1"/>
                          </a:solidFill>
                          <a:latin typeface="Cambria Math" panose="02040503050406030204" pitchFamily="18" charset="0"/>
                          <a:ea typeface="Cambria Math" panose="02040503050406030204" pitchFamily="18" charset="0"/>
                        </a:rPr>
                        <m:t> </m:t>
                      </m:r>
                      <m:d>
                        <m:dPr>
                          <m:begChr m:val="["/>
                          <m:endChr m:val="]"/>
                          <m:ctrlPr>
                            <a:rPr lang="en-IN" i="1" dirty="0">
                              <a:solidFill>
                                <a:schemeClr val="tx1"/>
                              </a:solidFill>
                              <a:latin typeface="Cambria Math" panose="02040503050406030204" pitchFamily="18" charset="0"/>
                              <a:ea typeface="Cambria Math" panose="02040503050406030204" pitchFamily="18" charset="0"/>
                            </a:rPr>
                          </m:ctrlPr>
                        </m:dPr>
                        <m:e>
                          <m:r>
                            <a:rPr lang="en-IN" i="1" dirty="0">
                              <a:solidFill>
                                <a:schemeClr val="tx1"/>
                              </a:solidFill>
                              <a:latin typeface="Cambria Math" panose="02040503050406030204" pitchFamily="18" charset="0"/>
                              <a:ea typeface="Cambria Math" panose="02040503050406030204" pitchFamily="18" charset="0"/>
                            </a:rPr>
                            <m:t>𝜉</m:t>
                          </m:r>
                          <m:r>
                            <a:rPr lang="en-US" b="0" i="1" dirty="0" smtClean="0">
                              <a:solidFill>
                                <a:schemeClr val="tx1"/>
                              </a:solidFill>
                              <a:latin typeface="Cambria Math" panose="02040503050406030204" pitchFamily="18" charset="0"/>
                              <a:ea typeface="Cambria Math" panose="02040503050406030204" pitchFamily="18" charset="0"/>
                            </a:rPr>
                            <m:t>𝑥</m:t>
                          </m:r>
                        </m:e>
                      </m:d>
                    </m:oMath>
                  </m:oMathPara>
                </a14:m>
                <a:endParaRPr lang="en-US" b="0" i="1" dirty="0">
                  <a:solidFill>
                    <a:schemeClr val="tx1"/>
                  </a:solidFill>
                  <a:latin typeface="Cambria Math" panose="02040503050406030204" pitchFamily="18" charset="0"/>
                  <a:ea typeface="Cambria Math" panose="02040503050406030204" pitchFamily="18" charset="0"/>
                </a:endParaRPr>
              </a:p>
              <a:p>
                <a:pPr algn="ctr">
                  <a:defRPr sz="2000">
                    <a:solidFill>
                      <a:srgbClr val="142237"/>
                    </a:solidFill>
                  </a:defRPr>
                </a:pPr>
                <a14:m>
                  <m:oMathPara xmlns:m="http://schemas.openxmlformats.org/officeDocument/2006/math">
                    <m:oMath>
                      <m:r>
                        <a:rPr lang="en-IN" i="1" dirty="0">
                          <a:solidFill>
                            <a:schemeClr val="tx1"/>
                          </a:solidFill>
                          <a:latin typeface="Cambria Math" panose="02040503050406030204" pitchFamily="18" charset="0"/>
                          <a:ea typeface="Cambria Math" panose="02040503050406030204" pitchFamily="18" charset="0"/>
                        </a:rPr>
                        <m:t>𝑔</m:t>
                      </m:r>
                      <m:r>
                        <a:rPr lang="en-US" b="0" i="1" dirty="0" smtClean="0">
                          <a:solidFill>
                            <a:schemeClr val="tx1"/>
                          </a:solidFill>
                          <a:latin typeface="Cambria Math" panose="02040503050406030204" pitchFamily="18" charset="0"/>
                          <a:ea typeface="Cambria Math" panose="02040503050406030204" pitchFamily="18" charset="0"/>
                        </a:rPr>
                        <m:t>=</m:t>
                      </m:r>
                      <m:d>
                        <m:dPr>
                          <m:begChr m:val="["/>
                          <m:endChr m:val="]"/>
                          <m:ctrlPr>
                            <a:rPr lang="en-IN" b="0" i="1" dirty="0"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IN" b="0" i="1" dirty="0" smtClean="0">
                                  <a:solidFill>
                                    <a:schemeClr val="tx1"/>
                                  </a:solidFill>
                                  <a:latin typeface="Cambria Math" panose="02040503050406030204" pitchFamily="18" charset="0"/>
                                  <a:ea typeface="Cambria Math" panose="02040503050406030204" pitchFamily="18" charset="0"/>
                                </a:rPr>
                              </m:ctrlPr>
                            </m:mPr>
                            <m:mr>
                              <m:e>
                                <m:r>
                                  <m:rPr>
                                    <m:brk m:alnAt="7"/>
                                  </m:rPr>
                                  <a:rPr lang="en-US" b="0" i="1" dirty="0" smtClean="0">
                                    <a:solidFill>
                                      <a:schemeClr val="tx1"/>
                                    </a:solidFill>
                                    <a:latin typeface="Cambria Math" panose="02040503050406030204" pitchFamily="18" charset="0"/>
                                    <a:ea typeface="Cambria Math" panose="02040503050406030204" pitchFamily="18" charset="0"/>
                                  </a:rPr>
                                  <m:t>𝑅</m:t>
                                </m:r>
                              </m:e>
                              <m:e>
                                <m:r>
                                  <a:rPr lang="en-US" b="0" i="1" dirty="0" smtClean="0">
                                    <a:solidFill>
                                      <a:schemeClr val="tx1"/>
                                    </a:solidFill>
                                    <a:latin typeface="Cambria Math" panose="02040503050406030204" pitchFamily="18" charset="0"/>
                                    <a:ea typeface="Cambria Math" panose="02040503050406030204" pitchFamily="18" charset="0"/>
                                  </a:rPr>
                                  <m:t>𝑟</m:t>
                                </m:r>
                              </m:e>
                            </m:mr>
                            <m:mr>
                              <m:e>
                                <m:r>
                                  <a:rPr lang="en-US" b="0" i="1" dirty="0" smtClean="0">
                                    <a:solidFill>
                                      <a:schemeClr val="tx1"/>
                                    </a:solidFill>
                                    <a:latin typeface="Cambria Math" panose="02040503050406030204" pitchFamily="18" charset="0"/>
                                    <a:ea typeface="Cambria Math" panose="02040503050406030204" pitchFamily="18" charset="0"/>
                                  </a:rPr>
                                  <m:t>0</m:t>
                                </m:r>
                              </m:e>
                              <m:e>
                                <m:r>
                                  <a:rPr lang="en-US" b="0" i="1" dirty="0" smtClean="0">
                                    <a:solidFill>
                                      <a:schemeClr val="tx1"/>
                                    </a:solidFill>
                                    <a:latin typeface="Cambria Math" panose="02040503050406030204" pitchFamily="18" charset="0"/>
                                    <a:ea typeface="Cambria Math" panose="02040503050406030204" pitchFamily="18" charset="0"/>
                                  </a:rPr>
                                  <m:t>1</m:t>
                                </m:r>
                              </m:e>
                            </m:mr>
                          </m:m>
                        </m:e>
                      </m:d>
                      <m:r>
                        <a:rPr lang="en-US" b="0" i="1" dirty="0" smtClean="0">
                          <a:solidFill>
                            <a:schemeClr val="tx1"/>
                          </a:solidFill>
                          <a:latin typeface="Cambria Math" panose="02040503050406030204" pitchFamily="18" charset="0"/>
                          <a:ea typeface="Cambria Math" panose="02040503050406030204" pitchFamily="18" charset="0"/>
                        </a:rPr>
                        <m:t>,</m:t>
                      </m:r>
                      <m:r>
                        <a:rPr lang="el-GR" i="1" dirty="0">
                          <a:solidFill>
                            <a:schemeClr val="tx1"/>
                          </a:solidFill>
                          <a:latin typeface="Cambria Math" panose="02040503050406030204" pitchFamily="18" charset="0"/>
                          <a:ea typeface="Cambria Math" panose="02040503050406030204" pitchFamily="18" charset="0"/>
                        </a:rPr>
                        <m:t>𝜉</m:t>
                      </m:r>
                      <m:r>
                        <a:rPr lang="en-US" b="0" i="1" dirty="0" smtClean="0">
                          <a:solidFill>
                            <a:schemeClr val="tx1"/>
                          </a:solidFill>
                          <a:latin typeface="Cambria Math" panose="02040503050406030204" pitchFamily="18" charset="0"/>
                          <a:ea typeface="Cambria Math" panose="02040503050406030204" pitchFamily="18" charset="0"/>
                        </a:rPr>
                        <m:t>=</m:t>
                      </m:r>
                      <m:d>
                        <m:dPr>
                          <m:ctrlPr>
                            <a:rPr lang="en-US" b="0" i="1" dirty="0" smtClean="0">
                              <a:solidFill>
                                <a:schemeClr val="tx1"/>
                              </a:solidFill>
                              <a:latin typeface="Cambria Math" panose="02040503050406030204" pitchFamily="18" charset="0"/>
                              <a:ea typeface="Cambria Math" panose="02040503050406030204" pitchFamily="18" charset="0"/>
                            </a:rPr>
                          </m:ctrlPr>
                        </m:dPr>
                        <m:e>
                          <m:f>
                            <m:fPr>
                              <m:type m:val="noBar"/>
                              <m:ctrlPr>
                                <a:rPr lang="en-US" b="0" i="1" dirty="0" smtClean="0">
                                  <a:solidFill>
                                    <a:schemeClr val="tx1"/>
                                  </a:solidFill>
                                  <a:latin typeface="Cambria Math" panose="02040503050406030204" pitchFamily="18" charset="0"/>
                                  <a:ea typeface="Cambria Math" panose="02040503050406030204" pitchFamily="18" charset="0"/>
                                </a:rPr>
                              </m:ctrlPr>
                            </m:fPr>
                            <m:num>
                              <m:sSup>
                                <m:sSupPr>
                                  <m:ctrlPr>
                                    <a:rPr lang="en-US" b="0" i="1" dirty="0" smtClean="0">
                                      <a:solidFill>
                                        <a:schemeClr val="tx1"/>
                                      </a:solidFill>
                                      <a:latin typeface="Cambria Math" panose="02040503050406030204" pitchFamily="18" charset="0"/>
                                      <a:ea typeface="Cambria Math" panose="02040503050406030204" pitchFamily="18" charset="0"/>
                                    </a:rPr>
                                  </m:ctrlPr>
                                </m:sSupPr>
                                <m:e>
                                  <m:r>
                                    <a:rPr lang="en-US" b="0" i="1" dirty="0" smtClean="0">
                                      <a:solidFill>
                                        <a:schemeClr val="tx1"/>
                                      </a:solidFill>
                                      <a:latin typeface="Cambria Math" panose="02040503050406030204" pitchFamily="18" charset="0"/>
                                      <a:ea typeface="Cambria Math" panose="02040503050406030204" pitchFamily="18" charset="0"/>
                                    </a:rPr>
                                    <m:t>𝑢</m:t>
                                  </m:r>
                                </m:e>
                                <m:sup>
                                  <m:r>
                                    <a:rPr lang="en-US" b="0" i="1" dirty="0" smtClean="0">
                                      <a:solidFill>
                                        <a:schemeClr val="tx1"/>
                                      </a:solidFill>
                                      <a:latin typeface="Cambria Math" panose="02040503050406030204" pitchFamily="18" charset="0"/>
                                      <a:ea typeface="Cambria Math" panose="02040503050406030204" pitchFamily="18" charset="0"/>
                                    </a:rPr>
                                    <m:t>𝑇</m:t>
                                  </m:r>
                                </m:sup>
                              </m:sSup>
                            </m:num>
                            <m:den>
                              <m:sSup>
                                <m:sSupPr>
                                  <m:ctrlPr>
                                    <a:rPr lang="en-US" b="0" i="1" dirty="0" smtClean="0">
                                      <a:solidFill>
                                        <a:schemeClr val="tx1"/>
                                      </a:solidFill>
                                      <a:latin typeface="Cambria Math" panose="02040503050406030204" pitchFamily="18" charset="0"/>
                                      <a:ea typeface="Cambria Math" panose="02040503050406030204" pitchFamily="18" charset="0"/>
                                    </a:rPr>
                                  </m:ctrlPr>
                                </m:sSupPr>
                                <m:e>
                                  <m:r>
                                    <a:rPr lang="en-US" b="0" i="1" dirty="0" smtClean="0">
                                      <a:solidFill>
                                        <a:schemeClr val="tx1"/>
                                      </a:solidFill>
                                      <a:latin typeface="Cambria Math" panose="02040503050406030204" pitchFamily="18" charset="0"/>
                                      <a:ea typeface="Cambria Math" panose="02040503050406030204" pitchFamily="18" charset="0"/>
                                    </a:rPr>
                                    <m:t>𝑣</m:t>
                                  </m:r>
                                </m:e>
                                <m:sup>
                                  <m:r>
                                    <a:rPr lang="en-US" b="0" i="1" dirty="0" smtClean="0">
                                      <a:solidFill>
                                        <a:schemeClr val="tx1"/>
                                      </a:solidFill>
                                      <a:latin typeface="Cambria Math" panose="02040503050406030204" pitchFamily="18" charset="0"/>
                                      <a:ea typeface="Cambria Math" panose="02040503050406030204" pitchFamily="18" charset="0"/>
                                    </a:rPr>
                                    <m:t>𝑇</m:t>
                                  </m:r>
                                </m:sup>
                              </m:sSup>
                            </m:den>
                          </m:f>
                        </m:e>
                      </m:d>
                    </m:oMath>
                  </m:oMathPara>
                </a14:m>
                <a:endParaRPr lang="en-US" b="0" i="1" dirty="0">
                  <a:solidFill>
                    <a:schemeClr val="tx1"/>
                  </a:solidFill>
                  <a:latin typeface="Cambria Math" panose="02040503050406030204" pitchFamily="18" charset="0"/>
                  <a:ea typeface="Cambria Math" panose="020405030504060302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997616" y="1617293"/>
                <a:ext cx="2681760" cy="1097993"/>
              </a:xfrm>
              <a:prstGeom prst="rect">
                <a:avLst/>
              </a:prstGeom>
              <a:blipFill>
                <a:blip r:embed="rId3"/>
                <a:stretch>
                  <a:fillRect/>
                </a:stretch>
              </a:blipFill>
            </p:spPr>
            <p:txBody>
              <a:bodyPr/>
              <a:lstStyle/>
              <a:p>
                <a:r>
                  <a:rPr lang="en-IN">
                    <a:noFill/>
                  </a:rPr>
                  <a:t> </a:t>
                </a:r>
              </a:p>
            </p:txBody>
          </p:sp>
        </mc:Fallback>
      </mc:AlternateContent>
      <p:sp>
        <p:nvSpPr>
          <p:cNvPr id="9" name="TextBox 8"/>
          <p:cNvSpPr txBox="1"/>
          <p:nvPr/>
        </p:nvSpPr>
        <p:spPr>
          <a:xfrm>
            <a:off x="633549" y="2923672"/>
            <a:ext cx="10424160" cy="1446550"/>
          </a:xfrm>
          <a:prstGeom prst="rect">
            <a:avLst/>
          </a:prstGeom>
          <a:noFill/>
        </p:spPr>
        <p:txBody>
          <a:bodyPr wrap="square">
            <a:spAutoFit/>
          </a:bodyPr>
          <a:lstStyle/>
          <a:p>
            <a:pPr>
              <a:spcAft>
                <a:spcPts val="800"/>
              </a:spcAft>
              <a:defRPr sz="1700">
                <a:solidFill>
                  <a:srgbClr val="23282D"/>
                </a:solidFill>
              </a:defRPr>
            </a:pPr>
            <a:r>
              <a:rPr dirty="0">
                <a:latin typeface="Cambria Math" panose="02040503050406030204" pitchFamily="18" charset="0"/>
                <a:ea typeface="Cambria Math" panose="02040503050406030204" pitchFamily="18" charset="0"/>
              </a:rPr>
              <a:t>• Instead of discretizing the pose field directly, discretize the distributed strain field.</a:t>
            </a:r>
          </a:p>
          <a:p>
            <a:pPr>
              <a:spcAft>
                <a:spcPts val="800"/>
              </a:spcAft>
              <a:defRPr sz="1700">
                <a:solidFill>
                  <a:srgbClr val="23282D"/>
                </a:solidFill>
              </a:defRPr>
            </a:pPr>
            <a:r>
              <a:rPr dirty="0">
                <a:latin typeface="Cambria Math" panose="02040503050406030204" pitchFamily="18" charset="0"/>
                <a:ea typeface="Cambria Math" panose="02040503050406030204" pitchFamily="18" charset="0"/>
              </a:rPr>
              <a:t>• q is the reduced generalized-coordinate vector.</a:t>
            </a:r>
          </a:p>
          <a:p>
            <a:pPr>
              <a:spcAft>
                <a:spcPts val="800"/>
              </a:spcAft>
              <a:defRPr sz="1700">
                <a:solidFill>
                  <a:srgbClr val="23282D"/>
                </a:solidFill>
              </a:defRPr>
            </a:pPr>
            <a:r>
              <a:rPr dirty="0">
                <a:latin typeface="Cambria Math" panose="02040503050406030204" pitchFamily="18" charset="0"/>
                <a:ea typeface="Cambria Math" panose="02040503050406030204" pitchFamily="18" charset="0"/>
              </a:rPr>
              <a:t>• Φ(X) contains basis functions; basis choice determines where and how q changes the strain.</a:t>
            </a:r>
          </a:p>
          <a:p>
            <a:pPr>
              <a:spcAft>
                <a:spcPts val="800"/>
              </a:spcAft>
              <a:defRPr sz="1700">
                <a:solidFill>
                  <a:srgbClr val="23282D"/>
                </a:solidFill>
              </a:defRPr>
            </a:pPr>
            <a:r>
              <a:rPr dirty="0">
                <a:latin typeface="Cambria Math" panose="02040503050406030204" pitchFamily="18" charset="0"/>
                <a:ea typeface="Cambria Math" panose="02040503050406030204" pitchFamily="18" charset="0"/>
              </a:rPr>
              <a:t>• Independent bases do not depend on </a:t>
            </a:r>
            <a:r>
              <a:rPr dirty="0" err="1">
                <a:latin typeface="Cambria Math" panose="02040503050406030204" pitchFamily="18" charset="0"/>
                <a:ea typeface="Cambria Math" panose="02040503050406030204" pitchFamily="18" charset="0"/>
              </a:rPr>
              <a:t>q,t</a:t>
            </a:r>
            <a:r>
              <a:rPr dirty="0">
                <a:latin typeface="Cambria Math" panose="02040503050406030204" pitchFamily="18" charset="0"/>
                <a:ea typeface="Cambria Math" panose="02040503050406030204" pitchFamily="18" charset="0"/>
              </a:rPr>
              <a:t>; dependent bases may be nonlinear and time-dependent.</a:t>
            </a:r>
          </a:p>
        </p:txBody>
      </p:sp>
      <p:sp>
        <p:nvSpPr>
          <p:cNvPr id="10" name="TextBox 9"/>
          <p:cNvSpPr txBox="1"/>
          <p:nvPr/>
        </p:nvSpPr>
        <p:spPr>
          <a:xfrm>
            <a:off x="11391414" y="6473952"/>
            <a:ext cx="312906" cy="230832"/>
          </a:xfrm>
          <a:prstGeom prst="rect">
            <a:avLst/>
          </a:prstGeom>
          <a:noFill/>
        </p:spPr>
        <p:txBody>
          <a:bodyPr wrap="none">
            <a:spAutoFit/>
          </a:bodyPr>
          <a:lstStyle/>
          <a:p>
            <a:pPr algn="r">
              <a:defRPr sz="900">
                <a:solidFill>
                  <a:srgbClr val="5A6978"/>
                </a:solidFill>
              </a:defRPr>
            </a:pPr>
            <a:r>
              <a:rPr>
                <a:latin typeface="Cambria Math" panose="02040503050406030204" pitchFamily="18" charset="0"/>
                <a:ea typeface="Cambria Math" panose="02040503050406030204" pitchFamily="18" charset="0"/>
              </a:rPr>
              <a:t>10</a:t>
            </a:r>
          </a:p>
        </p:txBody>
      </p:sp>
    </p:spTree>
    <p:extLst>
      <p:ext uri="{BB962C8B-B14F-4D97-AF65-F5344CB8AC3E}">
        <p14:creationId xmlns:p14="http://schemas.microsoft.com/office/powerpoint/2010/main" val="351600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6425157" cy="523220"/>
          </a:xfrm>
          <a:prstGeom prst="rect">
            <a:avLst/>
          </a:prstGeom>
          <a:noFill/>
        </p:spPr>
        <p:txBody>
          <a:bodyPr wrap="none">
            <a:spAutoFit/>
          </a:bodyPr>
          <a:lstStyle/>
          <a:p>
            <a:pPr>
              <a:defRPr sz="2800" b="1">
                <a:solidFill>
                  <a:srgbClr val="142237"/>
                </a:solidFill>
              </a:defRPr>
            </a:pPr>
            <a:r>
              <a:rPr dirty="0">
                <a:latin typeface="Cambria Math" panose="02040503050406030204" pitchFamily="18" charset="0"/>
                <a:ea typeface="Cambria Math" panose="02040503050406030204" pitchFamily="18" charset="0"/>
              </a:rPr>
              <a:t>Forward kinematics of the reduced model</a:t>
            </a:r>
          </a:p>
        </p:txBody>
      </p:sp>
      <p:sp>
        <p:nvSpPr>
          <p:cNvPr id="4" name="TextBox 3"/>
          <p:cNvSpPr txBox="1"/>
          <p:nvPr/>
        </p:nvSpPr>
        <p:spPr>
          <a:xfrm>
            <a:off x="530352" y="841248"/>
            <a:ext cx="1745991" cy="276999"/>
          </a:xfrm>
          <a:prstGeom prst="rect">
            <a:avLst/>
          </a:prstGeom>
          <a:noFill/>
        </p:spPr>
        <p:txBody>
          <a:bodyPr wrap="none">
            <a:spAutoFit/>
          </a:bodyPr>
          <a:lstStyle/>
          <a:p>
            <a:pPr>
              <a:defRPr sz="1200">
                <a:solidFill>
                  <a:srgbClr val="5A6978"/>
                </a:solidFill>
              </a:defRPr>
            </a:pPr>
            <a:r>
              <a:rPr>
                <a:latin typeface="Cambria Math" panose="02040503050406030204" pitchFamily="18" charset="0"/>
                <a:ea typeface="Cambria Math" panose="02040503050406030204" pitchFamily="18" charset="0"/>
              </a:rPr>
              <a:t>From q → strain → pose</a:t>
            </a:r>
          </a:p>
        </p:txBody>
      </p:sp>
      <p:sp>
        <p:nvSpPr>
          <p:cNvPr id="6" name="TextBox 5"/>
          <p:cNvSpPr txBox="1"/>
          <p:nvPr/>
        </p:nvSpPr>
        <p:spPr>
          <a:xfrm>
            <a:off x="3774680" y="1170432"/>
            <a:ext cx="4612160" cy="400110"/>
          </a:xfrm>
          <a:prstGeom prst="rect">
            <a:avLst/>
          </a:prstGeom>
          <a:noFill/>
        </p:spPr>
        <p:txBody>
          <a:bodyPr wrap="none">
            <a:spAutoFit/>
          </a:bodyPr>
          <a:lstStyle/>
          <a:p>
            <a:pPr algn="ctr">
              <a:defRPr sz="2000">
                <a:solidFill>
                  <a:srgbClr val="142237"/>
                </a:solidFill>
              </a:defRPr>
            </a:pPr>
            <a:r>
              <a:rPr>
                <a:latin typeface="Cambria Math" panose="02040503050406030204" pitchFamily="18" charset="0"/>
                <a:ea typeface="Cambria Math" panose="02040503050406030204" pitchFamily="18" charset="0"/>
              </a:rPr>
              <a:t>q → ξ(X,q,t) → g(X) ∈ SE(3) → p(X), R(X)</a:t>
            </a:r>
          </a:p>
        </p:txBody>
      </p:sp>
      <p:sp>
        <p:nvSpPr>
          <p:cNvPr id="8" name="TextBox 7"/>
          <p:cNvSpPr txBox="1"/>
          <p:nvPr/>
        </p:nvSpPr>
        <p:spPr>
          <a:xfrm>
            <a:off x="4455155" y="1993392"/>
            <a:ext cx="3251210" cy="400110"/>
          </a:xfrm>
          <a:prstGeom prst="rect">
            <a:avLst/>
          </a:prstGeom>
          <a:noFill/>
        </p:spPr>
        <p:txBody>
          <a:bodyPr wrap="none">
            <a:spAutoFit/>
          </a:bodyPr>
          <a:lstStyle/>
          <a:p>
            <a:pPr algn="ctr">
              <a:defRPr sz="2000">
                <a:solidFill>
                  <a:srgbClr val="142237"/>
                </a:solidFill>
              </a:defRPr>
            </a:pPr>
            <a:r>
              <a:rPr>
                <a:latin typeface="Cambria Math" panose="02040503050406030204" pitchFamily="18" charset="0"/>
                <a:ea typeface="Cambria Math" panose="02040503050406030204" pitchFamily="18" charset="0"/>
              </a:rPr>
              <a:t>g(X+h) = g(X) exp(V(h)^∧)</a:t>
            </a:r>
          </a:p>
        </p:txBody>
      </p:sp>
      <p:sp>
        <p:nvSpPr>
          <p:cNvPr id="9" name="TextBox 8"/>
          <p:cNvSpPr txBox="1"/>
          <p:nvPr/>
        </p:nvSpPr>
        <p:spPr>
          <a:xfrm>
            <a:off x="502920" y="2562094"/>
            <a:ext cx="10424160" cy="718145"/>
          </a:xfrm>
          <a:prstGeom prst="rect">
            <a:avLst/>
          </a:prstGeom>
          <a:noFill/>
        </p:spPr>
        <p:txBody>
          <a:bodyPr wrap="square">
            <a:spAutoFit/>
          </a:bodyPr>
          <a:lstStyle/>
          <a:p>
            <a:pPr>
              <a:spcAft>
                <a:spcPts val="800"/>
              </a:spcAft>
              <a:defRPr sz="1700">
                <a:solidFill>
                  <a:srgbClr val="23282D"/>
                </a:solidFill>
              </a:defRPr>
            </a:pPr>
            <a:r>
              <a:rPr dirty="0">
                <a:latin typeface="Cambria Math" panose="02040503050406030204" pitchFamily="18" charset="0"/>
                <a:ea typeface="Cambria Math" panose="02040503050406030204" pitchFamily="18" charset="0"/>
              </a:rPr>
              <a:t>• For variable strain, the GVS paper uses a Magnus-expansion-based recursive spatial integration.</a:t>
            </a:r>
          </a:p>
          <a:p>
            <a:pPr>
              <a:spcAft>
                <a:spcPts val="800"/>
              </a:spcAft>
              <a:defRPr sz="1700">
                <a:solidFill>
                  <a:srgbClr val="23282D"/>
                </a:solidFill>
              </a:defRPr>
            </a:pPr>
            <a:r>
              <a:rPr dirty="0">
                <a:latin typeface="Cambria Math" panose="02040503050406030204" pitchFamily="18" charset="0"/>
                <a:ea typeface="Cambria Math" panose="02040503050406030204" pitchFamily="18" charset="0"/>
              </a:rPr>
              <a:t>• The rod is subdivided into small intervals; each interval contributes an exponential-map update.</a:t>
            </a:r>
          </a:p>
        </p:txBody>
      </p:sp>
      <p:sp>
        <p:nvSpPr>
          <p:cNvPr id="10" name="TextBox 9"/>
          <p:cNvSpPr txBox="1"/>
          <p:nvPr/>
        </p:nvSpPr>
        <p:spPr>
          <a:xfrm>
            <a:off x="11391414" y="6473952"/>
            <a:ext cx="312906" cy="230832"/>
          </a:xfrm>
          <a:prstGeom prst="rect">
            <a:avLst/>
          </a:prstGeom>
          <a:noFill/>
        </p:spPr>
        <p:txBody>
          <a:bodyPr wrap="none">
            <a:spAutoFit/>
          </a:bodyPr>
          <a:lstStyle/>
          <a:p>
            <a:pPr algn="r">
              <a:defRPr sz="900">
                <a:solidFill>
                  <a:srgbClr val="5A6978"/>
                </a:solidFill>
              </a:defRPr>
            </a:pPr>
            <a:r>
              <a:rPr>
                <a:latin typeface="Cambria Math" panose="02040503050406030204" pitchFamily="18" charset="0"/>
                <a:ea typeface="Cambria Math" panose="02040503050406030204" pitchFamily="18" charset="0"/>
              </a:rPr>
              <a:t>16</a:t>
            </a:r>
          </a:p>
        </p:txBody>
      </p:sp>
      <p:pic>
        <p:nvPicPr>
          <p:cNvPr id="14" name="Picture 13" descr="The image presents a comparison of various numerical methods for solving differential equations, highlighting aspects such as geometric accuracy, computational cost, and the impact of step size on precision and physical validity.&#10;&#10;AI-generated content may be incorrect.">
            <a:extLst>
              <a:ext uri="{FF2B5EF4-FFF2-40B4-BE49-F238E27FC236}">
                <a16:creationId xmlns:a16="http://schemas.microsoft.com/office/drawing/2014/main" id="{8BD63E0D-1919-1EAD-F789-439C1CD66FE9}"/>
              </a:ext>
            </a:extLst>
          </p:cNvPr>
          <p:cNvPicPr>
            <a:picLocks noChangeAspect="1"/>
          </p:cNvPicPr>
          <p:nvPr/>
        </p:nvPicPr>
        <p:blipFill>
          <a:blip r:embed="rId2"/>
          <a:stretch>
            <a:fillRect/>
          </a:stretch>
        </p:blipFill>
        <p:spPr>
          <a:xfrm>
            <a:off x="640080" y="3416900"/>
            <a:ext cx="7439609" cy="2908719"/>
          </a:xfrm>
          <a:prstGeom prst="rect">
            <a:avLst/>
          </a:prstGeom>
        </p:spPr>
      </p:pic>
    </p:spTree>
    <p:extLst>
      <p:ext uri="{BB962C8B-B14F-4D97-AF65-F5344CB8AC3E}">
        <p14:creationId xmlns:p14="http://schemas.microsoft.com/office/powerpoint/2010/main" val="324317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3124573" cy="523220"/>
          </a:xfrm>
          <a:prstGeom prst="rect">
            <a:avLst/>
          </a:prstGeom>
          <a:noFill/>
        </p:spPr>
        <p:txBody>
          <a:bodyPr wrap="none">
            <a:spAutoFit/>
          </a:bodyPr>
          <a:lstStyle/>
          <a:p>
            <a:pPr>
              <a:defRPr sz="2800" b="1">
                <a:solidFill>
                  <a:srgbClr val="142237"/>
                </a:solidFill>
              </a:defRPr>
            </a:pPr>
            <a:r>
              <a:rPr dirty="0"/>
              <a:t>Geometric Jacobian</a:t>
            </a:r>
          </a:p>
        </p:txBody>
      </p:sp>
      <p:sp>
        <p:nvSpPr>
          <p:cNvPr id="6" name="TextBox 5"/>
          <p:cNvSpPr txBox="1"/>
          <p:nvPr/>
        </p:nvSpPr>
        <p:spPr>
          <a:xfrm>
            <a:off x="271272" y="351865"/>
            <a:ext cx="10515600" cy="475488"/>
          </a:xfrm>
          <a:prstGeom prst="rect">
            <a:avLst/>
          </a:prstGeom>
          <a:noFill/>
        </p:spPr>
        <p:txBody>
          <a:bodyPr wrap="none">
            <a:spAutoFit/>
          </a:bodyPr>
          <a:lstStyle/>
          <a:p>
            <a:pPr algn="ctr">
              <a:defRPr sz="2000">
                <a:solidFill>
                  <a:srgbClr val="142237"/>
                </a:solidFill>
              </a:defRPr>
            </a:pPr>
            <a:r>
              <a:rPr dirty="0"/>
              <a:t>η(</a:t>
            </a:r>
            <a:r>
              <a:rPr dirty="0" err="1"/>
              <a:t>X,q,q̇,t</a:t>
            </a:r>
            <a:r>
              <a:rPr dirty="0"/>
              <a:t>) = J(</a:t>
            </a:r>
            <a:r>
              <a:rPr dirty="0" err="1"/>
              <a:t>X,q,t</a:t>
            </a:r>
            <a:r>
              <a:rPr dirty="0"/>
              <a:t>) q̇ + ηᵗ(</a:t>
            </a:r>
            <a:r>
              <a:rPr dirty="0" err="1"/>
              <a:t>X,q,t</a:t>
            </a:r>
            <a:r>
              <a:rPr dirty="0"/>
              <a:t>)</a:t>
            </a:r>
          </a:p>
        </p:txBody>
      </p:sp>
      <p:sp>
        <p:nvSpPr>
          <p:cNvPr id="8" name="TextBox 7"/>
          <p:cNvSpPr txBox="1"/>
          <p:nvPr/>
        </p:nvSpPr>
        <p:spPr>
          <a:xfrm>
            <a:off x="271272" y="784004"/>
            <a:ext cx="10515600" cy="475488"/>
          </a:xfrm>
          <a:prstGeom prst="rect">
            <a:avLst/>
          </a:prstGeom>
          <a:noFill/>
        </p:spPr>
        <p:txBody>
          <a:bodyPr wrap="none">
            <a:spAutoFit/>
          </a:bodyPr>
          <a:lstStyle/>
          <a:p>
            <a:pPr algn="ctr">
              <a:defRPr sz="2000">
                <a:solidFill>
                  <a:srgbClr val="142237"/>
                </a:solidFill>
              </a:defRPr>
            </a:pPr>
            <a:r>
              <a:rPr dirty="0"/>
              <a:t>η̇ = J q̈ + Z q̇ + ζᵗ</a:t>
            </a:r>
          </a:p>
        </p:txBody>
      </p:sp>
      <p:sp>
        <p:nvSpPr>
          <p:cNvPr id="9" name="TextBox 8"/>
          <p:cNvSpPr txBox="1"/>
          <p:nvPr/>
        </p:nvSpPr>
        <p:spPr>
          <a:xfrm>
            <a:off x="646176" y="1209060"/>
            <a:ext cx="10424160" cy="2286000"/>
          </a:xfrm>
          <a:prstGeom prst="rect">
            <a:avLst/>
          </a:prstGeom>
          <a:noFill/>
        </p:spPr>
        <p:txBody>
          <a:bodyPr wrap="square">
            <a:spAutoFit/>
          </a:bodyPr>
          <a:lstStyle/>
          <a:p>
            <a:pPr>
              <a:spcAft>
                <a:spcPts val="800"/>
              </a:spcAft>
              <a:defRPr sz="1700">
                <a:solidFill>
                  <a:srgbClr val="23282D"/>
                </a:solidFill>
              </a:defRPr>
            </a:pPr>
            <a:r>
              <a:rPr dirty="0"/>
              <a:t>• J(X) ∈ R⁶×ⁿˡᵒᵈ maps generalized velocity to local body velocity twist.</a:t>
            </a:r>
          </a:p>
          <a:p>
            <a:pPr>
              <a:spcAft>
                <a:spcPts val="800"/>
              </a:spcAft>
              <a:defRPr sz="1700">
                <a:solidFill>
                  <a:srgbClr val="23282D"/>
                </a:solidFill>
              </a:defRPr>
            </a:pPr>
            <a:r>
              <a:rPr dirty="0"/>
              <a:t>• For independent bases: η = J q̇ and Z = J̇.</a:t>
            </a:r>
          </a:p>
          <a:p>
            <a:pPr>
              <a:spcAft>
                <a:spcPts val="800"/>
              </a:spcAft>
              <a:defRPr sz="1700">
                <a:solidFill>
                  <a:srgbClr val="23282D"/>
                </a:solidFill>
              </a:defRPr>
            </a:pPr>
            <a:r>
              <a:rPr dirty="0"/>
              <a:t>• For dependent bases, explicit time dependence introduces ηᵗ and ζᵗ.</a:t>
            </a:r>
          </a:p>
          <a:p>
            <a:pPr>
              <a:spcAft>
                <a:spcPts val="800"/>
              </a:spcAft>
              <a:defRPr sz="1700">
                <a:solidFill>
                  <a:srgbClr val="23282D"/>
                </a:solidFill>
              </a:defRPr>
            </a:pPr>
            <a:r>
              <a:rPr dirty="0"/>
              <a:t>• The Jacobian is evaluated at the spatial integration points used to build the dynamics.</a:t>
            </a:r>
          </a:p>
        </p:txBody>
      </p:sp>
      <p:sp>
        <p:nvSpPr>
          <p:cNvPr id="10" name="TextBox 9"/>
          <p:cNvSpPr txBox="1"/>
          <p:nvPr/>
        </p:nvSpPr>
        <p:spPr>
          <a:xfrm>
            <a:off x="10789920" y="6473952"/>
            <a:ext cx="914400" cy="228600"/>
          </a:xfrm>
          <a:prstGeom prst="rect">
            <a:avLst/>
          </a:prstGeom>
          <a:noFill/>
        </p:spPr>
        <p:txBody>
          <a:bodyPr wrap="none">
            <a:spAutoFit/>
          </a:bodyPr>
          <a:lstStyle/>
          <a:p>
            <a:pPr algn="r">
              <a:defRPr sz="900">
                <a:solidFill>
                  <a:srgbClr val="5A6978"/>
                </a:solidFill>
              </a:defRPr>
            </a:pPr>
            <a:r>
              <a:t>17</a:t>
            </a:r>
          </a:p>
        </p:txBody>
      </p:sp>
      <p:sp>
        <p:nvSpPr>
          <p:cNvPr id="12" name="TextBox 11">
            <a:extLst>
              <a:ext uri="{FF2B5EF4-FFF2-40B4-BE49-F238E27FC236}">
                <a16:creationId xmlns:a16="http://schemas.microsoft.com/office/drawing/2014/main" id="{B2438A16-CA25-DCB3-A92C-9BE0ADE1E2E0}"/>
              </a:ext>
            </a:extLst>
          </p:cNvPr>
          <p:cNvSpPr txBox="1"/>
          <p:nvPr/>
        </p:nvSpPr>
        <p:spPr>
          <a:xfrm>
            <a:off x="554736" y="2668776"/>
            <a:ext cx="3897221" cy="523220"/>
          </a:xfrm>
          <a:prstGeom prst="rect">
            <a:avLst/>
          </a:prstGeom>
          <a:noFill/>
        </p:spPr>
        <p:txBody>
          <a:bodyPr wrap="none">
            <a:spAutoFit/>
          </a:bodyPr>
          <a:lstStyle/>
          <a:p>
            <a:pPr>
              <a:defRPr sz="2800" b="1">
                <a:solidFill>
                  <a:srgbClr val="142237"/>
                </a:solidFill>
              </a:defRPr>
            </a:pPr>
            <a:r>
              <a:rPr dirty="0"/>
              <a:t>Reduced-order dynamics</a:t>
            </a:r>
          </a:p>
        </p:txBody>
      </p:sp>
      <p:sp>
        <p:nvSpPr>
          <p:cNvPr id="14" name="Rounded Rectangle 4">
            <a:extLst>
              <a:ext uri="{FF2B5EF4-FFF2-40B4-BE49-F238E27FC236}">
                <a16:creationId xmlns:a16="http://schemas.microsoft.com/office/drawing/2014/main" id="{BA72551B-1654-3F3A-76E9-234A0D9EBCFC}"/>
              </a:ext>
            </a:extLst>
          </p:cNvPr>
          <p:cNvSpPr/>
          <p:nvPr/>
        </p:nvSpPr>
        <p:spPr>
          <a:xfrm>
            <a:off x="673608" y="3208272"/>
            <a:ext cx="10881360" cy="566928"/>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943194FB-FD3F-9FAC-CA03-5B3C310CBA07}"/>
              </a:ext>
            </a:extLst>
          </p:cNvPr>
          <p:cNvSpPr txBox="1"/>
          <p:nvPr/>
        </p:nvSpPr>
        <p:spPr>
          <a:xfrm>
            <a:off x="856488" y="3281424"/>
            <a:ext cx="10515600" cy="475488"/>
          </a:xfrm>
          <a:prstGeom prst="rect">
            <a:avLst/>
          </a:prstGeom>
          <a:noFill/>
        </p:spPr>
        <p:txBody>
          <a:bodyPr wrap="none">
            <a:spAutoFit/>
          </a:bodyPr>
          <a:lstStyle/>
          <a:p>
            <a:pPr algn="ctr">
              <a:defRPr sz="2000">
                <a:solidFill>
                  <a:srgbClr val="142237"/>
                </a:solidFill>
              </a:defRPr>
            </a:pPr>
            <a:r>
              <a:t>M(q)q̈ + C(q,q̇)q̇ + K(q) + Dq̇ = B(q)u + F(q,q̇,t)</a:t>
            </a:r>
          </a:p>
        </p:txBody>
      </p:sp>
      <p:sp>
        <p:nvSpPr>
          <p:cNvPr id="18" name="Rounded Rectangle 6">
            <a:extLst>
              <a:ext uri="{FF2B5EF4-FFF2-40B4-BE49-F238E27FC236}">
                <a16:creationId xmlns:a16="http://schemas.microsoft.com/office/drawing/2014/main" id="{EE67690C-7071-C73C-641D-D97DB4D153A1}"/>
              </a:ext>
            </a:extLst>
          </p:cNvPr>
          <p:cNvSpPr/>
          <p:nvPr/>
        </p:nvSpPr>
        <p:spPr>
          <a:xfrm>
            <a:off x="655320" y="3793487"/>
            <a:ext cx="10881360" cy="566928"/>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476A9D11-D0B1-5905-0741-30FC77103C32}"/>
              </a:ext>
            </a:extLst>
          </p:cNvPr>
          <p:cNvSpPr txBox="1"/>
          <p:nvPr/>
        </p:nvSpPr>
        <p:spPr>
          <a:xfrm>
            <a:off x="838200" y="3866639"/>
            <a:ext cx="10515600" cy="475488"/>
          </a:xfrm>
          <a:prstGeom prst="rect">
            <a:avLst/>
          </a:prstGeom>
          <a:noFill/>
        </p:spPr>
        <p:txBody>
          <a:bodyPr wrap="none">
            <a:spAutoFit/>
          </a:bodyPr>
          <a:lstStyle/>
          <a:p>
            <a:pPr algn="ctr">
              <a:defRPr sz="2000">
                <a:solidFill>
                  <a:srgbClr val="142237"/>
                </a:solidFill>
              </a:defRPr>
            </a:pPr>
            <a:r>
              <a:t>M = Σ∫ Jᵀ M_s J dX</a:t>
            </a:r>
          </a:p>
        </p:txBody>
      </p:sp>
      <p:sp>
        <p:nvSpPr>
          <p:cNvPr id="22" name="Rounded Rectangle 8">
            <a:extLst>
              <a:ext uri="{FF2B5EF4-FFF2-40B4-BE49-F238E27FC236}">
                <a16:creationId xmlns:a16="http://schemas.microsoft.com/office/drawing/2014/main" id="{938A72D2-46C3-3612-4D8B-F87A068FB0A0}"/>
              </a:ext>
            </a:extLst>
          </p:cNvPr>
          <p:cNvSpPr/>
          <p:nvPr/>
        </p:nvSpPr>
        <p:spPr>
          <a:xfrm>
            <a:off x="655320" y="4433567"/>
            <a:ext cx="10881360" cy="566928"/>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7924BBB7-0BF9-4FA0-BA53-F7CC10BA7B65}"/>
              </a:ext>
            </a:extLst>
          </p:cNvPr>
          <p:cNvSpPr txBox="1"/>
          <p:nvPr/>
        </p:nvSpPr>
        <p:spPr>
          <a:xfrm>
            <a:off x="838200" y="4506719"/>
            <a:ext cx="10515600" cy="475488"/>
          </a:xfrm>
          <a:prstGeom prst="rect">
            <a:avLst/>
          </a:prstGeom>
          <a:noFill/>
        </p:spPr>
        <p:txBody>
          <a:bodyPr wrap="none">
            <a:spAutoFit/>
          </a:bodyPr>
          <a:lstStyle/>
          <a:p>
            <a:pPr algn="ctr">
              <a:defRPr sz="2000">
                <a:solidFill>
                  <a:srgbClr val="142237"/>
                </a:solidFill>
              </a:defRPr>
            </a:pPr>
            <a:r>
              <a:t>C = Σ∫ Jᵀ(ad_η* M_s J + M_s J̇)dX</a:t>
            </a:r>
          </a:p>
        </p:txBody>
      </p:sp>
      <p:sp>
        <p:nvSpPr>
          <p:cNvPr id="26" name="Rounded Rectangle 10">
            <a:extLst>
              <a:ext uri="{FF2B5EF4-FFF2-40B4-BE49-F238E27FC236}">
                <a16:creationId xmlns:a16="http://schemas.microsoft.com/office/drawing/2014/main" id="{B3C6D6B9-4145-548E-094D-C5B91B385E97}"/>
              </a:ext>
            </a:extLst>
          </p:cNvPr>
          <p:cNvSpPr/>
          <p:nvPr/>
        </p:nvSpPr>
        <p:spPr>
          <a:xfrm>
            <a:off x="655320" y="5073647"/>
            <a:ext cx="10881360" cy="566928"/>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DDB28619-B818-5B74-8E54-D5575AD3B209}"/>
              </a:ext>
            </a:extLst>
          </p:cNvPr>
          <p:cNvSpPr txBox="1"/>
          <p:nvPr/>
        </p:nvSpPr>
        <p:spPr>
          <a:xfrm>
            <a:off x="838200" y="5146799"/>
            <a:ext cx="10515600" cy="475488"/>
          </a:xfrm>
          <a:prstGeom prst="rect">
            <a:avLst/>
          </a:prstGeom>
          <a:noFill/>
        </p:spPr>
        <p:txBody>
          <a:bodyPr wrap="none">
            <a:spAutoFit/>
          </a:bodyPr>
          <a:lstStyle/>
          <a:p>
            <a:pPr algn="ctr">
              <a:defRPr sz="2000">
                <a:solidFill>
                  <a:srgbClr val="142237"/>
                </a:solidFill>
              </a:defRPr>
            </a:pPr>
            <a:r>
              <a:t>K = Σ∫ Φᵀ Σ Φ dX,      D = Σ∫ Φᵀ Γ Φ dX</a:t>
            </a:r>
          </a:p>
        </p:txBody>
      </p:sp>
      <p:sp>
        <p:nvSpPr>
          <p:cNvPr id="30" name="TextBox 29">
            <a:extLst>
              <a:ext uri="{FF2B5EF4-FFF2-40B4-BE49-F238E27FC236}">
                <a16:creationId xmlns:a16="http://schemas.microsoft.com/office/drawing/2014/main" id="{AEB3B775-FE08-3121-98E0-7DD651C23191}"/>
              </a:ext>
            </a:extLst>
          </p:cNvPr>
          <p:cNvSpPr txBox="1"/>
          <p:nvPr/>
        </p:nvSpPr>
        <p:spPr>
          <a:xfrm>
            <a:off x="673608" y="5713727"/>
            <a:ext cx="10424160" cy="1554480"/>
          </a:xfrm>
          <a:prstGeom prst="rect">
            <a:avLst/>
          </a:prstGeom>
          <a:noFill/>
        </p:spPr>
        <p:txBody>
          <a:bodyPr wrap="square">
            <a:spAutoFit/>
          </a:bodyPr>
          <a:lstStyle/>
          <a:p>
            <a:pPr>
              <a:spcAft>
                <a:spcPts val="800"/>
              </a:spcAft>
              <a:defRPr sz="1500">
                <a:solidFill>
                  <a:srgbClr val="23282D"/>
                </a:solidFill>
              </a:defRPr>
            </a:pPr>
            <a:r>
              <a:rPr dirty="0"/>
              <a:t>• B maps tendon/actuator inputs into generalized forces; F contains external loads.</a:t>
            </a:r>
          </a:p>
          <a:p>
            <a:pPr>
              <a:spcAft>
                <a:spcPts val="800"/>
              </a:spcAft>
              <a:defRPr sz="1500">
                <a:solidFill>
                  <a:srgbClr val="23282D"/>
                </a:solidFill>
              </a:defRPr>
            </a:pPr>
            <a:r>
              <a:rPr dirty="0"/>
              <a:t>• Spatial integration accumulates contributions from every computational point.</a:t>
            </a:r>
          </a:p>
        </p:txBody>
      </p:sp>
      <p:sp>
        <p:nvSpPr>
          <p:cNvPr id="32" name="TextBox 31">
            <a:extLst>
              <a:ext uri="{FF2B5EF4-FFF2-40B4-BE49-F238E27FC236}">
                <a16:creationId xmlns:a16="http://schemas.microsoft.com/office/drawing/2014/main" id="{8642F540-0777-8A27-BC93-035C1D678CAD}"/>
              </a:ext>
            </a:extLst>
          </p:cNvPr>
          <p:cNvSpPr txBox="1"/>
          <p:nvPr/>
        </p:nvSpPr>
        <p:spPr>
          <a:xfrm>
            <a:off x="10558272" y="9767844"/>
            <a:ext cx="914400" cy="228600"/>
          </a:xfrm>
          <a:prstGeom prst="rect">
            <a:avLst/>
          </a:prstGeom>
          <a:noFill/>
        </p:spPr>
        <p:txBody>
          <a:bodyPr wrap="none">
            <a:spAutoFit/>
          </a:bodyPr>
          <a:lstStyle/>
          <a:p>
            <a:pPr algn="r">
              <a:defRPr sz="900">
                <a:solidFill>
                  <a:srgbClr val="5A6978"/>
                </a:solidFill>
              </a:defRPr>
            </a:pPr>
            <a:r>
              <a:t>18</a:t>
            </a:r>
          </a:p>
        </p:txBody>
      </p:sp>
    </p:spTree>
    <p:extLst>
      <p:ext uri="{BB962C8B-B14F-4D97-AF65-F5344CB8AC3E}">
        <p14:creationId xmlns:p14="http://schemas.microsoft.com/office/powerpoint/2010/main" val="558436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3" name="TextBox 2"/>
          <p:cNvSpPr txBox="1"/>
          <p:nvPr/>
        </p:nvSpPr>
        <p:spPr>
          <a:xfrm>
            <a:off x="502920" y="274320"/>
            <a:ext cx="7893508" cy="523220"/>
          </a:xfrm>
          <a:prstGeom prst="rect">
            <a:avLst/>
          </a:prstGeom>
          <a:noFill/>
        </p:spPr>
        <p:txBody>
          <a:bodyPr wrap="none">
            <a:spAutoFit/>
          </a:bodyPr>
          <a:lstStyle/>
          <a:p>
            <a:pPr>
              <a:defRPr sz="2800" b="1">
                <a:solidFill>
                  <a:srgbClr val="142237"/>
                </a:solidFill>
              </a:defRPr>
            </a:pPr>
            <a:r>
              <a:rPr dirty="0"/>
              <a:t>Computational loop implemented in the notebook</a:t>
            </a:r>
          </a:p>
        </p:txBody>
      </p:sp>
      <p:sp>
        <p:nvSpPr>
          <p:cNvPr id="5" name="Rounded Rectangle 4"/>
          <p:cNvSpPr/>
          <p:nvPr/>
        </p:nvSpPr>
        <p:spPr>
          <a:xfrm>
            <a:off x="640080" y="1325880"/>
            <a:ext cx="3246120" cy="1143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6" name="TextBox 5"/>
          <p:cNvSpPr txBox="1"/>
          <p:nvPr/>
        </p:nvSpPr>
        <p:spPr>
          <a:xfrm>
            <a:off x="777240" y="1435607"/>
            <a:ext cx="502920" cy="430887"/>
          </a:xfrm>
          <a:prstGeom prst="rect">
            <a:avLst/>
          </a:prstGeom>
          <a:noFill/>
        </p:spPr>
        <p:txBody>
          <a:bodyPr wrap="square">
            <a:spAutoFit/>
          </a:bodyPr>
          <a:lstStyle/>
          <a:p>
            <a:pPr algn="ctr">
              <a:defRPr sz="2200" b="1">
                <a:solidFill>
                  <a:srgbClr val="D27837"/>
                </a:solidFill>
              </a:defRPr>
            </a:pPr>
            <a:r>
              <a:t>1</a:t>
            </a:r>
          </a:p>
        </p:txBody>
      </p:sp>
      <p:sp>
        <p:nvSpPr>
          <p:cNvPr id="7" name="TextBox 6"/>
          <p:cNvSpPr txBox="1"/>
          <p:nvPr/>
        </p:nvSpPr>
        <p:spPr>
          <a:xfrm>
            <a:off x="1325880" y="1435607"/>
            <a:ext cx="2331720" cy="307777"/>
          </a:xfrm>
          <a:prstGeom prst="rect">
            <a:avLst/>
          </a:prstGeom>
          <a:noFill/>
        </p:spPr>
        <p:txBody>
          <a:bodyPr wrap="square">
            <a:spAutoFit/>
          </a:bodyPr>
          <a:lstStyle/>
          <a:p>
            <a:pPr algn="ctr">
              <a:defRPr sz="1400" b="1">
                <a:solidFill>
                  <a:srgbClr val="142237"/>
                </a:solidFill>
              </a:defRPr>
            </a:pPr>
            <a:r>
              <a:t>q, q̇, t</a:t>
            </a:r>
          </a:p>
        </p:txBody>
      </p:sp>
      <p:sp>
        <p:nvSpPr>
          <p:cNvPr id="8" name="Rounded Rectangle 7"/>
          <p:cNvSpPr/>
          <p:nvPr/>
        </p:nvSpPr>
        <p:spPr>
          <a:xfrm>
            <a:off x="4434840" y="1325880"/>
            <a:ext cx="3246120" cy="1143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9" name="TextBox 8"/>
          <p:cNvSpPr txBox="1"/>
          <p:nvPr/>
        </p:nvSpPr>
        <p:spPr>
          <a:xfrm>
            <a:off x="4572000" y="1435607"/>
            <a:ext cx="502920" cy="430887"/>
          </a:xfrm>
          <a:prstGeom prst="rect">
            <a:avLst/>
          </a:prstGeom>
          <a:noFill/>
        </p:spPr>
        <p:txBody>
          <a:bodyPr wrap="square">
            <a:spAutoFit/>
          </a:bodyPr>
          <a:lstStyle/>
          <a:p>
            <a:pPr algn="ctr">
              <a:defRPr sz="2200" b="1">
                <a:solidFill>
                  <a:srgbClr val="D27837"/>
                </a:solidFill>
              </a:defRPr>
            </a:pPr>
            <a:r>
              <a:t>2</a:t>
            </a:r>
          </a:p>
        </p:txBody>
      </p:sp>
      <p:sp>
        <p:nvSpPr>
          <p:cNvPr id="10" name="TextBox 9"/>
          <p:cNvSpPr txBox="1"/>
          <p:nvPr/>
        </p:nvSpPr>
        <p:spPr>
          <a:xfrm>
            <a:off x="5120640" y="1435607"/>
            <a:ext cx="2331720" cy="307777"/>
          </a:xfrm>
          <a:prstGeom prst="rect">
            <a:avLst/>
          </a:prstGeom>
          <a:noFill/>
        </p:spPr>
        <p:txBody>
          <a:bodyPr wrap="square">
            <a:spAutoFit/>
          </a:bodyPr>
          <a:lstStyle/>
          <a:p>
            <a:pPr algn="ctr">
              <a:defRPr sz="1400" b="1">
                <a:solidFill>
                  <a:srgbClr val="142237"/>
                </a:solidFill>
              </a:defRPr>
            </a:pPr>
            <a:r>
              <a:t>initialize M,C,K,D,B,F</a:t>
            </a:r>
          </a:p>
        </p:txBody>
      </p:sp>
      <p:sp>
        <p:nvSpPr>
          <p:cNvPr id="11" name="Rounded Rectangle 10"/>
          <p:cNvSpPr/>
          <p:nvPr/>
        </p:nvSpPr>
        <p:spPr>
          <a:xfrm>
            <a:off x="8229600" y="1325880"/>
            <a:ext cx="3246120" cy="1143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12" name="TextBox 11"/>
          <p:cNvSpPr txBox="1"/>
          <p:nvPr/>
        </p:nvSpPr>
        <p:spPr>
          <a:xfrm>
            <a:off x="8366760" y="1435607"/>
            <a:ext cx="502920" cy="430887"/>
          </a:xfrm>
          <a:prstGeom prst="rect">
            <a:avLst/>
          </a:prstGeom>
          <a:noFill/>
        </p:spPr>
        <p:txBody>
          <a:bodyPr wrap="square">
            <a:spAutoFit/>
          </a:bodyPr>
          <a:lstStyle/>
          <a:p>
            <a:pPr algn="ctr">
              <a:defRPr sz="2200" b="1">
                <a:solidFill>
                  <a:srgbClr val="D27837"/>
                </a:solidFill>
              </a:defRPr>
            </a:pPr>
            <a:r>
              <a:t>3</a:t>
            </a:r>
          </a:p>
        </p:txBody>
      </p:sp>
      <p:sp>
        <p:nvSpPr>
          <p:cNvPr id="13" name="TextBox 12"/>
          <p:cNvSpPr txBox="1"/>
          <p:nvPr/>
        </p:nvSpPr>
        <p:spPr>
          <a:xfrm>
            <a:off x="8915400" y="1435607"/>
            <a:ext cx="2331720" cy="307777"/>
          </a:xfrm>
          <a:prstGeom prst="rect">
            <a:avLst/>
          </a:prstGeom>
          <a:noFill/>
        </p:spPr>
        <p:txBody>
          <a:bodyPr wrap="square">
            <a:spAutoFit/>
          </a:bodyPr>
          <a:lstStyle/>
          <a:p>
            <a:pPr algn="ctr">
              <a:defRPr sz="1400" b="1">
                <a:solidFill>
                  <a:srgbClr val="142237"/>
                </a:solidFill>
              </a:defRPr>
            </a:pPr>
            <a:r>
              <a:t>spatially recurse g, J, η, J̇ / Z</a:t>
            </a:r>
          </a:p>
        </p:txBody>
      </p:sp>
      <p:sp>
        <p:nvSpPr>
          <p:cNvPr id="14" name="Rounded Rectangle 13"/>
          <p:cNvSpPr/>
          <p:nvPr/>
        </p:nvSpPr>
        <p:spPr>
          <a:xfrm>
            <a:off x="640080" y="3383280"/>
            <a:ext cx="3246120" cy="1143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15" name="TextBox 14"/>
          <p:cNvSpPr txBox="1"/>
          <p:nvPr/>
        </p:nvSpPr>
        <p:spPr>
          <a:xfrm>
            <a:off x="777240" y="3493008"/>
            <a:ext cx="502920" cy="430887"/>
          </a:xfrm>
          <a:prstGeom prst="rect">
            <a:avLst/>
          </a:prstGeom>
          <a:noFill/>
        </p:spPr>
        <p:txBody>
          <a:bodyPr wrap="square">
            <a:spAutoFit/>
          </a:bodyPr>
          <a:lstStyle/>
          <a:p>
            <a:pPr algn="ctr">
              <a:defRPr sz="2200" b="1">
                <a:solidFill>
                  <a:srgbClr val="D27837"/>
                </a:solidFill>
              </a:defRPr>
            </a:pPr>
            <a:r>
              <a:t>4</a:t>
            </a:r>
          </a:p>
        </p:txBody>
      </p:sp>
      <p:sp>
        <p:nvSpPr>
          <p:cNvPr id="16" name="TextBox 15"/>
          <p:cNvSpPr txBox="1"/>
          <p:nvPr/>
        </p:nvSpPr>
        <p:spPr>
          <a:xfrm>
            <a:off x="1325880" y="3493008"/>
            <a:ext cx="2331720" cy="738664"/>
          </a:xfrm>
          <a:prstGeom prst="rect">
            <a:avLst/>
          </a:prstGeom>
          <a:noFill/>
        </p:spPr>
        <p:txBody>
          <a:bodyPr wrap="square">
            <a:spAutoFit/>
          </a:bodyPr>
          <a:lstStyle/>
          <a:p>
            <a:pPr algn="ctr">
              <a:defRPr sz="1400" b="1">
                <a:solidFill>
                  <a:srgbClr val="142237"/>
                </a:solidFill>
              </a:defRPr>
            </a:pPr>
            <a:r>
              <a:rPr dirty="0"/>
              <a:t>integrate each contribution over X</a:t>
            </a:r>
            <a:endParaRPr lang="en-US" dirty="0"/>
          </a:p>
          <a:p>
            <a:pPr algn="ctr">
              <a:defRPr sz="1400" b="1">
                <a:solidFill>
                  <a:srgbClr val="142237"/>
                </a:solidFill>
              </a:defRPr>
            </a:pPr>
            <a:r>
              <a:rPr lang="en-IN" dirty="0"/>
              <a:t>Using magnus expansion</a:t>
            </a:r>
            <a:endParaRPr dirty="0"/>
          </a:p>
        </p:txBody>
      </p:sp>
      <p:sp>
        <p:nvSpPr>
          <p:cNvPr id="17" name="Rounded Rectangle 16"/>
          <p:cNvSpPr/>
          <p:nvPr/>
        </p:nvSpPr>
        <p:spPr>
          <a:xfrm>
            <a:off x="4434840" y="3383280"/>
            <a:ext cx="3246120" cy="1143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18" name="TextBox 17"/>
          <p:cNvSpPr txBox="1"/>
          <p:nvPr/>
        </p:nvSpPr>
        <p:spPr>
          <a:xfrm>
            <a:off x="4572000" y="3493008"/>
            <a:ext cx="502920" cy="430887"/>
          </a:xfrm>
          <a:prstGeom prst="rect">
            <a:avLst/>
          </a:prstGeom>
          <a:noFill/>
        </p:spPr>
        <p:txBody>
          <a:bodyPr wrap="square">
            <a:spAutoFit/>
          </a:bodyPr>
          <a:lstStyle/>
          <a:p>
            <a:pPr algn="ctr">
              <a:defRPr sz="2200" b="1">
                <a:solidFill>
                  <a:srgbClr val="D27837"/>
                </a:solidFill>
              </a:defRPr>
            </a:pPr>
            <a:r>
              <a:t>5</a:t>
            </a:r>
          </a:p>
        </p:txBody>
      </p:sp>
      <p:sp>
        <p:nvSpPr>
          <p:cNvPr id="19" name="TextBox 18"/>
          <p:cNvSpPr txBox="1"/>
          <p:nvPr/>
        </p:nvSpPr>
        <p:spPr>
          <a:xfrm>
            <a:off x="5120640" y="3493008"/>
            <a:ext cx="2331720" cy="523220"/>
          </a:xfrm>
          <a:prstGeom prst="rect">
            <a:avLst/>
          </a:prstGeom>
          <a:noFill/>
        </p:spPr>
        <p:txBody>
          <a:bodyPr wrap="square">
            <a:spAutoFit/>
          </a:bodyPr>
          <a:lstStyle/>
          <a:p>
            <a:pPr algn="ctr">
              <a:defRPr sz="1400" b="1">
                <a:solidFill>
                  <a:srgbClr val="142237"/>
                </a:solidFill>
              </a:defRPr>
            </a:pPr>
            <a:r>
              <a:t>solve q̈ = M⁻¹(Bu+F−Cq̇−K−Dq̇)</a:t>
            </a:r>
          </a:p>
        </p:txBody>
      </p:sp>
      <p:sp>
        <p:nvSpPr>
          <p:cNvPr id="20" name="Rounded Rectangle 19"/>
          <p:cNvSpPr/>
          <p:nvPr/>
        </p:nvSpPr>
        <p:spPr>
          <a:xfrm>
            <a:off x="8229600" y="3383280"/>
            <a:ext cx="3246120" cy="1143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a:solidFill>
                <a:schemeClr val="tx1"/>
              </a:solidFill>
            </a:endParaRPr>
          </a:p>
        </p:txBody>
      </p:sp>
      <p:sp>
        <p:nvSpPr>
          <p:cNvPr id="21" name="TextBox 20"/>
          <p:cNvSpPr txBox="1"/>
          <p:nvPr/>
        </p:nvSpPr>
        <p:spPr>
          <a:xfrm>
            <a:off x="8366760" y="3493008"/>
            <a:ext cx="502920" cy="430887"/>
          </a:xfrm>
          <a:prstGeom prst="rect">
            <a:avLst/>
          </a:prstGeom>
          <a:noFill/>
        </p:spPr>
        <p:txBody>
          <a:bodyPr wrap="square">
            <a:spAutoFit/>
          </a:bodyPr>
          <a:lstStyle/>
          <a:p>
            <a:pPr algn="ctr">
              <a:defRPr sz="2200" b="1">
                <a:solidFill>
                  <a:srgbClr val="D27837"/>
                </a:solidFill>
              </a:defRPr>
            </a:pPr>
            <a:r>
              <a:t>6</a:t>
            </a:r>
          </a:p>
        </p:txBody>
      </p:sp>
      <p:sp>
        <p:nvSpPr>
          <p:cNvPr id="22" name="TextBox 21"/>
          <p:cNvSpPr txBox="1"/>
          <p:nvPr/>
        </p:nvSpPr>
        <p:spPr>
          <a:xfrm>
            <a:off x="8915400" y="3493008"/>
            <a:ext cx="2331720" cy="307777"/>
          </a:xfrm>
          <a:prstGeom prst="rect">
            <a:avLst/>
          </a:prstGeom>
          <a:noFill/>
        </p:spPr>
        <p:txBody>
          <a:bodyPr wrap="square">
            <a:spAutoFit/>
          </a:bodyPr>
          <a:lstStyle/>
          <a:p>
            <a:pPr algn="ctr">
              <a:defRPr sz="1400" b="1">
                <a:solidFill>
                  <a:srgbClr val="142237"/>
                </a:solidFill>
              </a:defRPr>
            </a:pPr>
            <a:r>
              <a:t>time integrator → next q,q̇</a:t>
            </a:r>
          </a:p>
        </p:txBody>
      </p:sp>
      <p:sp>
        <p:nvSpPr>
          <p:cNvPr id="23" name="TextBox 22"/>
          <p:cNvSpPr txBox="1"/>
          <p:nvPr/>
        </p:nvSpPr>
        <p:spPr>
          <a:xfrm>
            <a:off x="11404238" y="6473952"/>
            <a:ext cx="300082" cy="230832"/>
          </a:xfrm>
          <a:prstGeom prst="rect">
            <a:avLst/>
          </a:prstGeom>
          <a:noFill/>
        </p:spPr>
        <p:txBody>
          <a:bodyPr wrap="none">
            <a:spAutoFit/>
          </a:bodyPr>
          <a:lstStyle/>
          <a:p>
            <a:pPr algn="r">
              <a:defRPr sz="900">
                <a:solidFill>
                  <a:srgbClr val="5A6978"/>
                </a:solidFill>
              </a:defRPr>
            </a:pPr>
            <a:r>
              <a:t>19</a:t>
            </a:r>
          </a:p>
        </p:txBody>
      </p:sp>
    </p:spTree>
    <p:extLst>
      <p:ext uri="{BB962C8B-B14F-4D97-AF65-F5344CB8AC3E}">
        <p14:creationId xmlns:p14="http://schemas.microsoft.com/office/powerpoint/2010/main" val="3864201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838965" cy="523220"/>
          </a:xfrm>
          <a:prstGeom prst="rect">
            <a:avLst/>
          </a:prstGeom>
          <a:noFill/>
        </p:spPr>
        <p:txBody>
          <a:bodyPr wrap="none">
            <a:spAutoFit/>
          </a:bodyPr>
          <a:lstStyle/>
          <a:p>
            <a:pPr>
              <a:defRPr sz="2800" b="1">
                <a:solidFill>
                  <a:srgbClr val="142237"/>
                </a:solidFill>
              </a:defRPr>
            </a:pPr>
            <a:r>
              <a:rPr dirty="0"/>
              <a:t>Reference</a:t>
            </a:r>
            <a:r>
              <a:rPr lang="en-US" dirty="0"/>
              <a:t>s</a:t>
            </a:r>
            <a:endParaRPr dirty="0"/>
          </a:p>
        </p:txBody>
      </p:sp>
      <p:sp>
        <p:nvSpPr>
          <p:cNvPr id="4" name="TextBox 3"/>
          <p:cNvSpPr txBox="1"/>
          <p:nvPr/>
        </p:nvSpPr>
        <p:spPr>
          <a:xfrm>
            <a:off x="731520" y="1234440"/>
            <a:ext cx="10698480" cy="1528624"/>
          </a:xfrm>
          <a:prstGeom prst="rect">
            <a:avLst/>
          </a:prstGeom>
          <a:noFill/>
        </p:spPr>
        <p:txBody>
          <a:bodyPr wrap="square">
            <a:spAutoFit/>
          </a:bodyPr>
          <a:lstStyle/>
          <a:p>
            <a:pPr>
              <a:spcAft>
                <a:spcPts val="800"/>
              </a:spcAft>
              <a:defRPr sz="1600">
                <a:solidFill>
                  <a:srgbClr val="23282D"/>
                </a:solidFill>
              </a:defRPr>
            </a:pPr>
            <a:r>
              <a:rPr dirty="0"/>
              <a:t>• Rucker &amp; Webster III (2011), Statics and Dynamics of Continuum Robots With General Tendon Routing and External Loading.</a:t>
            </a:r>
          </a:p>
          <a:p>
            <a:pPr>
              <a:spcAft>
                <a:spcPts val="800"/>
              </a:spcAft>
              <a:defRPr sz="1600">
                <a:solidFill>
                  <a:srgbClr val="23282D"/>
                </a:solidFill>
              </a:defRPr>
            </a:pPr>
            <a:r>
              <a:rPr dirty="0"/>
              <a:t>• Mathew et al. (2025), Reduced order modeling of hybrid soft-rigid robots using global, local, and state-dependent strain parameterization.</a:t>
            </a:r>
          </a:p>
          <a:p>
            <a:pPr>
              <a:spcAft>
                <a:spcPts val="800"/>
              </a:spcAft>
              <a:defRPr sz="1600">
                <a:solidFill>
                  <a:srgbClr val="23282D"/>
                </a:solidFill>
              </a:defRPr>
            </a:pPr>
            <a:r>
              <a:rPr dirty="0"/>
              <a:t>• Shentu et al. (2026), Do Rigid-Body Simulators Dream of Soft Robots? Learning Contact-Rich Manipulation for Tendon-Driven Continuum Robots.</a:t>
            </a:r>
          </a:p>
        </p:txBody>
      </p:sp>
      <p:sp>
        <p:nvSpPr>
          <p:cNvPr id="6" name="TextBox 5"/>
          <p:cNvSpPr txBox="1"/>
          <p:nvPr/>
        </p:nvSpPr>
        <p:spPr>
          <a:xfrm>
            <a:off x="10789920" y="6473952"/>
            <a:ext cx="914400" cy="228600"/>
          </a:xfrm>
          <a:prstGeom prst="rect">
            <a:avLst/>
          </a:prstGeom>
          <a:noFill/>
        </p:spPr>
        <p:txBody>
          <a:bodyPr wrap="none">
            <a:spAutoFit/>
          </a:bodyPr>
          <a:lstStyle/>
          <a:p>
            <a:pPr algn="r">
              <a:defRPr sz="900">
                <a:solidFill>
                  <a:srgbClr val="5A6978"/>
                </a:solidFill>
              </a:defRPr>
            </a:pPr>
            <a:r>
              <a:t>25</a:t>
            </a:r>
          </a:p>
        </p:txBody>
      </p:sp>
    </p:spTree>
    <p:extLst>
      <p:ext uri="{BB962C8B-B14F-4D97-AF65-F5344CB8AC3E}">
        <p14:creationId xmlns:p14="http://schemas.microsoft.com/office/powerpoint/2010/main" val="1032967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819922" cy="523220"/>
          </a:xfrm>
          <a:prstGeom prst="rect">
            <a:avLst/>
          </a:prstGeom>
          <a:noFill/>
        </p:spPr>
        <p:txBody>
          <a:bodyPr wrap="none">
            <a:spAutoFit/>
          </a:bodyPr>
          <a:lstStyle/>
          <a:p>
            <a:pPr>
              <a:defRPr sz="2800" b="1">
                <a:solidFill>
                  <a:srgbClr val="142237"/>
                </a:solidFill>
              </a:defRPr>
            </a:pPr>
            <a:r>
              <a:rPr lang="en-US" dirty="0"/>
              <a:t>Worked on</a:t>
            </a:r>
            <a:endParaRPr dirty="0"/>
          </a:p>
        </p:txBody>
      </p:sp>
      <p:sp>
        <p:nvSpPr>
          <p:cNvPr id="5" name="TextBox 4"/>
          <p:cNvSpPr txBox="1"/>
          <p:nvPr/>
        </p:nvSpPr>
        <p:spPr>
          <a:xfrm>
            <a:off x="822960" y="1234440"/>
            <a:ext cx="10515600" cy="2436564"/>
          </a:xfrm>
          <a:prstGeom prst="rect">
            <a:avLst/>
          </a:prstGeom>
          <a:noFill/>
        </p:spPr>
        <p:txBody>
          <a:bodyPr wrap="square">
            <a:spAutoFit/>
          </a:bodyPr>
          <a:lstStyle/>
          <a:p>
            <a:pPr marL="285750" indent="-285750">
              <a:spcAft>
                <a:spcPts val="800"/>
              </a:spcAft>
              <a:buFont typeface="Arial" panose="020B0604020202020204" pitchFamily="34" charset="0"/>
              <a:buChar char="•"/>
              <a:defRPr sz="1700">
                <a:solidFill>
                  <a:srgbClr val="23282D"/>
                </a:solidFill>
              </a:defRPr>
            </a:pPr>
            <a:r>
              <a:rPr lang="en-US" dirty="0"/>
              <a:t>F</a:t>
            </a:r>
            <a:r>
              <a:rPr dirty="0"/>
              <a:t>ull </a:t>
            </a:r>
            <a:r>
              <a:rPr dirty="0" err="1"/>
              <a:t>Cosserat</a:t>
            </a:r>
            <a:r>
              <a:rPr lang="en-US" dirty="0"/>
              <a:t> and Kirchoff</a:t>
            </a:r>
            <a:r>
              <a:rPr dirty="0"/>
              <a:t> model against the current RK45/BVP implementation.</a:t>
            </a:r>
            <a:r>
              <a:rPr lang="en-US" dirty="0"/>
              <a:t>(Static and Dynamic)</a:t>
            </a:r>
            <a:endParaRPr dirty="0"/>
          </a:p>
          <a:p>
            <a:pPr marL="285750" indent="-285750">
              <a:spcAft>
                <a:spcPts val="800"/>
              </a:spcAft>
              <a:buFont typeface="Arial" panose="020B0604020202020204" pitchFamily="34" charset="0"/>
              <a:buChar char="•"/>
              <a:defRPr sz="1700">
                <a:solidFill>
                  <a:srgbClr val="23282D"/>
                </a:solidFill>
              </a:defRPr>
            </a:pPr>
            <a:r>
              <a:rPr lang="en-IN" dirty="0" err="1"/>
              <a:t>OpenCR-MuJoCo</a:t>
            </a:r>
            <a:r>
              <a:rPr lang="en-IN" dirty="0"/>
              <a:t> : </a:t>
            </a:r>
            <a:r>
              <a:rPr lang="en-US" dirty="0"/>
              <a:t>Kirchhoff rod </a:t>
            </a:r>
            <a:r>
              <a:rPr dirty="0"/>
              <a:t>PCS</a:t>
            </a:r>
            <a:r>
              <a:rPr lang="en-US" dirty="0"/>
              <a:t> approximation for </a:t>
            </a:r>
            <a:r>
              <a:rPr dirty="0"/>
              <a:t>forward kinematics</a:t>
            </a:r>
            <a:r>
              <a:rPr lang="en-US" dirty="0"/>
              <a:t> and inverse kinematics and dynamics by </a:t>
            </a:r>
            <a:r>
              <a:rPr lang="en-US" dirty="0" err="1"/>
              <a:t>jacabian</a:t>
            </a:r>
            <a:r>
              <a:rPr lang="en-US" dirty="0"/>
              <a:t> within the </a:t>
            </a:r>
            <a:r>
              <a:rPr lang="en-US" dirty="0" err="1"/>
              <a:t>mujoco</a:t>
            </a:r>
            <a:r>
              <a:rPr lang="en-US" dirty="0"/>
              <a:t> engine</a:t>
            </a:r>
            <a:r>
              <a:rPr dirty="0"/>
              <a:t>.</a:t>
            </a:r>
          </a:p>
          <a:p>
            <a:pPr marL="285750" indent="-285750">
              <a:spcAft>
                <a:spcPts val="800"/>
              </a:spcAft>
              <a:buFont typeface="Arial" panose="020B0604020202020204" pitchFamily="34" charset="0"/>
              <a:buChar char="•"/>
              <a:defRPr sz="1700">
                <a:solidFill>
                  <a:srgbClr val="23282D"/>
                </a:solidFill>
              </a:defRPr>
            </a:pPr>
            <a:r>
              <a:rPr lang="en-US" dirty="0"/>
              <a:t>Reduced order modelling,</a:t>
            </a:r>
            <a:r>
              <a:rPr dirty="0"/>
              <a:t> GVS basis functions: Legendre</a:t>
            </a:r>
            <a:r>
              <a:rPr lang="en-US" dirty="0"/>
              <a:t>, </a:t>
            </a:r>
            <a:r>
              <a:rPr dirty="0"/>
              <a:t>Fourier</a:t>
            </a:r>
            <a:r>
              <a:rPr lang="en-US" dirty="0"/>
              <a:t>,</a:t>
            </a:r>
            <a:r>
              <a:rPr dirty="0"/>
              <a:t> FEM-like</a:t>
            </a:r>
            <a:r>
              <a:rPr lang="en-US" dirty="0"/>
              <a:t>, </a:t>
            </a:r>
            <a:r>
              <a:rPr dirty="0"/>
              <a:t>Gaussian/dependent.</a:t>
            </a:r>
            <a:endParaRPr lang="en-US" dirty="0"/>
          </a:p>
          <a:p>
            <a:pPr marL="285750" indent="-285750">
              <a:spcAft>
                <a:spcPts val="800"/>
              </a:spcAft>
              <a:buFont typeface="Arial" panose="020B0604020202020204" pitchFamily="34" charset="0"/>
              <a:buChar char="•"/>
              <a:defRPr sz="1700">
                <a:solidFill>
                  <a:srgbClr val="23282D"/>
                </a:solidFill>
              </a:defRPr>
            </a:pPr>
            <a:endParaRPr lang="en-US" dirty="0"/>
          </a:p>
          <a:p>
            <a:pPr marL="285750" indent="-285750">
              <a:spcAft>
                <a:spcPts val="800"/>
              </a:spcAft>
              <a:buFont typeface="Arial" panose="020B0604020202020204" pitchFamily="34" charset="0"/>
              <a:buChar char="•"/>
              <a:defRPr sz="1700">
                <a:solidFill>
                  <a:srgbClr val="23282D"/>
                </a:solidFill>
              </a:defRPr>
            </a:pPr>
            <a:endParaRPr lang="en-US" dirty="0"/>
          </a:p>
          <a:p>
            <a:pPr>
              <a:spcAft>
                <a:spcPts val="800"/>
              </a:spcAft>
              <a:defRPr sz="1700">
                <a:solidFill>
                  <a:srgbClr val="23282D"/>
                </a:solidFill>
              </a:defRPr>
            </a:pPr>
            <a:endParaRPr dirty="0"/>
          </a:p>
        </p:txBody>
      </p:sp>
      <p:sp>
        <p:nvSpPr>
          <p:cNvPr id="6" name="TextBox 5"/>
          <p:cNvSpPr txBox="1"/>
          <p:nvPr/>
        </p:nvSpPr>
        <p:spPr>
          <a:xfrm>
            <a:off x="10789920" y="6473952"/>
            <a:ext cx="914400" cy="228600"/>
          </a:xfrm>
          <a:prstGeom prst="rect">
            <a:avLst/>
          </a:prstGeom>
          <a:noFill/>
        </p:spPr>
        <p:txBody>
          <a:bodyPr wrap="none">
            <a:spAutoFit/>
          </a:bodyPr>
          <a:lstStyle/>
          <a:p>
            <a:pPr algn="r">
              <a:defRPr sz="900">
                <a:solidFill>
                  <a:srgbClr val="5A6978"/>
                </a:solidFill>
              </a:defRPr>
            </a:pPr>
            <a:r>
              <a:t>24</a:t>
            </a:r>
          </a:p>
        </p:txBody>
      </p:sp>
      <p:sp>
        <p:nvSpPr>
          <p:cNvPr id="8" name="TextBox 7">
            <a:extLst>
              <a:ext uri="{FF2B5EF4-FFF2-40B4-BE49-F238E27FC236}">
                <a16:creationId xmlns:a16="http://schemas.microsoft.com/office/drawing/2014/main" id="{4FE85896-7D1D-B8E4-716E-0A35AA6BB705}"/>
              </a:ext>
            </a:extLst>
          </p:cNvPr>
          <p:cNvSpPr txBox="1"/>
          <p:nvPr/>
        </p:nvSpPr>
        <p:spPr>
          <a:xfrm>
            <a:off x="502920" y="2691168"/>
            <a:ext cx="1297150" cy="523220"/>
          </a:xfrm>
          <a:prstGeom prst="rect">
            <a:avLst/>
          </a:prstGeom>
          <a:noFill/>
        </p:spPr>
        <p:txBody>
          <a:bodyPr wrap="none">
            <a:spAutoFit/>
          </a:bodyPr>
          <a:lstStyle/>
          <a:p>
            <a:pPr>
              <a:defRPr sz="2800" b="1">
                <a:solidFill>
                  <a:srgbClr val="142237"/>
                </a:solidFill>
              </a:defRPr>
            </a:pPr>
            <a:r>
              <a:rPr lang="en-US" dirty="0"/>
              <a:t>Further</a:t>
            </a:r>
            <a:endParaRPr dirty="0"/>
          </a:p>
        </p:txBody>
      </p:sp>
      <p:sp>
        <p:nvSpPr>
          <p:cNvPr id="10" name="TextBox 9">
            <a:extLst>
              <a:ext uri="{FF2B5EF4-FFF2-40B4-BE49-F238E27FC236}">
                <a16:creationId xmlns:a16="http://schemas.microsoft.com/office/drawing/2014/main" id="{C3067933-297F-F6DA-CD4C-4E9F61145BCE}"/>
              </a:ext>
            </a:extLst>
          </p:cNvPr>
          <p:cNvSpPr txBox="1"/>
          <p:nvPr/>
        </p:nvSpPr>
        <p:spPr>
          <a:xfrm>
            <a:off x="806055" y="3214388"/>
            <a:ext cx="10515600" cy="1810752"/>
          </a:xfrm>
          <a:prstGeom prst="rect">
            <a:avLst/>
          </a:prstGeom>
          <a:noFill/>
        </p:spPr>
        <p:txBody>
          <a:bodyPr wrap="square">
            <a:spAutoFit/>
          </a:bodyPr>
          <a:lstStyle/>
          <a:p>
            <a:pPr marL="285750" indent="-285750">
              <a:spcAft>
                <a:spcPts val="800"/>
              </a:spcAft>
              <a:buFont typeface="Arial" panose="020B0604020202020204" pitchFamily="34" charset="0"/>
              <a:buChar char="•"/>
              <a:defRPr sz="1700">
                <a:solidFill>
                  <a:srgbClr val="23282D"/>
                </a:solidFill>
              </a:defRPr>
            </a:pPr>
            <a:r>
              <a:rPr lang="en-US" dirty="0" err="1"/>
              <a:t>SoRosim</a:t>
            </a:r>
            <a:r>
              <a:rPr lang="en-US" dirty="0"/>
              <a:t> reduced order model </a:t>
            </a:r>
          </a:p>
          <a:p>
            <a:pPr marL="285750" indent="-285750">
              <a:spcAft>
                <a:spcPts val="800"/>
              </a:spcAft>
              <a:buFont typeface="Arial" panose="020B0604020202020204" pitchFamily="34" charset="0"/>
              <a:buChar char="•"/>
              <a:defRPr sz="1700">
                <a:solidFill>
                  <a:srgbClr val="23282D"/>
                </a:solidFill>
              </a:defRPr>
            </a:pPr>
            <a:r>
              <a:rPr lang="en-US" dirty="0"/>
              <a:t>Design idea of the robot setup</a:t>
            </a:r>
          </a:p>
          <a:p>
            <a:pPr marL="285750" indent="-285750">
              <a:spcAft>
                <a:spcPts val="800"/>
              </a:spcAft>
              <a:buFont typeface="Arial" panose="020B0604020202020204" pitchFamily="34" charset="0"/>
              <a:buChar char="•"/>
              <a:defRPr sz="1700">
                <a:solidFill>
                  <a:srgbClr val="23282D"/>
                </a:solidFill>
              </a:defRPr>
            </a:pPr>
            <a:endParaRPr lang="en-US" dirty="0"/>
          </a:p>
          <a:p>
            <a:pPr marL="285750" indent="-285750">
              <a:spcAft>
                <a:spcPts val="800"/>
              </a:spcAft>
              <a:buFont typeface="Arial" panose="020B0604020202020204" pitchFamily="34" charset="0"/>
              <a:buChar char="•"/>
              <a:defRPr sz="1700">
                <a:solidFill>
                  <a:srgbClr val="23282D"/>
                </a:solidFill>
              </a:defRPr>
            </a:pPr>
            <a:endParaRPr lang="en-US" dirty="0"/>
          </a:p>
          <a:p>
            <a:pPr>
              <a:spcAft>
                <a:spcPts val="800"/>
              </a:spcAft>
              <a:defRPr sz="1700">
                <a:solidFill>
                  <a:srgbClr val="23282D"/>
                </a:solidFill>
              </a:defRPr>
            </a:pPr>
            <a:endParaRPr dirty="0"/>
          </a:p>
        </p:txBody>
      </p:sp>
    </p:spTree>
    <p:extLst>
      <p:ext uri="{BB962C8B-B14F-4D97-AF65-F5344CB8AC3E}">
        <p14:creationId xmlns:p14="http://schemas.microsoft.com/office/powerpoint/2010/main" val="1228529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878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11155680" cy="594360"/>
          </a:xfrm>
          <a:prstGeom prst="rect">
            <a:avLst/>
          </a:prstGeom>
          <a:noFill/>
        </p:spPr>
        <p:txBody>
          <a:bodyPr wrap="none">
            <a:spAutoFit/>
          </a:bodyPr>
          <a:lstStyle/>
          <a:p>
            <a:pPr>
              <a:defRPr sz="2800" b="1">
                <a:solidFill>
                  <a:srgbClr val="142237"/>
                </a:solidFill>
              </a:defRPr>
            </a:pPr>
            <a:r>
              <a:t>19. Basis choices in the notebook / SoRoSim framework</a:t>
            </a:r>
          </a:p>
        </p:txBody>
      </p:sp>
      <p:sp>
        <p:nvSpPr>
          <p:cNvPr id="4" name="TextBox 3"/>
          <p:cNvSpPr txBox="1"/>
          <p:nvPr/>
        </p:nvSpPr>
        <p:spPr>
          <a:xfrm>
            <a:off x="530352" y="841248"/>
            <a:ext cx="10789920" cy="347472"/>
          </a:xfrm>
          <a:prstGeom prst="rect">
            <a:avLst/>
          </a:prstGeom>
          <a:noFill/>
        </p:spPr>
        <p:txBody>
          <a:bodyPr wrap="none">
            <a:spAutoFit/>
          </a:bodyPr>
          <a:lstStyle/>
          <a:p>
            <a:pPr>
              <a:defRPr sz="1200">
                <a:solidFill>
                  <a:srgbClr val="5A6978"/>
                </a:solidFill>
              </a:defRPr>
            </a:pPr>
            <a:r>
              <a:t>Model family comparison</a:t>
            </a:r>
          </a:p>
        </p:txBody>
      </p:sp>
      <p:sp>
        <p:nvSpPr>
          <p:cNvPr id="5" name="Rectangle 4"/>
          <p:cNvSpPr/>
          <p:nvPr/>
        </p:nvSpPr>
        <p:spPr>
          <a:xfrm>
            <a:off x="594360" y="1234440"/>
            <a:ext cx="1920240" cy="502920"/>
          </a:xfrm>
          <a:prstGeom prst="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07592"/>
            <a:ext cx="1828800" cy="320040"/>
          </a:xfrm>
          <a:prstGeom prst="rect">
            <a:avLst/>
          </a:prstGeom>
          <a:noFill/>
        </p:spPr>
        <p:txBody>
          <a:bodyPr wrap="square">
            <a:spAutoFit/>
          </a:bodyPr>
          <a:lstStyle/>
          <a:p>
            <a:pPr algn="ctr">
              <a:defRPr sz="1300" b="1">
                <a:solidFill>
                  <a:srgbClr val="FFFFFF"/>
                </a:solidFill>
              </a:defRPr>
            </a:pPr>
            <a:r>
              <a:t>Model</a:t>
            </a:r>
          </a:p>
        </p:txBody>
      </p:sp>
      <p:sp>
        <p:nvSpPr>
          <p:cNvPr id="7" name="Rectangle 6"/>
          <p:cNvSpPr/>
          <p:nvPr/>
        </p:nvSpPr>
        <p:spPr>
          <a:xfrm>
            <a:off x="2514600" y="1234440"/>
            <a:ext cx="3840480" cy="502920"/>
          </a:xfrm>
          <a:prstGeom prst="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0" y="1307592"/>
            <a:ext cx="3749040" cy="320040"/>
          </a:xfrm>
          <a:prstGeom prst="rect">
            <a:avLst/>
          </a:prstGeom>
          <a:noFill/>
        </p:spPr>
        <p:txBody>
          <a:bodyPr wrap="square">
            <a:spAutoFit/>
          </a:bodyPr>
          <a:lstStyle/>
          <a:p>
            <a:pPr algn="ctr">
              <a:defRPr sz="1300" b="1">
                <a:solidFill>
                  <a:srgbClr val="FFFFFF"/>
                </a:solidFill>
              </a:defRPr>
            </a:pPr>
            <a:r>
              <a:t>Strain representation</a:t>
            </a:r>
          </a:p>
        </p:txBody>
      </p:sp>
      <p:sp>
        <p:nvSpPr>
          <p:cNvPr id="9" name="Rectangle 8"/>
          <p:cNvSpPr/>
          <p:nvPr/>
        </p:nvSpPr>
        <p:spPr>
          <a:xfrm>
            <a:off x="6355080" y="1234440"/>
            <a:ext cx="1828800" cy="502920"/>
          </a:xfrm>
          <a:prstGeom prst="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07592"/>
            <a:ext cx="1737360" cy="320040"/>
          </a:xfrm>
          <a:prstGeom prst="rect">
            <a:avLst/>
          </a:prstGeom>
          <a:noFill/>
        </p:spPr>
        <p:txBody>
          <a:bodyPr wrap="square">
            <a:spAutoFit/>
          </a:bodyPr>
          <a:lstStyle/>
          <a:p>
            <a:pPr algn="ctr">
              <a:defRPr sz="1300" b="1">
                <a:solidFill>
                  <a:srgbClr val="FFFFFF"/>
                </a:solidFill>
              </a:defRPr>
            </a:pPr>
            <a:r>
              <a:t>DoF</a:t>
            </a:r>
          </a:p>
        </p:txBody>
      </p:sp>
      <p:sp>
        <p:nvSpPr>
          <p:cNvPr id="11" name="Rectangle 10"/>
          <p:cNvSpPr/>
          <p:nvPr/>
        </p:nvSpPr>
        <p:spPr>
          <a:xfrm>
            <a:off x="8183879" y="1234440"/>
            <a:ext cx="3749039" cy="502920"/>
          </a:xfrm>
          <a:prstGeom prst="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307592"/>
            <a:ext cx="3657599" cy="320040"/>
          </a:xfrm>
          <a:prstGeom prst="rect">
            <a:avLst/>
          </a:prstGeom>
          <a:noFill/>
        </p:spPr>
        <p:txBody>
          <a:bodyPr wrap="square">
            <a:spAutoFit/>
          </a:bodyPr>
          <a:lstStyle/>
          <a:p>
            <a:pPr algn="ctr">
              <a:defRPr sz="1300" b="1">
                <a:solidFill>
                  <a:srgbClr val="FFFFFF"/>
                </a:solidFill>
              </a:defRPr>
            </a:pPr>
            <a:r>
              <a:t>Typical use</a:t>
            </a:r>
          </a:p>
        </p:txBody>
      </p:sp>
      <p:sp>
        <p:nvSpPr>
          <p:cNvPr id="13" name="Rectangle 12"/>
          <p:cNvSpPr/>
          <p:nvPr/>
        </p:nvSpPr>
        <p:spPr>
          <a:xfrm>
            <a:off x="594360" y="1737360"/>
            <a:ext cx="192024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 y="1810512"/>
            <a:ext cx="1810512" cy="502920"/>
          </a:xfrm>
          <a:prstGeom prst="rect">
            <a:avLst/>
          </a:prstGeom>
          <a:noFill/>
        </p:spPr>
        <p:txBody>
          <a:bodyPr wrap="square">
            <a:spAutoFit/>
          </a:bodyPr>
          <a:lstStyle/>
          <a:p>
            <a:pPr algn="ctr">
              <a:defRPr sz="1200" b="0">
                <a:solidFill>
                  <a:srgbClr val="23282D"/>
                </a:solidFill>
              </a:defRPr>
            </a:pPr>
            <a:r>
              <a:t>PCC</a:t>
            </a:r>
          </a:p>
        </p:txBody>
      </p:sp>
      <p:sp>
        <p:nvSpPr>
          <p:cNvPr id="15" name="Rectangle 14"/>
          <p:cNvSpPr/>
          <p:nvPr/>
        </p:nvSpPr>
        <p:spPr>
          <a:xfrm>
            <a:off x="2514600" y="1737360"/>
            <a:ext cx="384048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9464" y="1810512"/>
            <a:ext cx="3730752" cy="502920"/>
          </a:xfrm>
          <a:prstGeom prst="rect">
            <a:avLst/>
          </a:prstGeom>
          <a:noFill/>
        </p:spPr>
        <p:txBody>
          <a:bodyPr wrap="square">
            <a:spAutoFit/>
          </a:bodyPr>
          <a:lstStyle/>
          <a:p>
            <a:pPr algn="ctr">
              <a:defRPr sz="1200" b="0">
                <a:solidFill>
                  <a:srgbClr val="23282D"/>
                </a:solidFill>
              </a:defRPr>
            </a:pPr>
            <a:r>
              <a:t>Circular-arc curvature</a:t>
            </a:r>
          </a:p>
        </p:txBody>
      </p:sp>
      <p:sp>
        <p:nvSpPr>
          <p:cNvPr id="17" name="Rectangle 16"/>
          <p:cNvSpPr/>
          <p:nvPr/>
        </p:nvSpPr>
        <p:spPr>
          <a:xfrm>
            <a:off x="6355080" y="1737360"/>
            <a:ext cx="182880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1810512"/>
            <a:ext cx="1719072" cy="502920"/>
          </a:xfrm>
          <a:prstGeom prst="rect">
            <a:avLst/>
          </a:prstGeom>
          <a:noFill/>
        </p:spPr>
        <p:txBody>
          <a:bodyPr wrap="square">
            <a:spAutoFit/>
          </a:bodyPr>
          <a:lstStyle/>
          <a:p>
            <a:pPr algn="ctr">
              <a:defRPr sz="1200" b="0">
                <a:solidFill>
                  <a:srgbClr val="23282D"/>
                </a:solidFill>
              </a:defRPr>
            </a:pPr>
            <a:r>
              <a:t>Very low</a:t>
            </a:r>
          </a:p>
        </p:txBody>
      </p:sp>
      <p:sp>
        <p:nvSpPr>
          <p:cNvPr id="19" name="Rectangle 18"/>
          <p:cNvSpPr/>
          <p:nvPr/>
        </p:nvSpPr>
        <p:spPr>
          <a:xfrm>
            <a:off x="8183879" y="1737360"/>
            <a:ext cx="3749039"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38744" y="1810512"/>
            <a:ext cx="3639311" cy="502920"/>
          </a:xfrm>
          <a:prstGeom prst="rect">
            <a:avLst/>
          </a:prstGeom>
          <a:noFill/>
        </p:spPr>
        <p:txBody>
          <a:bodyPr wrap="square">
            <a:spAutoFit/>
          </a:bodyPr>
          <a:lstStyle/>
          <a:p>
            <a:pPr algn="ctr">
              <a:defRPr sz="1200" b="0">
                <a:solidFill>
                  <a:srgbClr val="23282D"/>
                </a:solidFill>
              </a:defRPr>
            </a:pPr>
            <a:r>
              <a:t>Simple shape / FK</a:t>
            </a:r>
          </a:p>
        </p:txBody>
      </p:sp>
      <p:sp>
        <p:nvSpPr>
          <p:cNvPr id="21" name="Rectangle 20"/>
          <p:cNvSpPr/>
          <p:nvPr/>
        </p:nvSpPr>
        <p:spPr>
          <a:xfrm>
            <a:off x="594360" y="2395728"/>
            <a:ext cx="192024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 y="2468880"/>
            <a:ext cx="1810512" cy="502920"/>
          </a:xfrm>
          <a:prstGeom prst="rect">
            <a:avLst/>
          </a:prstGeom>
          <a:noFill/>
        </p:spPr>
        <p:txBody>
          <a:bodyPr wrap="square">
            <a:spAutoFit/>
          </a:bodyPr>
          <a:lstStyle/>
          <a:p>
            <a:pPr algn="ctr">
              <a:defRPr sz="1200" b="0">
                <a:solidFill>
                  <a:srgbClr val="23282D"/>
                </a:solidFill>
              </a:defRPr>
            </a:pPr>
            <a:r>
              <a:t>PCS</a:t>
            </a:r>
          </a:p>
        </p:txBody>
      </p:sp>
      <p:sp>
        <p:nvSpPr>
          <p:cNvPr id="23" name="Rectangle 22"/>
          <p:cNvSpPr/>
          <p:nvPr/>
        </p:nvSpPr>
        <p:spPr>
          <a:xfrm>
            <a:off x="2514600" y="2395728"/>
            <a:ext cx="384048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9464" y="2468880"/>
            <a:ext cx="3730752" cy="502920"/>
          </a:xfrm>
          <a:prstGeom prst="rect">
            <a:avLst/>
          </a:prstGeom>
          <a:noFill/>
        </p:spPr>
        <p:txBody>
          <a:bodyPr wrap="square">
            <a:spAutoFit/>
          </a:bodyPr>
          <a:lstStyle/>
          <a:p>
            <a:pPr algn="ctr">
              <a:defRPr sz="1200" b="0">
                <a:solidFill>
                  <a:srgbClr val="23282D"/>
                </a:solidFill>
              </a:defRPr>
            </a:pPr>
            <a:r>
              <a:t>Piecewise constant 6D strain</a:t>
            </a:r>
          </a:p>
        </p:txBody>
      </p:sp>
      <p:sp>
        <p:nvSpPr>
          <p:cNvPr id="25" name="Rectangle 24"/>
          <p:cNvSpPr/>
          <p:nvPr/>
        </p:nvSpPr>
        <p:spPr>
          <a:xfrm>
            <a:off x="6355080" y="2395728"/>
            <a:ext cx="182880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9944" y="2468880"/>
            <a:ext cx="1719072" cy="502920"/>
          </a:xfrm>
          <a:prstGeom prst="rect">
            <a:avLst/>
          </a:prstGeom>
          <a:noFill/>
        </p:spPr>
        <p:txBody>
          <a:bodyPr wrap="square">
            <a:spAutoFit/>
          </a:bodyPr>
          <a:lstStyle/>
          <a:p>
            <a:pPr algn="ctr">
              <a:defRPr sz="1200" b="0">
                <a:solidFill>
                  <a:srgbClr val="23282D"/>
                </a:solidFill>
              </a:defRPr>
            </a:pPr>
            <a:r>
              <a:t>Low–medium</a:t>
            </a:r>
          </a:p>
        </p:txBody>
      </p:sp>
      <p:sp>
        <p:nvSpPr>
          <p:cNvPr id="27" name="Rectangle 26"/>
          <p:cNvSpPr/>
          <p:nvPr/>
        </p:nvSpPr>
        <p:spPr>
          <a:xfrm>
            <a:off x="8183879" y="2395728"/>
            <a:ext cx="3749039"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38744" y="2468880"/>
            <a:ext cx="3639311" cy="502920"/>
          </a:xfrm>
          <a:prstGeom prst="rect">
            <a:avLst/>
          </a:prstGeom>
          <a:noFill/>
        </p:spPr>
        <p:txBody>
          <a:bodyPr wrap="square">
            <a:spAutoFit/>
          </a:bodyPr>
          <a:lstStyle/>
          <a:p>
            <a:pPr algn="ctr">
              <a:defRPr sz="1200" b="0">
                <a:solidFill>
                  <a:srgbClr val="23282D"/>
                </a:solidFill>
              </a:defRPr>
            </a:pPr>
            <a:r>
              <a:t>General section strain</a:t>
            </a:r>
          </a:p>
        </p:txBody>
      </p:sp>
      <p:sp>
        <p:nvSpPr>
          <p:cNvPr id="29" name="Rectangle 28"/>
          <p:cNvSpPr/>
          <p:nvPr/>
        </p:nvSpPr>
        <p:spPr>
          <a:xfrm>
            <a:off x="594360" y="3054096"/>
            <a:ext cx="192024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 y="3127248"/>
            <a:ext cx="1810512" cy="502920"/>
          </a:xfrm>
          <a:prstGeom prst="rect">
            <a:avLst/>
          </a:prstGeom>
          <a:noFill/>
        </p:spPr>
        <p:txBody>
          <a:bodyPr wrap="square">
            <a:spAutoFit/>
          </a:bodyPr>
          <a:lstStyle/>
          <a:p>
            <a:pPr algn="ctr">
              <a:defRPr sz="1200" b="0">
                <a:solidFill>
                  <a:srgbClr val="23282D"/>
                </a:solidFill>
              </a:defRPr>
            </a:pPr>
            <a:r>
              <a:t>Legendre</a:t>
            </a:r>
          </a:p>
        </p:txBody>
      </p:sp>
      <p:sp>
        <p:nvSpPr>
          <p:cNvPr id="31" name="Rectangle 30"/>
          <p:cNvSpPr/>
          <p:nvPr/>
        </p:nvSpPr>
        <p:spPr>
          <a:xfrm>
            <a:off x="2514600" y="3054096"/>
            <a:ext cx="384048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69464" y="3127248"/>
            <a:ext cx="3730752" cy="502920"/>
          </a:xfrm>
          <a:prstGeom prst="rect">
            <a:avLst/>
          </a:prstGeom>
          <a:noFill/>
        </p:spPr>
        <p:txBody>
          <a:bodyPr wrap="square">
            <a:spAutoFit/>
          </a:bodyPr>
          <a:lstStyle/>
          <a:p>
            <a:pPr algn="ctr">
              <a:defRPr sz="1200" b="0">
                <a:solidFill>
                  <a:srgbClr val="23282D"/>
                </a:solidFill>
              </a:defRPr>
            </a:pPr>
            <a:r>
              <a:t>Global orthogonal polynomial</a:t>
            </a:r>
          </a:p>
        </p:txBody>
      </p:sp>
      <p:sp>
        <p:nvSpPr>
          <p:cNvPr id="33" name="Rectangle 32"/>
          <p:cNvSpPr/>
          <p:nvPr/>
        </p:nvSpPr>
        <p:spPr>
          <a:xfrm>
            <a:off x="6355080" y="3054096"/>
            <a:ext cx="182880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9944" y="3127248"/>
            <a:ext cx="1719072" cy="502920"/>
          </a:xfrm>
          <a:prstGeom prst="rect">
            <a:avLst/>
          </a:prstGeom>
          <a:noFill/>
        </p:spPr>
        <p:txBody>
          <a:bodyPr wrap="square">
            <a:spAutoFit/>
          </a:bodyPr>
          <a:lstStyle/>
          <a:p>
            <a:pPr algn="ctr">
              <a:defRPr sz="1200" b="0">
                <a:solidFill>
                  <a:srgbClr val="23282D"/>
                </a:solidFill>
              </a:defRPr>
            </a:pPr>
            <a:r>
              <a:t>Medium</a:t>
            </a:r>
          </a:p>
        </p:txBody>
      </p:sp>
      <p:sp>
        <p:nvSpPr>
          <p:cNvPr id="35" name="Rectangle 34"/>
          <p:cNvSpPr/>
          <p:nvPr/>
        </p:nvSpPr>
        <p:spPr>
          <a:xfrm>
            <a:off x="8183879" y="3054096"/>
            <a:ext cx="3749039"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38744" y="3127248"/>
            <a:ext cx="3639311" cy="502920"/>
          </a:xfrm>
          <a:prstGeom prst="rect">
            <a:avLst/>
          </a:prstGeom>
          <a:noFill/>
        </p:spPr>
        <p:txBody>
          <a:bodyPr wrap="square">
            <a:spAutoFit/>
          </a:bodyPr>
          <a:lstStyle/>
          <a:p>
            <a:pPr algn="ctr">
              <a:defRPr sz="1200" b="0">
                <a:solidFill>
                  <a:srgbClr val="23282D"/>
                </a:solidFill>
              </a:defRPr>
            </a:pPr>
            <a:r>
              <a:t>Distributed loads</a:t>
            </a:r>
          </a:p>
        </p:txBody>
      </p:sp>
      <p:sp>
        <p:nvSpPr>
          <p:cNvPr id="37" name="Rectangle 36"/>
          <p:cNvSpPr/>
          <p:nvPr/>
        </p:nvSpPr>
        <p:spPr>
          <a:xfrm>
            <a:off x="594360" y="3712464"/>
            <a:ext cx="192024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224" y="3785616"/>
            <a:ext cx="1810512" cy="502920"/>
          </a:xfrm>
          <a:prstGeom prst="rect">
            <a:avLst/>
          </a:prstGeom>
          <a:noFill/>
        </p:spPr>
        <p:txBody>
          <a:bodyPr wrap="square">
            <a:spAutoFit/>
          </a:bodyPr>
          <a:lstStyle/>
          <a:p>
            <a:pPr algn="ctr">
              <a:defRPr sz="1200" b="0">
                <a:solidFill>
                  <a:srgbClr val="23282D"/>
                </a:solidFill>
              </a:defRPr>
            </a:pPr>
            <a:r>
              <a:t>Fourier</a:t>
            </a:r>
          </a:p>
        </p:txBody>
      </p:sp>
      <p:sp>
        <p:nvSpPr>
          <p:cNvPr id="39" name="Rectangle 38"/>
          <p:cNvSpPr/>
          <p:nvPr/>
        </p:nvSpPr>
        <p:spPr>
          <a:xfrm>
            <a:off x="2514600" y="3712464"/>
            <a:ext cx="384048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69464" y="3785616"/>
            <a:ext cx="3730752" cy="502920"/>
          </a:xfrm>
          <a:prstGeom prst="rect">
            <a:avLst/>
          </a:prstGeom>
          <a:noFill/>
        </p:spPr>
        <p:txBody>
          <a:bodyPr wrap="square">
            <a:spAutoFit/>
          </a:bodyPr>
          <a:lstStyle/>
          <a:p>
            <a:pPr algn="ctr">
              <a:defRPr sz="1200" b="0">
                <a:solidFill>
                  <a:srgbClr val="23282D"/>
                </a:solidFill>
              </a:defRPr>
            </a:pPr>
            <a:r>
              <a:t>Global harmonic</a:t>
            </a:r>
          </a:p>
        </p:txBody>
      </p:sp>
      <p:sp>
        <p:nvSpPr>
          <p:cNvPr id="41" name="Rectangle 40"/>
          <p:cNvSpPr/>
          <p:nvPr/>
        </p:nvSpPr>
        <p:spPr>
          <a:xfrm>
            <a:off x="6355080" y="3712464"/>
            <a:ext cx="182880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9944" y="3785616"/>
            <a:ext cx="1719072" cy="502920"/>
          </a:xfrm>
          <a:prstGeom prst="rect">
            <a:avLst/>
          </a:prstGeom>
          <a:noFill/>
        </p:spPr>
        <p:txBody>
          <a:bodyPr wrap="square">
            <a:spAutoFit/>
          </a:bodyPr>
          <a:lstStyle/>
          <a:p>
            <a:pPr algn="ctr">
              <a:defRPr sz="1200" b="0">
                <a:solidFill>
                  <a:srgbClr val="23282D"/>
                </a:solidFill>
              </a:defRPr>
            </a:pPr>
            <a:r>
              <a:t>Medium</a:t>
            </a:r>
          </a:p>
        </p:txBody>
      </p:sp>
      <p:sp>
        <p:nvSpPr>
          <p:cNvPr id="43" name="Rectangle 42"/>
          <p:cNvSpPr/>
          <p:nvPr/>
        </p:nvSpPr>
        <p:spPr>
          <a:xfrm>
            <a:off x="8183879" y="3712464"/>
            <a:ext cx="3749039"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38744" y="3785616"/>
            <a:ext cx="3639311" cy="502920"/>
          </a:xfrm>
          <a:prstGeom prst="rect">
            <a:avLst/>
          </a:prstGeom>
          <a:noFill/>
        </p:spPr>
        <p:txBody>
          <a:bodyPr wrap="square">
            <a:spAutoFit/>
          </a:bodyPr>
          <a:lstStyle/>
          <a:p>
            <a:pPr algn="ctr">
              <a:defRPr sz="1200" b="0">
                <a:solidFill>
                  <a:srgbClr val="23282D"/>
                </a:solidFill>
              </a:defRPr>
            </a:pPr>
            <a:r>
              <a:t>Periodic strain</a:t>
            </a:r>
          </a:p>
        </p:txBody>
      </p:sp>
      <p:sp>
        <p:nvSpPr>
          <p:cNvPr id="45" name="Rectangle 44"/>
          <p:cNvSpPr/>
          <p:nvPr/>
        </p:nvSpPr>
        <p:spPr>
          <a:xfrm>
            <a:off x="594360" y="4370832"/>
            <a:ext cx="192024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 y="4443984"/>
            <a:ext cx="1810512" cy="502920"/>
          </a:xfrm>
          <a:prstGeom prst="rect">
            <a:avLst/>
          </a:prstGeom>
          <a:noFill/>
        </p:spPr>
        <p:txBody>
          <a:bodyPr wrap="square">
            <a:spAutoFit/>
          </a:bodyPr>
          <a:lstStyle/>
          <a:p>
            <a:pPr algn="ctr">
              <a:defRPr sz="1200" b="0">
                <a:solidFill>
                  <a:srgbClr val="23282D"/>
                </a:solidFill>
              </a:defRPr>
            </a:pPr>
            <a:r>
              <a:t>FEM-like</a:t>
            </a:r>
          </a:p>
        </p:txBody>
      </p:sp>
      <p:sp>
        <p:nvSpPr>
          <p:cNvPr id="47" name="Rectangle 46"/>
          <p:cNvSpPr/>
          <p:nvPr/>
        </p:nvSpPr>
        <p:spPr>
          <a:xfrm>
            <a:off x="2514600" y="4370832"/>
            <a:ext cx="384048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69464" y="4443984"/>
            <a:ext cx="3730752" cy="502920"/>
          </a:xfrm>
          <a:prstGeom prst="rect">
            <a:avLst/>
          </a:prstGeom>
          <a:noFill/>
        </p:spPr>
        <p:txBody>
          <a:bodyPr wrap="square">
            <a:spAutoFit/>
          </a:bodyPr>
          <a:lstStyle/>
          <a:p>
            <a:pPr algn="ctr">
              <a:defRPr sz="1200" b="0">
                <a:solidFill>
                  <a:srgbClr val="23282D"/>
                </a:solidFill>
              </a:defRPr>
            </a:pPr>
            <a:r>
              <a:t>Local nodal strain</a:t>
            </a:r>
          </a:p>
        </p:txBody>
      </p:sp>
      <p:sp>
        <p:nvSpPr>
          <p:cNvPr id="49" name="Rectangle 48"/>
          <p:cNvSpPr/>
          <p:nvPr/>
        </p:nvSpPr>
        <p:spPr>
          <a:xfrm>
            <a:off x="6355080" y="4370832"/>
            <a:ext cx="1828800"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9944" y="4443984"/>
            <a:ext cx="1719072" cy="502920"/>
          </a:xfrm>
          <a:prstGeom prst="rect">
            <a:avLst/>
          </a:prstGeom>
          <a:noFill/>
        </p:spPr>
        <p:txBody>
          <a:bodyPr wrap="square">
            <a:spAutoFit/>
          </a:bodyPr>
          <a:lstStyle/>
          <a:p>
            <a:pPr algn="ctr">
              <a:defRPr sz="1200" b="0">
                <a:solidFill>
                  <a:srgbClr val="23282D"/>
                </a:solidFill>
              </a:defRPr>
            </a:pPr>
            <a:r>
              <a:t>Medium–high</a:t>
            </a:r>
          </a:p>
        </p:txBody>
      </p:sp>
      <p:sp>
        <p:nvSpPr>
          <p:cNvPr id="51" name="Rectangle 50"/>
          <p:cNvSpPr/>
          <p:nvPr/>
        </p:nvSpPr>
        <p:spPr>
          <a:xfrm>
            <a:off x="8183879" y="4370832"/>
            <a:ext cx="3749039" cy="658368"/>
          </a:xfrm>
          <a:prstGeom prst="rect">
            <a:avLst/>
          </a:prstGeom>
          <a:solidFill>
            <a:srgbClr val="F2F6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38744" y="4443984"/>
            <a:ext cx="3639311" cy="502920"/>
          </a:xfrm>
          <a:prstGeom prst="rect">
            <a:avLst/>
          </a:prstGeom>
          <a:noFill/>
        </p:spPr>
        <p:txBody>
          <a:bodyPr wrap="square">
            <a:spAutoFit/>
          </a:bodyPr>
          <a:lstStyle/>
          <a:p>
            <a:pPr algn="ctr">
              <a:defRPr sz="1200" b="0">
                <a:solidFill>
                  <a:srgbClr val="23282D"/>
                </a:solidFill>
              </a:defRPr>
            </a:pPr>
            <a:r>
              <a:t>Contact/local deformation</a:t>
            </a:r>
          </a:p>
        </p:txBody>
      </p:sp>
      <p:sp>
        <p:nvSpPr>
          <p:cNvPr id="53" name="Rectangle 52"/>
          <p:cNvSpPr/>
          <p:nvPr/>
        </p:nvSpPr>
        <p:spPr>
          <a:xfrm>
            <a:off x="594360" y="5029200"/>
            <a:ext cx="192024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9224" y="5102352"/>
            <a:ext cx="1810512" cy="502920"/>
          </a:xfrm>
          <a:prstGeom prst="rect">
            <a:avLst/>
          </a:prstGeom>
          <a:noFill/>
        </p:spPr>
        <p:txBody>
          <a:bodyPr wrap="square">
            <a:spAutoFit/>
          </a:bodyPr>
          <a:lstStyle/>
          <a:p>
            <a:pPr algn="ctr">
              <a:defRPr sz="1200" b="0">
                <a:solidFill>
                  <a:srgbClr val="23282D"/>
                </a:solidFill>
              </a:defRPr>
            </a:pPr>
            <a:r>
              <a:t>Gaussian dependent</a:t>
            </a:r>
          </a:p>
        </p:txBody>
      </p:sp>
      <p:sp>
        <p:nvSpPr>
          <p:cNvPr id="55" name="Rectangle 54"/>
          <p:cNvSpPr/>
          <p:nvPr/>
        </p:nvSpPr>
        <p:spPr>
          <a:xfrm>
            <a:off x="2514600" y="5029200"/>
            <a:ext cx="384048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569464" y="5102352"/>
            <a:ext cx="3730752" cy="502920"/>
          </a:xfrm>
          <a:prstGeom prst="rect">
            <a:avLst/>
          </a:prstGeom>
          <a:noFill/>
        </p:spPr>
        <p:txBody>
          <a:bodyPr wrap="square">
            <a:spAutoFit/>
          </a:bodyPr>
          <a:lstStyle/>
          <a:p>
            <a:pPr algn="ctr">
              <a:defRPr sz="1200" b="0">
                <a:solidFill>
                  <a:srgbClr val="23282D"/>
                </a:solidFill>
              </a:defRPr>
            </a:pPr>
            <a:r>
              <a:t>q,t-dependent localized</a:t>
            </a:r>
          </a:p>
        </p:txBody>
      </p:sp>
      <p:sp>
        <p:nvSpPr>
          <p:cNvPr id="57" name="Rectangle 56"/>
          <p:cNvSpPr/>
          <p:nvPr/>
        </p:nvSpPr>
        <p:spPr>
          <a:xfrm>
            <a:off x="6355080" y="5029200"/>
            <a:ext cx="1828800"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9944" y="5102352"/>
            <a:ext cx="1719072" cy="502920"/>
          </a:xfrm>
          <a:prstGeom prst="rect">
            <a:avLst/>
          </a:prstGeom>
          <a:noFill/>
        </p:spPr>
        <p:txBody>
          <a:bodyPr wrap="square">
            <a:spAutoFit/>
          </a:bodyPr>
          <a:lstStyle/>
          <a:p>
            <a:pPr algn="ctr">
              <a:defRPr sz="1200" b="0">
                <a:solidFill>
                  <a:srgbClr val="23282D"/>
                </a:solidFill>
              </a:defRPr>
            </a:pPr>
            <a:r>
              <a:t>Very low</a:t>
            </a:r>
          </a:p>
        </p:txBody>
      </p:sp>
      <p:sp>
        <p:nvSpPr>
          <p:cNvPr id="59" name="Rectangle 58"/>
          <p:cNvSpPr/>
          <p:nvPr/>
        </p:nvSpPr>
        <p:spPr>
          <a:xfrm>
            <a:off x="8183879" y="5029200"/>
            <a:ext cx="3749039" cy="658368"/>
          </a:xfrm>
          <a:prstGeom prst="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38744" y="5102352"/>
            <a:ext cx="3639311" cy="502920"/>
          </a:xfrm>
          <a:prstGeom prst="rect">
            <a:avLst/>
          </a:prstGeom>
          <a:noFill/>
        </p:spPr>
        <p:txBody>
          <a:bodyPr wrap="square">
            <a:spAutoFit/>
          </a:bodyPr>
          <a:lstStyle/>
          <a:p>
            <a:pPr algn="ctr">
              <a:defRPr sz="1200" b="0">
                <a:solidFill>
                  <a:srgbClr val="23282D"/>
                </a:solidFill>
              </a:defRPr>
            </a:pPr>
            <a:r>
              <a:t>Known localized actuation</a:t>
            </a:r>
          </a:p>
        </p:txBody>
      </p:sp>
      <p:sp>
        <p:nvSpPr>
          <p:cNvPr id="61" name="TextBox 60"/>
          <p:cNvSpPr txBox="1"/>
          <p:nvPr/>
        </p:nvSpPr>
        <p:spPr>
          <a:xfrm>
            <a:off x="10789920" y="6473952"/>
            <a:ext cx="914400" cy="228600"/>
          </a:xfrm>
          <a:prstGeom prst="rect">
            <a:avLst/>
          </a:prstGeom>
          <a:noFill/>
        </p:spPr>
        <p:txBody>
          <a:bodyPr wrap="none">
            <a:spAutoFit/>
          </a:bodyPr>
          <a:lstStyle/>
          <a:p>
            <a:pPr algn="r">
              <a:defRPr sz="900">
                <a:solidFill>
                  <a:srgbClr val="5A6978"/>
                </a:solidFill>
              </a:defRPr>
            </a:pPr>
            <a:r>
              <a:t>20</a:t>
            </a:r>
          </a:p>
        </p:txBody>
      </p:sp>
    </p:spTree>
    <p:extLst>
      <p:ext uri="{BB962C8B-B14F-4D97-AF65-F5344CB8AC3E}">
        <p14:creationId xmlns:p14="http://schemas.microsoft.com/office/powerpoint/2010/main" val="386765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155680" cy="594360"/>
          </a:xfrm>
          <a:prstGeom prst="rect">
            <a:avLst/>
          </a:prstGeom>
          <a:noFill/>
        </p:spPr>
        <p:txBody>
          <a:bodyPr wrap="none">
            <a:spAutoFit/>
          </a:bodyPr>
          <a:lstStyle/>
          <a:p>
            <a:pPr>
              <a:defRPr sz="2800" b="1">
                <a:solidFill>
                  <a:srgbClr val="142237"/>
                </a:solidFill>
              </a:defRPr>
            </a:pPr>
            <a:r>
              <a:t>22. How the models connect to thesis control</a:t>
            </a:r>
          </a:p>
        </p:txBody>
      </p:sp>
      <p:sp>
        <p:nvSpPr>
          <p:cNvPr id="4" name="TextBox 3"/>
          <p:cNvSpPr txBox="1"/>
          <p:nvPr/>
        </p:nvSpPr>
        <p:spPr>
          <a:xfrm>
            <a:off x="530352" y="841248"/>
            <a:ext cx="10789920" cy="347472"/>
          </a:xfrm>
          <a:prstGeom prst="rect">
            <a:avLst/>
          </a:prstGeom>
          <a:noFill/>
        </p:spPr>
        <p:txBody>
          <a:bodyPr wrap="none">
            <a:spAutoFit/>
          </a:bodyPr>
          <a:lstStyle/>
          <a:p>
            <a:pPr>
              <a:defRPr sz="1200">
                <a:solidFill>
                  <a:srgbClr val="5A6978"/>
                </a:solidFill>
              </a:defRPr>
            </a:pPr>
            <a:r>
              <a:t>Forward → inverse → trajectory tracking</a:t>
            </a:r>
          </a:p>
        </p:txBody>
      </p:sp>
      <p:sp>
        <p:nvSpPr>
          <p:cNvPr id="5" name="Rounded Rectangle 4"/>
          <p:cNvSpPr/>
          <p:nvPr/>
        </p:nvSpPr>
        <p:spPr>
          <a:xfrm>
            <a:off x="502920" y="1280160"/>
            <a:ext cx="3246120" cy="1234440"/>
          </a:xfrm>
          <a:prstGeom prst="roundRect">
            <a:avLst/>
          </a:prstGeom>
          <a:solidFill>
            <a:srgbClr val="F2F6FA"/>
          </a:solidFill>
          <a:ln>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17319"/>
            <a:ext cx="2971800" cy="411480"/>
          </a:xfrm>
          <a:prstGeom prst="rect">
            <a:avLst/>
          </a:prstGeom>
          <a:noFill/>
        </p:spPr>
        <p:txBody>
          <a:bodyPr wrap="square">
            <a:spAutoFit/>
          </a:bodyPr>
          <a:lstStyle/>
          <a:p>
            <a:pPr algn="ctr">
              <a:defRPr sz="1600" b="1">
                <a:solidFill>
                  <a:srgbClr val="142237"/>
                </a:solidFill>
              </a:defRPr>
            </a:pPr>
            <a:r>
              <a:t>Desired tip pose</a:t>
            </a:r>
          </a:p>
        </p:txBody>
      </p:sp>
      <p:sp>
        <p:nvSpPr>
          <p:cNvPr id="7" name="TextBox 6"/>
          <p:cNvSpPr txBox="1"/>
          <p:nvPr/>
        </p:nvSpPr>
        <p:spPr>
          <a:xfrm>
            <a:off x="640080" y="1874519"/>
            <a:ext cx="2971800" cy="411480"/>
          </a:xfrm>
          <a:prstGeom prst="rect">
            <a:avLst/>
          </a:prstGeom>
          <a:noFill/>
        </p:spPr>
        <p:txBody>
          <a:bodyPr wrap="square">
            <a:spAutoFit/>
          </a:bodyPr>
          <a:lstStyle/>
          <a:p>
            <a:pPr algn="ctr">
              <a:defRPr sz="1300" b="0">
                <a:solidFill>
                  <a:srgbClr val="5A6978"/>
                </a:solidFill>
              </a:defRPr>
            </a:pPr>
            <a:r>
              <a:t>p_d(t), R_d(t)</a:t>
            </a:r>
          </a:p>
        </p:txBody>
      </p:sp>
      <p:sp>
        <p:nvSpPr>
          <p:cNvPr id="8" name="Rounded Rectangle 7"/>
          <p:cNvSpPr/>
          <p:nvPr/>
        </p:nvSpPr>
        <p:spPr>
          <a:xfrm>
            <a:off x="4343400" y="1280160"/>
            <a:ext cx="3246120" cy="1234440"/>
          </a:xfrm>
          <a:prstGeom prst="roundRect">
            <a:avLst/>
          </a:prstGeom>
          <a:solidFill>
            <a:srgbClr val="F2F6FA"/>
          </a:solidFill>
          <a:ln>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417319"/>
            <a:ext cx="2971800" cy="411480"/>
          </a:xfrm>
          <a:prstGeom prst="rect">
            <a:avLst/>
          </a:prstGeom>
          <a:noFill/>
        </p:spPr>
        <p:txBody>
          <a:bodyPr wrap="square">
            <a:spAutoFit/>
          </a:bodyPr>
          <a:lstStyle/>
          <a:p>
            <a:pPr algn="ctr">
              <a:defRPr sz="1600" b="1">
                <a:solidFill>
                  <a:srgbClr val="142237"/>
                </a:solidFill>
              </a:defRPr>
            </a:pPr>
            <a:r>
              <a:t>Inverse problem</a:t>
            </a:r>
          </a:p>
        </p:txBody>
      </p:sp>
      <p:sp>
        <p:nvSpPr>
          <p:cNvPr id="10" name="TextBox 9"/>
          <p:cNvSpPr txBox="1"/>
          <p:nvPr/>
        </p:nvSpPr>
        <p:spPr>
          <a:xfrm>
            <a:off x="4480560" y="1874519"/>
            <a:ext cx="2971800" cy="411480"/>
          </a:xfrm>
          <a:prstGeom prst="rect">
            <a:avLst/>
          </a:prstGeom>
          <a:noFill/>
        </p:spPr>
        <p:txBody>
          <a:bodyPr wrap="square">
            <a:spAutoFit/>
          </a:bodyPr>
          <a:lstStyle/>
          <a:p>
            <a:pPr algn="ctr">
              <a:defRPr sz="1300" b="0">
                <a:solidFill>
                  <a:srgbClr val="5A6978"/>
                </a:solidFill>
              </a:defRPr>
            </a:pPr>
            <a:r>
              <a:t>find q or tendon tensions</a:t>
            </a:r>
          </a:p>
        </p:txBody>
      </p:sp>
      <p:sp>
        <p:nvSpPr>
          <p:cNvPr id="11" name="Rounded Rectangle 10"/>
          <p:cNvSpPr/>
          <p:nvPr/>
        </p:nvSpPr>
        <p:spPr>
          <a:xfrm>
            <a:off x="8183880" y="1280160"/>
            <a:ext cx="3246120" cy="1234440"/>
          </a:xfrm>
          <a:prstGeom prst="roundRect">
            <a:avLst/>
          </a:prstGeom>
          <a:solidFill>
            <a:srgbClr val="F2F6FA"/>
          </a:solidFill>
          <a:ln>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1417319"/>
            <a:ext cx="2971800" cy="411480"/>
          </a:xfrm>
          <a:prstGeom prst="rect">
            <a:avLst/>
          </a:prstGeom>
          <a:noFill/>
        </p:spPr>
        <p:txBody>
          <a:bodyPr wrap="square">
            <a:spAutoFit/>
          </a:bodyPr>
          <a:lstStyle/>
          <a:p>
            <a:pPr algn="ctr">
              <a:defRPr sz="1600" b="1">
                <a:solidFill>
                  <a:srgbClr val="142237"/>
                </a:solidFill>
              </a:defRPr>
            </a:pPr>
            <a:r>
              <a:t>Mechanical model</a:t>
            </a:r>
          </a:p>
        </p:txBody>
      </p:sp>
      <p:sp>
        <p:nvSpPr>
          <p:cNvPr id="13" name="TextBox 12"/>
          <p:cNvSpPr txBox="1"/>
          <p:nvPr/>
        </p:nvSpPr>
        <p:spPr>
          <a:xfrm>
            <a:off x="8321040" y="1874519"/>
            <a:ext cx="2971800" cy="411480"/>
          </a:xfrm>
          <a:prstGeom prst="rect">
            <a:avLst/>
          </a:prstGeom>
          <a:noFill/>
        </p:spPr>
        <p:txBody>
          <a:bodyPr wrap="square">
            <a:spAutoFit/>
          </a:bodyPr>
          <a:lstStyle/>
          <a:p>
            <a:pPr algn="ctr">
              <a:defRPr sz="1300" b="0">
                <a:solidFill>
                  <a:srgbClr val="5A6978"/>
                </a:solidFill>
              </a:defRPr>
            </a:pPr>
            <a:r>
              <a:t>T → loads → ξ → g</a:t>
            </a:r>
          </a:p>
        </p:txBody>
      </p:sp>
      <p:sp>
        <p:nvSpPr>
          <p:cNvPr id="14" name="Rounded Rectangle 13"/>
          <p:cNvSpPr/>
          <p:nvPr/>
        </p:nvSpPr>
        <p:spPr>
          <a:xfrm>
            <a:off x="502920" y="3657600"/>
            <a:ext cx="3246120" cy="1234440"/>
          </a:xfrm>
          <a:prstGeom prst="roundRect">
            <a:avLst/>
          </a:prstGeom>
          <a:solidFill>
            <a:srgbClr val="F2F6FA"/>
          </a:solidFill>
          <a:ln>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794760"/>
            <a:ext cx="2971800" cy="411480"/>
          </a:xfrm>
          <a:prstGeom prst="rect">
            <a:avLst/>
          </a:prstGeom>
          <a:noFill/>
        </p:spPr>
        <p:txBody>
          <a:bodyPr wrap="square">
            <a:spAutoFit/>
          </a:bodyPr>
          <a:lstStyle/>
          <a:p>
            <a:pPr algn="ctr">
              <a:defRPr sz="1600" b="1">
                <a:solidFill>
                  <a:srgbClr val="142237"/>
                </a:solidFill>
              </a:defRPr>
            </a:pPr>
            <a:r>
              <a:t>Forward kinematics</a:t>
            </a:r>
          </a:p>
        </p:txBody>
      </p:sp>
      <p:sp>
        <p:nvSpPr>
          <p:cNvPr id="16" name="TextBox 15"/>
          <p:cNvSpPr txBox="1"/>
          <p:nvPr/>
        </p:nvSpPr>
        <p:spPr>
          <a:xfrm>
            <a:off x="640080" y="4251960"/>
            <a:ext cx="2971800" cy="411480"/>
          </a:xfrm>
          <a:prstGeom prst="rect">
            <a:avLst/>
          </a:prstGeom>
          <a:noFill/>
        </p:spPr>
        <p:txBody>
          <a:bodyPr wrap="square">
            <a:spAutoFit/>
          </a:bodyPr>
          <a:lstStyle/>
          <a:p>
            <a:pPr algn="ctr">
              <a:defRPr sz="1300" b="0">
                <a:solidFill>
                  <a:srgbClr val="5A6978"/>
                </a:solidFill>
              </a:defRPr>
            </a:pPr>
            <a:r>
              <a:t>g → p_tip, R_tip</a:t>
            </a:r>
          </a:p>
        </p:txBody>
      </p:sp>
      <p:sp>
        <p:nvSpPr>
          <p:cNvPr id="17" name="Rounded Rectangle 16"/>
          <p:cNvSpPr/>
          <p:nvPr/>
        </p:nvSpPr>
        <p:spPr>
          <a:xfrm>
            <a:off x="4343400" y="3657600"/>
            <a:ext cx="3246120" cy="1234440"/>
          </a:xfrm>
          <a:prstGeom prst="roundRect">
            <a:avLst/>
          </a:prstGeom>
          <a:solidFill>
            <a:srgbClr val="F2F6FA"/>
          </a:solidFill>
          <a:ln>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3794760"/>
            <a:ext cx="2971800" cy="411480"/>
          </a:xfrm>
          <a:prstGeom prst="rect">
            <a:avLst/>
          </a:prstGeom>
          <a:noFill/>
        </p:spPr>
        <p:txBody>
          <a:bodyPr wrap="square">
            <a:spAutoFit/>
          </a:bodyPr>
          <a:lstStyle/>
          <a:p>
            <a:pPr algn="ctr">
              <a:defRPr sz="1600" b="1">
                <a:solidFill>
                  <a:srgbClr val="142237"/>
                </a:solidFill>
              </a:defRPr>
            </a:pPr>
            <a:r>
              <a:t>Error</a:t>
            </a:r>
          </a:p>
        </p:txBody>
      </p:sp>
      <p:sp>
        <p:nvSpPr>
          <p:cNvPr id="19" name="TextBox 18"/>
          <p:cNvSpPr txBox="1"/>
          <p:nvPr/>
        </p:nvSpPr>
        <p:spPr>
          <a:xfrm>
            <a:off x="4480560" y="4251960"/>
            <a:ext cx="2971800" cy="411480"/>
          </a:xfrm>
          <a:prstGeom prst="rect">
            <a:avLst/>
          </a:prstGeom>
          <a:noFill/>
        </p:spPr>
        <p:txBody>
          <a:bodyPr wrap="square">
            <a:spAutoFit/>
          </a:bodyPr>
          <a:lstStyle/>
          <a:p>
            <a:pPr algn="ctr">
              <a:defRPr sz="1300" b="0">
                <a:solidFill>
                  <a:srgbClr val="5A6978"/>
                </a:solidFill>
              </a:defRPr>
            </a:pPr>
            <a:r>
              <a:t>e = [p_d−p, orientation error]</a:t>
            </a:r>
          </a:p>
        </p:txBody>
      </p:sp>
      <p:sp>
        <p:nvSpPr>
          <p:cNvPr id="20" name="Rounded Rectangle 19"/>
          <p:cNvSpPr/>
          <p:nvPr/>
        </p:nvSpPr>
        <p:spPr>
          <a:xfrm>
            <a:off x="8183880" y="3657600"/>
            <a:ext cx="3246120" cy="1234440"/>
          </a:xfrm>
          <a:prstGeom prst="roundRect">
            <a:avLst/>
          </a:prstGeom>
          <a:solidFill>
            <a:srgbClr val="F2F6FA"/>
          </a:solidFill>
          <a:ln>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3794760"/>
            <a:ext cx="2971800" cy="411480"/>
          </a:xfrm>
          <a:prstGeom prst="rect">
            <a:avLst/>
          </a:prstGeom>
          <a:noFill/>
        </p:spPr>
        <p:txBody>
          <a:bodyPr wrap="square">
            <a:spAutoFit/>
          </a:bodyPr>
          <a:lstStyle/>
          <a:p>
            <a:pPr algn="ctr">
              <a:defRPr sz="1600" b="1">
                <a:solidFill>
                  <a:srgbClr val="142237"/>
                </a:solidFill>
              </a:defRPr>
            </a:pPr>
            <a:r>
              <a:t>Controller</a:t>
            </a:r>
          </a:p>
        </p:txBody>
      </p:sp>
      <p:sp>
        <p:nvSpPr>
          <p:cNvPr id="22" name="TextBox 21"/>
          <p:cNvSpPr txBox="1"/>
          <p:nvPr/>
        </p:nvSpPr>
        <p:spPr>
          <a:xfrm>
            <a:off x="8321040" y="4251960"/>
            <a:ext cx="2971800" cy="411480"/>
          </a:xfrm>
          <a:prstGeom prst="rect">
            <a:avLst/>
          </a:prstGeom>
          <a:noFill/>
        </p:spPr>
        <p:txBody>
          <a:bodyPr wrap="square">
            <a:spAutoFit/>
          </a:bodyPr>
          <a:lstStyle/>
          <a:p>
            <a:pPr algn="ctr">
              <a:defRPr sz="1300" b="0">
                <a:solidFill>
                  <a:srgbClr val="5A6978"/>
                </a:solidFill>
              </a:defRPr>
            </a:pPr>
            <a:r>
              <a:t>update T(t) / u(t)</a:t>
            </a:r>
          </a:p>
        </p:txBody>
      </p:sp>
      <p:sp>
        <p:nvSpPr>
          <p:cNvPr id="23" name="TextBox 22"/>
          <p:cNvSpPr txBox="1"/>
          <p:nvPr/>
        </p:nvSpPr>
        <p:spPr>
          <a:xfrm>
            <a:off x="10789920" y="6473952"/>
            <a:ext cx="914400" cy="228600"/>
          </a:xfrm>
          <a:prstGeom prst="rect">
            <a:avLst/>
          </a:prstGeom>
          <a:noFill/>
        </p:spPr>
        <p:txBody>
          <a:bodyPr wrap="none">
            <a:spAutoFit/>
          </a:bodyPr>
          <a:lstStyle/>
          <a:p>
            <a:pPr algn="r">
              <a:defRPr sz="900">
                <a:solidFill>
                  <a:srgbClr val="5A6978"/>
                </a:solidFill>
              </a:defRPr>
            </a:pPr>
            <a:r>
              <a:t>23</a:t>
            </a:r>
          </a:p>
        </p:txBody>
      </p:sp>
    </p:spTree>
    <p:extLst>
      <p:ext uri="{BB962C8B-B14F-4D97-AF65-F5344CB8AC3E}">
        <p14:creationId xmlns:p14="http://schemas.microsoft.com/office/powerpoint/2010/main" val="2857615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54838F42-CF6D-40CD-2255-F26A79565AF4}"/>
              </a:ext>
            </a:extLst>
          </p:cNvPr>
          <p:cNvGrpSpPr/>
          <p:nvPr/>
        </p:nvGrpSpPr>
        <p:grpSpPr>
          <a:xfrm>
            <a:off x="458324" y="3237872"/>
            <a:ext cx="4845554" cy="4703867"/>
            <a:chOff x="362795" y="917999"/>
            <a:chExt cx="4845554" cy="4703867"/>
          </a:xfrm>
        </p:grpSpPr>
        <p:grpSp>
          <p:nvGrpSpPr>
            <p:cNvPr id="64" name="Group 63">
              <a:extLst>
                <a:ext uri="{FF2B5EF4-FFF2-40B4-BE49-F238E27FC236}">
                  <a16:creationId xmlns:a16="http://schemas.microsoft.com/office/drawing/2014/main" id="{76852DDC-8C05-42DD-5843-99E515F8D555}"/>
                </a:ext>
              </a:extLst>
            </p:cNvPr>
            <p:cNvGrpSpPr/>
            <p:nvPr/>
          </p:nvGrpSpPr>
          <p:grpSpPr>
            <a:xfrm>
              <a:off x="362795" y="917999"/>
              <a:ext cx="4845554" cy="4703867"/>
              <a:chOff x="49528" y="816399"/>
              <a:chExt cx="4845554" cy="4703867"/>
            </a:xfrm>
          </p:grpSpPr>
          <p:sp>
            <p:nvSpPr>
              <p:cNvPr id="58" name="Oval 57">
                <a:extLst>
                  <a:ext uri="{FF2B5EF4-FFF2-40B4-BE49-F238E27FC236}">
                    <a16:creationId xmlns:a16="http://schemas.microsoft.com/office/drawing/2014/main" id="{CE52A062-C896-86E7-AA90-AFDD66C6A2E4}"/>
                  </a:ext>
                </a:extLst>
              </p:cNvPr>
              <p:cNvSpPr/>
              <p:nvPr/>
            </p:nvSpPr>
            <p:spPr>
              <a:xfrm>
                <a:off x="466273" y="1269364"/>
                <a:ext cx="3920065" cy="3806202"/>
              </a:xfrm>
              <a:prstGeom prst="ellipse">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Cambria Math" panose="02040503050406030204" pitchFamily="18" charset="0"/>
                  <a:ea typeface="Cambria Math" panose="02040503050406030204" pitchFamily="18" charset="0"/>
                </a:endParaRPr>
              </a:p>
            </p:txBody>
          </p:sp>
          <p:sp>
            <p:nvSpPr>
              <p:cNvPr id="59" name="Rectangle 58">
                <a:extLst>
                  <a:ext uri="{FF2B5EF4-FFF2-40B4-BE49-F238E27FC236}">
                    <a16:creationId xmlns:a16="http://schemas.microsoft.com/office/drawing/2014/main" id="{EA5845D9-4BBA-537B-B31B-46BD3E7275F1}"/>
                  </a:ext>
                </a:extLst>
              </p:cNvPr>
              <p:cNvSpPr/>
              <p:nvPr/>
            </p:nvSpPr>
            <p:spPr>
              <a:xfrm>
                <a:off x="49528" y="3325785"/>
                <a:ext cx="833121" cy="14554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latin typeface="Cambria Math" panose="02040503050406030204" pitchFamily="18" charset="0"/>
                  <a:ea typeface="Cambria Math" panose="02040503050406030204" pitchFamily="18" charset="0"/>
                </a:endParaRPr>
              </a:p>
            </p:txBody>
          </p:sp>
          <p:sp>
            <p:nvSpPr>
              <p:cNvPr id="61" name="Rectangle 60">
                <a:extLst>
                  <a:ext uri="{FF2B5EF4-FFF2-40B4-BE49-F238E27FC236}">
                    <a16:creationId xmlns:a16="http://schemas.microsoft.com/office/drawing/2014/main" id="{ABD90C36-52AF-CD78-6458-2F049E67E038}"/>
                  </a:ext>
                </a:extLst>
              </p:cNvPr>
              <p:cNvSpPr/>
              <p:nvPr/>
            </p:nvSpPr>
            <p:spPr>
              <a:xfrm>
                <a:off x="49528" y="3427385"/>
                <a:ext cx="4547872" cy="209288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Cambria Math" panose="02040503050406030204" pitchFamily="18" charset="0"/>
                  <a:ea typeface="Cambria Math" panose="02040503050406030204" pitchFamily="18" charset="0"/>
                </a:endParaRPr>
              </a:p>
            </p:txBody>
          </p:sp>
          <p:sp>
            <p:nvSpPr>
              <p:cNvPr id="63" name="Rectangle 62">
                <a:extLst>
                  <a:ext uri="{FF2B5EF4-FFF2-40B4-BE49-F238E27FC236}">
                    <a16:creationId xmlns:a16="http://schemas.microsoft.com/office/drawing/2014/main" id="{92EBE951-2771-2597-E971-23EE112095C1}"/>
                  </a:ext>
                </a:extLst>
              </p:cNvPr>
              <p:cNvSpPr/>
              <p:nvPr/>
            </p:nvSpPr>
            <p:spPr>
              <a:xfrm rot="15457934">
                <a:off x="1094619" y="1563808"/>
                <a:ext cx="4547872" cy="305305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Cambria Math" panose="02040503050406030204" pitchFamily="18" charset="0"/>
                  <a:ea typeface="Cambria Math" panose="02040503050406030204" pitchFamily="18" charset="0"/>
                </a:endParaRPr>
              </a:p>
            </p:txBody>
          </p:sp>
        </p:grpSp>
        <p:grpSp>
          <p:nvGrpSpPr>
            <p:cNvPr id="93" name="Group 92">
              <a:extLst>
                <a:ext uri="{FF2B5EF4-FFF2-40B4-BE49-F238E27FC236}">
                  <a16:creationId xmlns:a16="http://schemas.microsoft.com/office/drawing/2014/main" id="{2BAF11D2-A84D-3859-338E-9AF58B85E48A}"/>
                </a:ext>
              </a:extLst>
            </p:cNvPr>
            <p:cNvGrpSpPr/>
            <p:nvPr/>
          </p:nvGrpSpPr>
          <p:grpSpPr>
            <a:xfrm>
              <a:off x="779540" y="1204070"/>
              <a:ext cx="4333730" cy="2599423"/>
              <a:chOff x="779540" y="1204070"/>
              <a:chExt cx="4333730" cy="2599423"/>
            </a:xfrm>
          </p:grpSpPr>
          <p:sp>
            <p:nvSpPr>
              <p:cNvPr id="66" name="Rectangle 65">
                <a:extLst>
                  <a:ext uri="{FF2B5EF4-FFF2-40B4-BE49-F238E27FC236}">
                    <a16:creationId xmlns:a16="http://schemas.microsoft.com/office/drawing/2014/main" id="{65F9EEB5-09AB-CEE3-35B6-7C237458013F}"/>
                  </a:ext>
                </a:extLst>
              </p:cNvPr>
              <p:cNvSpPr/>
              <p:nvPr/>
            </p:nvSpPr>
            <p:spPr>
              <a:xfrm rot="3728533">
                <a:off x="1390060" y="1592654"/>
                <a:ext cx="833121" cy="5595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latin typeface="Cambria Math" panose="02040503050406030204" pitchFamily="18" charset="0"/>
                  <a:ea typeface="Cambria Math" panose="02040503050406030204" pitchFamily="18" charset="0"/>
                </a:endParaRPr>
              </a:p>
            </p:txBody>
          </p:sp>
          <p:cxnSp>
            <p:nvCxnSpPr>
              <p:cNvPr id="68" name="Straight Connector 67">
                <a:extLst>
                  <a:ext uri="{FF2B5EF4-FFF2-40B4-BE49-F238E27FC236}">
                    <a16:creationId xmlns:a16="http://schemas.microsoft.com/office/drawing/2014/main" id="{2576AFE7-D483-E43D-E5EC-9002BB1B2995}"/>
                  </a:ext>
                </a:extLst>
              </p:cNvPr>
              <p:cNvCxnSpPr>
                <a:cxnSpLocks/>
              </p:cNvCxnSpPr>
              <p:nvPr/>
            </p:nvCxnSpPr>
            <p:spPr>
              <a:xfrm>
                <a:off x="779540" y="3448336"/>
                <a:ext cx="1880310" cy="2299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1" name="Straight Connector 70">
                <a:extLst>
                  <a:ext uri="{FF2B5EF4-FFF2-40B4-BE49-F238E27FC236}">
                    <a16:creationId xmlns:a16="http://schemas.microsoft.com/office/drawing/2014/main" id="{9636C1CF-4E99-FBB2-A690-0769C7AD1700}"/>
                  </a:ext>
                </a:extLst>
              </p:cNvPr>
              <p:cNvCxnSpPr>
                <a:cxnSpLocks/>
              </p:cNvCxnSpPr>
              <p:nvPr/>
            </p:nvCxnSpPr>
            <p:spPr>
              <a:xfrm>
                <a:off x="1799138" y="1620631"/>
                <a:ext cx="860712" cy="18507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5" name="Straight Connector 74">
                <a:extLst>
                  <a:ext uri="{FF2B5EF4-FFF2-40B4-BE49-F238E27FC236}">
                    <a16:creationId xmlns:a16="http://schemas.microsoft.com/office/drawing/2014/main" id="{E4748777-167A-45B1-1C64-F20CA4F8DB1C}"/>
                  </a:ext>
                </a:extLst>
              </p:cNvPr>
              <p:cNvCxnSpPr>
                <a:cxnSpLocks/>
              </p:cNvCxnSpPr>
              <p:nvPr/>
            </p:nvCxnSpPr>
            <p:spPr>
              <a:xfrm>
                <a:off x="1019771" y="2391507"/>
                <a:ext cx="1640079" cy="110865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7" name="Straight Connector 76">
                <a:extLst>
                  <a:ext uri="{FF2B5EF4-FFF2-40B4-BE49-F238E27FC236}">
                    <a16:creationId xmlns:a16="http://schemas.microsoft.com/office/drawing/2014/main" id="{73B08309-117B-88B4-BA99-60EF33D76E4D}"/>
                  </a:ext>
                </a:extLst>
              </p:cNvPr>
              <p:cNvCxnSpPr>
                <a:cxnSpLocks/>
              </p:cNvCxnSpPr>
              <p:nvPr/>
            </p:nvCxnSpPr>
            <p:spPr>
              <a:xfrm flipV="1">
                <a:off x="790783" y="2362680"/>
                <a:ext cx="228988" cy="108101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79" name="Straight Connector 78">
                <a:extLst>
                  <a:ext uri="{FF2B5EF4-FFF2-40B4-BE49-F238E27FC236}">
                    <a16:creationId xmlns:a16="http://schemas.microsoft.com/office/drawing/2014/main" id="{73FC6283-7443-8A42-4FDC-3059A6BC0386}"/>
                  </a:ext>
                </a:extLst>
              </p:cNvPr>
              <p:cNvCxnSpPr>
                <a:cxnSpLocks/>
                <a:endCxn id="66" idx="2"/>
              </p:cNvCxnSpPr>
              <p:nvPr/>
            </p:nvCxnSpPr>
            <p:spPr>
              <a:xfrm flipV="1">
                <a:off x="1019771" y="1633704"/>
                <a:ext cx="762115" cy="743389"/>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1" name="Straight Connector 80">
                <a:extLst>
                  <a:ext uri="{FF2B5EF4-FFF2-40B4-BE49-F238E27FC236}">
                    <a16:creationId xmlns:a16="http://schemas.microsoft.com/office/drawing/2014/main" id="{5FD62E60-348D-768E-3921-7B3F49E2644D}"/>
                  </a:ext>
                </a:extLst>
              </p:cNvPr>
              <p:cNvCxnSpPr>
                <a:cxnSpLocks/>
              </p:cNvCxnSpPr>
              <p:nvPr/>
            </p:nvCxnSpPr>
            <p:spPr>
              <a:xfrm flipV="1">
                <a:off x="920517" y="1740017"/>
                <a:ext cx="228988" cy="108101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83" name="Picture 82" descr="The image depicts a simple geometric representation of a circle and a line intersecting at a central point.&#10;&#10;AI-generated content may be incorrect.">
                <a:extLst>
                  <a:ext uri="{FF2B5EF4-FFF2-40B4-BE49-F238E27FC236}">
                    <a16:creationId xmlns:a16="http://schemas.microsoft.com/office/drawing/2014/main" id="{1AA51022-D394-C95F-9498-95392766CAF8}"/>
                  </a:ext>
                </a:extLst>
              </p:cNvPr>
              <p:cNvPicPr>
                <a:picLocks noChangeAspect="1"/>
              </p:cNvPicPr>
              <p:nvPr/>
            </p:nvPicPr>
            <p:blipFill>
              <a:blip r:embed="rId2"/>
              <a:srcRect l="19035" t="11362" b="4435"/>
              <a:stretch>
                <a:fillRect/>
              </a:stretch>
            </p:blipFill>
            <p:spPr>
              <a:xfrm rot="3582023">
                <a:off x="925037" y="2261013"/>
                <a:ext cx="245665" cy="260984"/>
              </a:xfrm>
              <a:prstGeom prst="ellipse">
                <a:avLst/>
              </a:prstGeom>
            </p:spPr>
          </p:pic>
          <p:sp>
            <p:nvSpPr>
              <p:cNvPr id="84" name="TextBox 83">
                <a:extLst>
                  <a:ext uri="{FF2B5EF4-FFF2-40B4-BE49-F238E27FC236}">
                    <a16:creationId xmlns:a16="http://schemas.microsoft.com/office/drawing/2014/main" id="{7B4DF11E-91CB-4510-9E25-3361B11823D3}"/>
                  </a:ext>
                </a:extLst>
              </p:cNvPr>
              <p:cNvSpPr txBox="1"/>
              <p:nvPr/>
            </p:nvSpPr>
            <p:spPr>
              <a:xfrm>
                <a:off x="2253689" y="2280524"/>
                <a:ext cx="327334"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R</a:t>
                </a:r>
                <a:endParaRPr lang="en-IN" dirty="0">
                  <a:latin typeface="Cambria Math" panose="02040503050406030204" pitchFamily="18" charset="0"/>
                  <a:ea typeface="Cambria Math" panose="02040503050406030204" pitchFamily="18" charset="0"/>
                </a:endParaRPr>
              </a:p>
            </p:txBody>
          </p:sp>
          <p:sp>
            <p:nvSpPr>
              <p:cNvPr id="86" name="TextBox 85">
                <a:extLst>
                  <a:ext uri="{FF2B5EF4-FFF2-40B4-BE49-F238E27FC236}">
                    <a16:creationId xmlns:a16="http://schemas.microsoft.com/office/drawing/2014/main" id="{94902965-CDA9-F5F8-42D7-E8A884B1F182}"/>
                  </a:ext>
                </a:extLst>
              </p:cNvPr>
              <p:cNvSpPr txBox="1"/>
              <p:nvPr/>
            </p:nvSpPr>
            <p:spPr>
              <a:xfrm>
                <a:off x="1469783" y="3434161"/>
                <a:ext cx="327334"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R</a:t>
                </a:r>
                <a:endParaRPr lang="en-IN"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D68B284F-F364-B116-49F5-DA1E41D3590E}"/>
                      </a:ext>
                    </a:extLst>
                  </p:cNvPr>
                  <p:cNvSpPr txBox="1"/>
                  <p:nvPr/>
                </p:nvSpPr>
                <p:spPr>
                  <a:xfrm>
                    <a:off x="1139734" y="1722568"/>
                    <a:ext cx="214931"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𝜙</m:t>
                          </m:r>
                        </m:oMath>
                      </m:oMathPara>
                    </a14:m>
                    <a:endParaRPr lang="en-IN" dirty="0"/>
                  </a:p>
                </p:txBody>
              </p:sp>
            </mc:Choice>
            <mc:Fallback xmlns="">
              <p:sp>
                <p:nvSpPr>
                  <p:cNvPr id="87" name="TextBox 86">
                    <a:extLst>
                      <a:ext uri="{FF2B5EF4-FFF2-40B4-BE49-F238E27FC236}">
                        <a16:creationId xmlns:a16="http://schemas.microsoft.com/office/drawing/2014/main" id="{D68B284F-F364-B116-49F5-DA1E41D3590E}"/>
                      </a:ext>
                    </a:extLst>
                  </p:cNvPr>
                  <p:cNvSpPr txBox="1">
                    <a:spLocks noRot="1" noChangeAspect="1" noMove="1" noResize="1" noEditPoints="1" noAdjustHandles="1" noChangeArrowheads="1" noChangeShapeType="1" noTextEdit="1"/>
                  </p:cNvSpPr>
                  <p:nvPr/>
                </p:nvSpPr>
                <p:spPr>
                  <a:xfrm>
                    <a:off x="1139734" y="1722568"/>
                    <a:ext cx="214931" cy="276999"/>
                  </a:xfrm>
                  <a:prstGeom prst="rect">
                    <a:avLst/>
                  </a:prstGeom>
                  <a:blipFill>
                    <a:blip r:embed="rId3"/>
                    <a:stretch>
                      <a:fillRect l="-40000" r="-34286" b="-326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175B8D7-CF82-68C0-4445-8B73BCA3C57A}"/>
                      </a:ext>
                    </a:extLst>
                  </p:cNvPr>
                  <p:cNvSpPr txBox="1"/>
                  <p:nvPr/>
                </p:nvSpPr>
                <p:spPr>
                  <a:xfrm>
                    <a:off x="1991930" y="2800470"/>
                    <a:ext cx="354905" cy="215444"/>
                  </a:xfrm>
                  <a:prstGeom prst="rect">
                    <a:avLst/>
                  </a:prstGeom>
                  <a:noFill/>
                </p:spPr>
                <p:txBody>
                  <a:bodyPr wrap="none" lIns="0" tIns="0" rIns="0" bIns="0" rtlCol="0">
                    <a:spAutoFit/>
                  </a:bodyPr>
                  <a:lstStyle/>
                  <a:p>
                    <a:pPr/>
                    <a14:m>
                      <m:oMathPara xmlns:m="http://schemas.openxmlformats.org/officeDocument/2006/math">
                        <m:oMath>
                          <m:r>
                            <a:rPr lang="en-US" sz="1400" b="0" i="1" smtClean="0">
                              <a:latin typeface="Cambria Math" panose="02040503050406030204" pitchFamily="18" charset="0"/>
                            </a:rPr>
                            <m:t>𝜙</m:t>
                          </m:r>
                          <m:r>
                            <a:rPr lang="en-US" sz="1400" b="0" i="1" smtClean="0">
                              <a:latin typeface="Cambria Math" panose="02040503050406030204" pitchFamily="18" charset="0"/>
                            </a:rPr>
                            <m:t>/2</m:t>
                          </m:r>
                        </m:oMath>
                      </m:oMathPara>
                    </a14:m>
                    <a:endParaRPr lang="en-IN" sz="1400" dirty="0"/>
                  </a:p>
                </p:txBody>
              </p:sp>
            </mc:Choice>
            <mc:Fallback xmlns="">
              <p:sp>
                <p:nvSpPr>
                  <p:cNvPr id="89" name="TextBox 88">
                    <a:extLst>
                      <a:ext uri="{FF2B5EF4-FFF2-40B4-BE49-F238E27FC236}">
                        <a16:creationId xmlns:a16="http://schemas.microsoft.com/office/drawing/2014/main" id="{B175B8D7-CF82-68C0-4445-8B73BCA3C57A}"/>
                      </a:ext>
                    </a:extLst>
                  </p:cNvPr>
                  <p:cNvSpPr txBox="1">
                    <a:spLocks noRot="1" noChangeAspect="1" noMove="1" noResize="1" noEditPoints="1" noAdjustHandles="1" noChangeArrowheads="1" noChangeShapeType="1" noTextEdit="1"/>
                  </p:cNvSpPr>
                  <p:nvPr/>
                </p:nvSpPr>
                <p:spPr>
                  <a:xfrm>
                    <a:off x="1991930" y="2800470"/>
                    <a:ext cx="354905" cy="215444"/>
                  </a:xfrm>
                  <a:prstGeom prst="rect">
                    <a:avLst/>
                  </a:prstGeom>
                  <a:blipFill>
                    <a:blip r:embed="rId4"/>
                    <a:stretch>
                      <a:fillRect l="-16949" r="-8475" b="-3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C4FA08CE-51C4-07E3-F80E-0453B6228C55}"/>
                      </a:ext>
                    </a:extLst>
                  </p:cNvPr>
                  <p:cNvSpPr txBox="1"/>
                  <p:nvPr/>
                </p:nvSpPr>
                <p:spPr>
                  <a:xfrm>
                    <a:off x="3009617" y="1236134"/>
                    <a:ext cx="2103653" cy="2278381"/>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𝐹𝑟𝑜𝑚</m:t>
                          </m:r>
                          <m:r>
                            <a:rPr lang="en-US" b="0" i="1" smtClean="0">
                              <a:latin typeface="Cambria Math" panose="02040503050406030204" pitchFamily="18" charset="0"/>
                            </a:rPr>
                            <m:t> </m:t>
                          </m:r>
                          <m:r>
                            <a:rPr lang="en-US" b="0" i="1" smtClean="0">
                              <a:latin typeface="Cambria Math" panose="02040503050406030204" pitchFamily="18" charset="0"/>
                            </a:rPr>
                            <m:t>𝐵𝑒𝑎𝑚</m:t>
                          </m:r>
                          <m:r>
                            <a:rPr lang="en-US" b="0" i="1" smtClean="0">
                              <a:latin typeface="Cambria Math" panose="02040503050406030204" pitchFamily="18" charset="0"/>
                            </a:rPr>
                            <m:t> </m:t>
                          </m:r>
                          <m:r>
                            <a:rPr lang="en-US" b="0" i="1" smtClean="0">
                              <a:latin typeface="Cambria Math" panose="02040503050406030204" pitchFamily="18" charset="0"/>
                            </a:rPr>
                            <m:t>𝑇ℎ𝑒𝑜𝑟𝑦</m:t>
                          </m:r>
                        </m:oMath>
                      </m:oMathPara>
                    </a14:m>
                    <a:endParaRPr/>
                  </a:p>
                  <a:p>
                    <a:endParaRPr/>
                  </a:p>
                  <a:p>
                    <a:endParaRPr/>
                  </a:p>
                  <a:p>
                    <a:endParaRPr/>
                  </a:p>
                  <a:p>
                    <a:endParaRPr/>
                  </a:p>
                  <a:p>
                    <a:endParaRPr/>
                  </a:p>
                  <a:p>
                    <a:endParaRPr/>
                  </a:p>
                </p:txBody>
              </p:sp>
            </mc:Choice>
            <mc:Fallback xmlns="">
              <p:sp>
                <p:nvSpPr>
                  <p:cNvPr id="90" name="TextBox 89">
                    <a:extLst>
                      <a:ext uri="{FF2B5EF4-FFF2-40B4-BE49-F238E27FC236}">
                        <a16:creationId xmlns:a16="http://schemas.microsoft.com/office/drawing/2014/main" id="{C4FA08CE-51C4-07E3-F80E-0453B6228C55}"/>
                      </a:ext>
                    </a:extLst>
                  </p:cNvPr>
                  <p:cNvSpPr txBox="1">
                    <a:spLocks noRot="1" noChangeAspect="1" noMove="1" noResize="1" noEditPoints="1" noAdjustHandles="1" noChangeArrowheads="1" noChangeShapeType="1" noTextEdit="1"/>
                  </p:cNvSpPr>
                  <p:nvPr/>
                </p:nvSpPr>
                <p:spPr>
                  <a:xfrm>
                    <a:off x="3009617" y="1236134"/>
                    <a:ext cx="2103653" cy="2278381"/>
                  </a:xfrm>
                  <a:prstGeom prst="rect">
                    <a:avLst/>
                  </a:prstGeom>
                  <a:blipFill>
                    <a:blip r:embed="rId5"/>
                    <a:stretch>
                      <a:fillRect l="-1159" t="-3743" r="-6667" b="-6150"/>
                    </a:stretch>
                  </a:blipFill>
                </p:spPr>
                <p:txBody>
                  <a:bodyPr/>
                  <a:lstStyle/>
                  <a:p>
                    <a:r>
                      <a:rPr lang="en-IN">
                        <a:noFill/>
                      </a:rPr>
                      <a:t> </a:t>
                    </a:r>
                  </a:p>
                </p:txBody>
              </p:sp>
            </mc:Fallback>
          </mc:AlternateContent>
        </p:grpSp>
      </p:grpSp>
    </p:spTree>
    <p:extLst>
      <p:ext uri="{BB962C8B-B14F-4D97-AF65-F5344CB8AC3E}">
        <p14:creationId xmlns:p14="http://schemas.microsoft.com/office/powerpoint/2010/main" val="1242493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2065</TotalTime>
  <Words>3188</Words>
  <Application>Microsoft Office PowerPoint</Application>
  <PresentationFormat>Widescreen</PresentationFormat>
  <Paragraphs>529</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Manoj Prabhakar Mulkala</cp:lastModifiedBy>
  <cp:revision>167</cp:revision>
  <dcterms:created xsi:type="dcterms:W3CDTF">2013-01-27T09:14:16Z</dcterms:created>
  <dcterms:modified xsi:type="dcterms:W3CDTF">2026-09-24T09:36:14Z</dcterms:modified>
  <cp:category/>
</cp:coreProperties>
</file>